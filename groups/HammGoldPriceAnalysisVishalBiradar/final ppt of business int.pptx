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9" r:id="rId6"/>
    <p:sldId id="270" r:id="rId7"/>
    <p:sldId id="263" r:id="rId8"/>
    <p:sldId id="265" r:id="rId9"/>
    <p:sldId id="264" r:id="rId10"/>
    <p:sldId id="266" r:id="rId11"/>
    <p:sldId id="267" r:id="rId12"/>
    <p:sldId id="268" r:id="rId13"/>
    <p:sldId id="271"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86"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22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team member names before submitting. This deck reflects only what was actually built: Power BI dashboard on real Gold data, and the Meridian live monitoring site.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this section simple and honest — no modeling jargon here, just the real structure of the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framed as a general, defensible business motivation — not tied to any specific model claims.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pulled directly from the real, cleaned dataset — not from any other team's paper. If your Power BI report shows slightly different totals due to filters, use those instead.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intentionally leaves the real forecast values and chart out — insert your actual Power BI screenshot here and narrate the specific numbers live, since those weren't legible enough for me to transcribe accurately.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the previous, overreaching roadmap (AI agents, multi-model comparisons) with a grounded list of what was actually done and what's realistically next.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you the vocabulary to explain the forecast confidently in Q&amp;A, without needing the exact numbers filled in yet.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intentionally general and defensible — this framing does not depend on any specific model or number, so it's safe to keep even after removing the wrong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grounded recommendations that follow directly from what was actually built — no invented hedging rules tied to models we didn't build.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simply and honestly — this reflects exactly what was built, nothing more.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hyperlink" Target="https://1drv.ms/t/c/67A5089F81AB26DC/IQB2jw4m9kNFTKh8Ds0d5BEQATBCRMGFGtP-_HDb7Z7ekoc?e=JVSam1" TargetMode="External"/><Relationship Id="rId2" Type="http://schemas.openxmlformats.org/officeDocument/2006/relationships/hyperlink" Target="https://chimerical-sherbet-faa553.netlify.app/" TargetMode="Externa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a:blip r:embed="rId3"/>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105263"/>
            <a:ext cx="9144000" cy="365760"/>
          </a:xfrm>
          <a:prstGeom prst="rect">
            <a:avLst/>
          </a:prstGeom>
          <a:noFill/>
          <a:ln/>
        </p:spPr>
        <p:txBody>
          <a:bodyPr wrap="square" lIns="91440" tIns="45720" rIns="91440" bIns="45720" rtlCol="0" anchor="ctr"/>
          <a:lstStyle/>
          <a:p>
            <a:pPr marL="0" indent="0">
              <a:buNone/>
            </a:pPr>
            <a:r>
              <a:rPr lang="en-US" sz="2000" b="1" kern="0" spc="300">
                <a:latin typeface="Calibri"/>
                <a:ea typeface="Calibri"/>
                <a:cs typeface="Calibri"/>
              </a:rPr>
              <a:t>BUSINESS INTELLIGENCE &amp; DECISION SUPPORT</a:t>
            </a:r>
            <a:endParaRPr lang="en-US" sz="2000">
              <a:latin typeface="Calibri"/>
              <a:ea typeface="Calibri"/>
              <a:cs typeface="Calibri"/>
            </a:endParaRPr>
          </a:p>
        </p:txBody>
      </p:sp>
      <p:sp>
        <p:nvSpPr>
          <p:cNvPr id="3" name="Text 1"/>
          <p:cNvSpPr/>
          <p:nvPr/>
        </p:nvSpPr>
        <p:spPr>
          <a:xfrm>
            <a:off x="822960" y="1473200"/>
            <a:ext cx="10241280" cy="1188720"/>
          </a:xfrm>
          <a:prstGeom prst="rect">
            <a:avLst/>
          </a:prstGeom>
          <a:noFill/>
          <a:ln/>
        </p:spPr>
        <p:txBody>
          <a:bodyPr wrap="square" lIns="91440" tIns="45720" rIns="91440" bIns="45720" rtlCol="0" anchor="ctr"/>
          <a:lstStyle/>
          <a:p>
            <a:pPr marL="0" indent="0">
              <a:buNone/>
            </a:pPr>
            <a:r>
              <a:rPr lang="en-US" sz="3800" b="1">
                <a:latin typeface="Georgia"/>
                <a:ea typeface="Georgia" pitchFamily="34" charset="-122"/>
                <a:cs typeface="Georgia" pitchFamily="34" charset="-120"/>
              </a:rPr>
              <a:t>Gold Price Analysis with Power BI</a:t>
            </a:r>
            <a:endParaRPr lang="en-US" sz="3800">
              <a:latin typeface="Georgia"/>
            </a:endParaRPr>
          </a:p>
        </p:txBody>
      </p:sp>
      <p:sp>
        <p:nvSpPr>
          <p:cNvPr id="4" name="Text 2"/>
          <p:cNvSpPr/>
          <p:nvPr/>
        </p:nvSpPr>
        <p:spPr>
          <a:xfrm>
            <a:off x="822960" y="2449286"/>
            <a:ext cx="9692640" cy="640080"/>
          </a:xfrm>
          <a:prstGeom prst="rect">
            <a:avLst/>
          </a:prstGeom>
          <a:noFill/>
          <a:ln/>
        </p:spPr>
        <p:txBody>
          <a:bodyPr wrap="square" lIns="91440" tIns="45720" rIns="91440" bIns="45720" rtlCol="0" anchor="ctr"/>
          <a:lstStyle/>
          <a:p>
            <a:pPr marL="0" indent="0">
              <a:buNone/>
            </a:pPr>
            <a:r>
              <a:rPr lang="en-US" sz="1500" i="1">
                <a:latin typeface="Calibri"/>
                <a:ea typeface="Calibri"/>
                <a:cs typeface="Calibri"/>
              </a:rPr>
              <a:t>Historical price and volume analysis of Gold, sourced from </a:t>
            </a:r>
            <a:r>
              <a:rPr lang="en-US" sz="1500" i="1" err="1">
                <a:latin typeface="Calibri"/>
                <a:ea typeface="Calibri"/>
                <a:cs typeface="Calibri"/>
              </a:rPr>
              <a:t>TradingView</a:t>
            </a:r>
            <a:r>
              <a:rPr lang="en-US" sz="1500" i="1">
                <a:latin typeface="Calibri"/>
                <a:ea typeface="Calibri"/>
                <a:cs typeface="Calibri"/>
              </a:rPr>
              <a:t> and Investing.com, with a 90-day forward forecast built in Power BI</a:t>
            </a:r>
            <a:r>
              <a:rPr lang="en-US" sz="1500" i="1">
                <a:solidFill>
                  <a:srgbClr val="8A929C"/>
                </a:solidFill>
                <a:latin typeface="Calibri"/>
                <a:ea typeface="Calibri"/>
                <a:cs typeface="Calibri"/>
              </a:rPr>
              <a:t>.</a:t>
            </a:r>
            <a:endParaRPr lang="en-US" sz="1500">
              <a:latin typeface="Calibri"/>
              <a:ea typeface="Calibri"/>
              <a:cs typeface="Calibri"/>
            </a:endParaRPr>
          </a:p>
        </p:txBody>
      </p:sp>
      <p:sp>
        <p:nvSpPr>
          <p:cNvPr id="5" name="Shape 3"/>
          <p:cNvSpPr/>
          <p:nvPr/>
        </p:nvSpPr>
        <p:spPr>
          <a:xfrm>
            <a:off x="822960" y="4160520"/>
            <a:ext cx="2926080" cy="0"/>
          </a:xfrm>
          <a:prstGeom prst="line">
            <a:avLst/>
          </a:prstGeom>
          <a:noFill/>
          <a:ln w="25400">
            <a:solidFill>
              <a:srgbClr val="E8A33D"/>
            </a:solidFill>
            <a:prstDash val="solid"/>
          </a:ln>
        </p:spPr>
      </p:sp>
      <p:sp>
        <p:nvSpPr>
          <p:cNvPr id="6" name="Text 4"/>
          <p:cNvSpPr/>
          <p:nvPr/>
        </p:nvSpPr>
        <p:spPr>
          <a:xfrm>
            <a:off x="822960" y="3090092"/>
            <a:ext cx="5733142" cy="1655352"/>
          </a:xfrm>
          <a:prstGeom prst="rect">
            <a:avLst/>
          </a:prstGeom>
          <a:noFill/>
          <a:ln/>
        </p:spPr>
        <p:txBody>
          <a:bodyPr wrap="square" lIns="91440" tIns="45720" rIns="91440" bIns="45720" rtlCol="0" anchor="ctr"/>
          <a:lstStyle/>
          <a:p>
            <a:r>
              <a:rPr lang="en-US" sz="2000" b="1" dirty="0">
                <a:latin typeface="Calibri"/>
                <a:ea typeface="Calibri"/>
                <a:cs typeface="Calibri"/>
              </a:rPr>
              <a:t>Mohammed Shuraim – 100004772</a:t>
            </a:r>
            <a:endParaRPr lang="en-US" sz="3200" b="1" dirty="0">
              <a:latin typeface="Calibri"/>
              <a:ea typeface="Calibri"/>
              <a:cs typeface="Calibri"/>
            </a:endParaRPr>
          </a:p>
          <a:p>
            <a:r>
              <a:rPr lang="en-US" sz="2000" b="1" dirty="0">
                <a:ea typeface="Calibri"/>
                <a:cs typeface="Calibri"/>
              </a:rPr>
              <a:t>Vishal Biradar – 100004925</a:t>
            </a:r>
          </a:p>
          <a:p>
            <a:r>
              <a:rPr lang="en-US" sz="2000" b="1" dirty="0">
                <a:ea typeface="Calibri"/>
                <a:cs typeface="Calibri"/>
              </a:rPr>
              <a:t>Sourav Shekhar Naik – 100004311</a:t>
            </a:r>
          </a:p>
          <a:p>
            <a:r>
              <a:rPr lang="en-US" sz="2000" b="1" dirty="0" err="1">
                <a:ea typeface="Calibri"/>
                <a:cs typeface="Calibri"/>
              </a:rPr>
              <a:t>Medamaranahally</a:t>
            </a:r>
            <a:r>
              <a:rPr lang="en-US" sz="2000" b="1" dirty="0">
                <a:ea typeface="Calibri"/>
                <a:cs typeface="Calibri"/>
              </a:rPr>
              <a:t> Girish Suhas–100003129</a:t>
            </a:r>
          </a:p>
        </p:txBody>
      </p:sp>
      <p:sp>
        <p:nvSpPr>
          <p:cNvPr id="8" name="Text 6"/>
          <p:cNvSpPr/>
          <p:nvPr/>
        </p:nvSpPr>
        <p:spPr>
          <a:xfrm>
            <a:off x="822960" y="5029200"/>
            <a:ext cx="3461657" cy="530496"/>
          </a:xfrm>
          <a:prstGeom prst="rect">
            <a:avLst/>
          </a:prstGeom>
          <a:noFill/>
          <a:ln/>
        </p:spPr>
        <p:txBody>
          <a:bodyPr wrap="square" lIns="91440" tIns="45720" rIns="91440" bIns="45720" rtlCol="0" anchor="ctr"/>
          <a:lstStyle/>
          <a:p>
            <a:pPr marL="0" indent="0">
              <a:buNone/>
            </a:pPr>
            <a:r>
              <a:rPr lang="en-US" sz="2400" b="1">
                <a:latin typeface="Calibri"/>
                <a:ea typeface="Calibri"/>
                <a:cs typeface="Calibri"/>
              </a:rPr>
              <a:t>Prof. Dr. Dany Djeudeu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11338560" y="6402789"/>
            <a:ext cx="457200" cy="274320"/>
          </a:xfrm>
          <a:prstGeom prst="rect">
            <a:avLst/>
          </a:prstGeom>
          <a:noFill/>
          <a:ln/>
        </p:spPr>
        <p:txBody>
          <a:bodyPr wrap="square" rtlCol="0" anchor="ctr"/>
          <a:lstStyle/>
          <a:p>
            <a:pPr marL="0" indent="0" algn="r">
              <a:buNone/>
            </a:pPr>
            <a:r>
              <a:rPr lang="en-US" sz="1000">
                <a:solidFill>
                  <a:srgbClr val="8A929C"/>
                </a:solidFill>
                <a:latin typeface="Calibri" pitchFamily="34" charset="0"/>
                <a:ea typeface="Calibri" pitchFamily="34" charset="-122"/>
                <a:cs typeface="Calibri" pitchFamily="34" charset="-120"/>
              </a:rPr>
              <a:t>2</a:t>
            </a:r>
            <a:endParaRPr lang="en-US" sz="1000"/>
          </a:p>
        </p:txBody>
      </p:sp>
      <p:sp>
        <p:nvSpPr>
          <p:cNvPr id="4" name="Text 2"/>
          <p:cNvSpPr/>
          <p:nvPr/>
        </p:nvSpPr>
        <p:spPr>
          <a:xfrm>
            <a:off x="548640" y="303741"/>
            <a:ext cx="10058400" cy="320040"/>
          </a:xfrm>
          <a:prstGeom prst="rect">
            <a:avLst/>
          </a:prstGeom>
          <a:noFill/>
          <a:ln/>
        </p:spPr>
        <p:txBody>
          <a:bodyPr wrap="square" lIns="91440" tIns="45720" rIns="91440" bIns="45720" rtlCol="0" anchor="ctr"/>
          <a:lstStyle/>
          <a:p>
            <a:pPr marL="0" indent="0">
              <a:buNone/>
            </a:pPr>
            <a:r>
              <a:rPr lang="en-US" sz="3600" b="1" kern="0" spc="200">
                <a:solidFill>
                  <a:schemeClr val="accent2"/>
                </a:solidFill>
                <a:latin typeface="Calibri"/>
                <a:ea typeface="Calibri"/>
                <a:cs typeface="Calibri"/>
              </a:rPr>
              <a:t>ROADMAP</a:t>
            </a:r>
            <a:endParaRPr lang="en-US" sz="3600">
              <a:solidFill>
                <a:schemeClr val="accent2"/>
              </a:solidFill>
              <a:latin typeface="Calibri"/>
              <a:ea typeface="Calibri"/>
              <a:cs typeface="Calibri"/>
            </a:endParaRPr>
          </a:p>
        </p:txBody>
      </p:sp>
      <p:sp>
        <p:nvSpPr>
          <p:cNvPr id="6" name="Text 4"/>
          <p:cNvSpPr/>
          <p:nvPr/>
        </p:nvSpPr>
        <p:spPr>
          <a:xfrm>
            <a:off x="640080" y="1602189"/>
            <a:ext cx="731520" cy="822960"/>
          </a:xfrm>
          <a:prstGeom prst="rect">
            <a:avLst/>
          </a:prstGeom>
          <a:noFill/>
          <a:ln/>
        </p:spPr>
        <p:txBody>
          <a:bodyPr wrap="square" rtlCol="0" anchor="ctr"/>
          <a:lstStyle/>
          <a:p>
            <a:pPr marL="0" indent="0">
              <a:buNone/>
            </a:pPr>
            <a:r>
              <a:rPr lang="en-US" sz="2800" b="1" dirty="0">
                <a:solidFill>
                  <a:srgbClr val="E8A33D"/>
                </a:solidFill>
                <a:latin typeface="Georgia" pitchFamily="34" charset="0"/>
                <a:ea typeface="Georgia" pitchFamily="34" charset="-122"/>
                <a:cs typeface="Georgia" pitchFamily="34" charset="-120"/>
              </a:rPr>
              <a:t>01</a:t>
            </a:r>
            <a:endParaRPr lang="en-US" sz="2800" dirty="0"/>
          </a:p>
        </p:txBody>
      </p:sp>
      <p:sp>
        <p:nvSpPr>
          <p:cNvPr id="7" name="Text 5"/>
          <p:cNvSpPr/>
          <p:nvPr/>
        </p:nvSpPr>
        <p:spPr>
          <a:xfrm>
            <a:off x="1554480" y="1647909"/>
            <a:ext cx="4389120" cy="365760"/>
          </a:xfrm>
          <a:prstGeom prst="rect">
            <a:avLst/>
          </a:prstGeom>
          <a:noFill/>
          <a:ln/>
        </p:spPr>
        <p:txBody>
          <a:bodyPr wrap="square" lIns="91440" tIns="45720" rIns="91440" bIns="45720" rtlCol="0" anchor="ctr"/>
          <a:lstStyle/>
          <a:p>
            <a:pPr marL="0" indent="0">
              <a:buNone/>
            </a:pPr>
            <a:r>
              <a:rPr lang="en-US" sz="2000" b="1" dirty="0">
                <a:latin typeface="Calibri"/>
                <a:ea typeface="Calibri"/>
                <a:cs typeface="Calibri"/>
              </a:rPr>
              <a:t>The Problem</a:t>
            </a:r>
          </a:p>
        </p:txBody>
      </p:sp>
      <p:sp>
        <p:nvSpPr>
          <p:cNvPr id="8" name="Text 6"/>
          <p:cNvSpPr/>
          <p:nvPr/>
        </p:nvSpPr>
        <p:spPr>
          <a:xfrm>
            <a:off x="1554480" y="2013669"/>
            <a:ext cx="8778240" cy="457200"/>
          </a:xfrm>
          <a:prstGeom prst="rect">
            <a:avLst/>
          </a:prstGeom>
          <a:noFill/>
          <a:ln/>
        </p:spPr>
        <p:txBody>
          <a:bodyPr wrap="square" lIns="91440" tIns="45720" rIns="91440" bIns="45720" rtlCol="0" anchor="ctr"/>
          <a:lstStyle/>
          <a:p>
            <a:pPr marL="0" indent="0">
              <a:buNone/>
            </a:pPr>
            <a:r>
              <a:rPr lang="en-US">
                <a:latin typeface="Calibri"/>
                <a:ea typeface="Calibri"/>
                <a:cs typeface="Calibri"/>
              </a:rPr>
              <a:t>Why gold price unpredictability matters for hedging and procurement</a:t>
            </a:r>
          </a:p>
        </p:txBody>
      </p:sp>
      <p:sp>
        <p:nvSpPr>
          <p:cNvPr id="9" name="Text 7"/>
          <p:cNvSpPr/>
          <p:nvPr/>
        </p:nvSpPr>
        <p:spPr>
          <a:xfrm>
            <a:off x="640080" y="2544021"/>
            <a:ext cx="731520" cy="822960"/>
          </a:xfrm>
          <a:prstGeom prst="rect">
            <a:avLst/>
          </a:prstGeom>
          <a:noFill/>
          <a:ln/>
        </p:spPr>
        <p:txBody>
          <a:bodyPr wrap="square" rtlCol="0" anchor="ctr"/>
          <a:lstStyle/>
          <a:p>
            <a:pPr marL="0" indent="0">
              <a:buNone/>
            </a:pPr>
            <a:r>
              <a:rPr lang="en-US" sz="2800" b="1">
                <a:solidFill>
                  <a:srgbClr val="E8A33D"/>
                </a:solidFill>
                <a:latin typeface="Georgia" pitchFamily="34" charset="0"/>
                <a:ea typeface="Georgia" pitchFamily="34" charset="-122"/>
                <a:cs typeface="Georgia" pitchFamily="34" charset="-120"/>
              </a:rPr>
              <a:t>02</a:t>
            </a:r>
            <a:endParaRPr lang="en-US" sz="2800"/>
          </a:p>
        </p:txBody>
      </p:sp>
      <p:sp>
        <p:nvSpPr>
          <p:cNvPr id="10" name="Text 8"/>
          <p:cNvSpPr/>
          <p:nvPr/>
        </p:nvSpPr>
        <p:spPr>
          <a:xfrm>
            <a:off x="1554480" y="2562309"/>
            <a:ext cx="4389120" cy="365760"/>
          </a:xfrm>
          <a:prstGeom prst="rect">
            <a:avLst/>
          </a:prstGeom>
          <a:noFill/>
          <a:ln/>
        </p:spPr>
        <p:txBody>
          <a:bodyPr wrap="square" lIns="91440" tIns="45720" rIns="91440" bIns="45720" rtlCol="0" anchor="ctr"/>
          <a:lstStyle/>
          <a:p>
            <a:pPr marL="0" indent="0">
              <a:buNone/>
            </a:pPr>
            <a:r>
              <a:rPr lang="en-US" sz="2000" b="1">
                <a:latin typeface="Calibri"/>
                <a:ea typeface="Calibri"/>
                <a:cs typeface="Calibri"/>
              </a:rPr>
              <a:t>Data Sources</a:t>
            </a:r>
            <a:endParaRPr lang="en-US" sz="2000">
              <a:latin typeface="Calibri"/>
              <a:ea typeface="Calibri"/>
              <a:cs typeface="Calibri"/>
            </a:endParaRPr>
          </a:p>
        </p:txBody>
      </p:sp>
      <p:sp>
        <p:nvSpPr>
          <p:cNvPr id="11" name="Text 9"/>
          <p:cNvSpPr/>
          <p:nvPr/>
        </p:nvSpPr>
        <p:spPr>
          <a:xfrm>
            <a:off x="1554480" y="2928069"/>
            <a:ext cx="8778240" cy="457200"/>
          </a:xfrm>
          <a:prstGeom prst="rect">
            <a:avLst/>
          </a:prstGeom>
          <a:noFill/>
          <a:ln/>
        </p:spPr>
        <p:txBody>
          <a:bodyPr wrap="square" lIns="91440" tIns="45720" rIns="91440" bIns="45720" rtlCol="0" anchor="ctr"/>
          <a:lstStyle/>
          <a:p>
            <a:pPr marL="0" indent="0">
              <a:buNone/>
            </a:pPr>
            <a:r>
              <a:rPr lang="en-US" err="1">
                <a:latin typeface="Calibri"/>
                <a:ea typeface="Calibri"/>
                <a:cs typeface="Calibri"/>
              </a:rPr>
              <a:t>TradingView</a:t>
            </a:r>
            <a:r>
              <a:rPr lang="en-US">
                <a:latin typeface="Calibri"/>
                <a:ea typeface="Calibri"/>
                <a:cs typeface="Calibri"/>
              </a:rPr>
              <a:t> and Investing.com — what each one actually provides</a:t>
            </a:r>
          </a:p>
        </p:txBody>
      </p:sp>
      <p:sp>
        <p:nvSpPr>
          <p:cNvPr id="12" name="Text 10"/>
          <p:cNvSpPr/>
          <p:nvPr/>
        </p:nvSpPr>
        <p:spPr>
          <a:xfrm>
            <a:off x="640080" y="3458421"/>
            <a:ext cx="731520" cy="822960"/>
          </a:xfrm>
          <a:prstGeom prst="rect">
            <a:avLst/>
          </a:prstGeom>
          <a:noFill/>
          <a:ln/>
        </p:spPr>
        <p:txBody>
          <a:bodyPr wrap="square" rtlCol="0" anchor="ctr"/>
          <a:lstStyle/>
          <a:p>
            <a:pPr marL="0" indent="0">
              <a:buNone/>
            </a:pPr>
            <a:r>
              <a:rPr lang="en-US" sz="2800" b="1">
                <a:solidFill>
                  <a:srgbClr val="E8A33D"/>
                </a:solidFill>
                <a:latin typeface="Georgia" pitchFamily="34" charset="0"/>
                <a:ea typeface="Georgia" pitchFamily="34" charset="-122"/>
                <a:cs typeface="Georgia" pitchFamily="34" charset="-120"/>
              </a:rPr>
              <a:t>03</a:t>
            </a:r>
            <a:endParaRPr lang="en-US" sz="2800"/>
          </a:p>
        </p:txBody>
      </p:sp>
      <p:sp>
        <p:nvSpPr>
          <p:cNvPr id="13" name="Text 11"/>
          <p:cNvSpPr/>
          <p:nvPr/>
        </p:nvSpPr>
        <p:spPr>
          <a:xfrm>
            <a:off x="1554480" y="3476709"/>
            <a:ext cx="4389120" cy="365760"/>
          </a:xfrm>
          <a:prstGeom prst="rect">
            <a:avLst/>
          </a:prstGeom>
          <a:noFill/>
          <a:ln/>
        </p:spPr>
        <p:txBody>
          <a:bodyPr wrap="square" lIns="91440" tIns="45720" rIns="91440" bIns="45720" rtlCol="0" anchor="ctr"/>
          <a:lstStyle/>
          <a:p>
            <a:pPr marL="0" indent="0">
              <a:buNone/>
            </a:pPr>
            <a:r>
              <a:rPr lang="en-US" b="1">
                <a:latin typeface="Calibri"/>
                <a:ea typeface="Calibri"/>
                <a:cs typeface="Calibri"/>
              </a:rPr>
              <a:t>The Power BI </a:t>
            </a:r>
            <a:r>
              <a:rPr lang="en-US" sz="2000" b="1">
                <a:latin typeface="Calibri"/>
                <a:ea typeface="Calibri"/>
                <a:cs typeface="Calibri"/>
              </a:rPr>
              <a:t>Dashboard</a:t>
            </a:r>
            <a:endParaRPr lang="en-US" sz="2000">
              <a:latin typeface="Calibri"/>
              <a:ea typeface="Calibri"/>
              <a:cs typeface="Calibri"/>
            </a:endParaRPr>
          </a:p>
        </p:txBody>
      </p:sp>
      <p:sp>
        <p:nvSpPr>
          <p:cNvPr id="14" name="Text 12"/>
          <p:cNvSpPr/>
          <p:nvPr/>
        </p:nvSpPr>
        <p:spPr>
          <a:xfrm>
            <a:off x="1554480" y="3842469"/>
            <a:ext cx="8778240" cy="457200"/>
          </a:xfrm>
          <a:prstGeom prst="rect">
            <a:avLst/>
          </a:prstGeom>
          <a:noFill/>
          <a:ln/>
        </p:spPr>
        <p:txBody>
          <a:bodyPr wrap="square" lIns="91440" tIns="45720" rIns="91440" bIns="45720" rtlCol="0" anchor="ctr"/>
          <a:lstStyle/>
          <a:p>
            <a:pPr marL="0" indent="0">
              <a:buNone/>
            </a:pPr>
            <a:r>
              <a:rPr lang="en-US">
                <a:latin typeface="Calibri"/>
                <a:ea typeface="Calibri"/>
                <a:cs typeface="Calibri"/>
              </a:rPr>
              <a:t>Real price and volume trends built from our dataset</a:t>
            </a:r>
          </a:p>
        </p:txBody>
      </p:sp>
      <p:sp>
        <p:nvSpPr>
          <p:cNvPr id="15" name="Text 13"/>
          <p:cNvSpPr/>
          <p:nvPr/>
        </p:nvSpPr>
        <p:spPr>
          <a:xfrm>
            <a:off x="640080" y="4372821"/>
            <a:ext cx="731520" cy="822960"/>
          </a:xfrm>
          <a:prstGeom prst="rect">
            <a:avLst/>
          </a:prstGeom>
          <a:noFill/>
          <a:ln/>
        </p:spPr>
        <p:txBody>
          <a:bodyPr wrap="square" rtlCol="0" anchor="ctr"/>
          <a:lstStyle/>
          <a:p>
            <a:pPr marL="0" indent="0">
              <a:buNone/>
            </a:pPr>
            <a:r>
              <a:rPr lang="en-US" sz="2800" b="1">
                <a:solidFill>
                  <a:srgbClr val="E8A33D"/>
                </a:solidFill>
                <a:latin typeface="Georgia" pitchFamily="34" charset="0"/>
                <a:ea typeface="Georgia" pitchFamily="34" charset="-122"/>
                <a:cs typeface="Georgia" pitchFamily="34" charset="-120"/>
              </a:rPr>
              <a:t>04</a:t>
            </a:r>
            <a:endParaRPr lang="en-US" sz="2800"/>
          </a:p>
        </p:txBody>
      </p:sp>
      <p:sp>
        <p:nvSpPr>
          <p:cNvPr id="16" name="Text 14"/>
          <p:cNvSpPr/>
          <p:nvPr/>
        </p:nvSpPr>
        <p:spPr>
          <a:xfrm>
            <a:off x="1554480" y="4391109"/>
            <a:ext cx="4389120" cy="365760"/>
          </a:xfrm>
          <a:prstGeom prst="rect">
            <a:avLst/>
          </a:prstGeom>
          <a:noFill/>
          <a:ln/>
        </p:spPr>
        <p:txBody>
          <a:bodyPr wrap="square" lIns="91440" tIns="45720" rIns="91440" bIns="45720" rtlCol="0" anchor="ctr"/>
          <a:lstStyle/>
          <a:p>
            <a:pPr marL="0" indent="0">
              <a:buNone/>
            </a:pPr>
            <a:r>
              <a:rPr lang="en-US" sz="2000" b="1">
                <a:latin typeface="Calibri"/>
                <a:ea typeface="Calibri"/>
                <a:cs typeface="Calibri"/>
              </a:rPr>
              <a:t>The 90-Day Forecast</a:t>
            </a:r>
            <a:endParaRPr lang="en-US" sz="2000">
              <a:latin typeface="Calibri"/>
              <a:ea typeface="Calibri"/>
              <a:cs typeface="Calibri"/>
            </a:endParaRPr>
          </a:p>
        </p:txBody>
      </p:sp>
      <p:sp>
        <p:nvSpPr>
          <p:cNvPr id="17" name="Text 15"/>
          <p:cNvSpPr/>
          <p:nvPr/>
        </p:nvSpPr>
        <p:spPr>
          <a:xfrm>
            <a:off x="1554480" y="4756869"/>
            <a:ext cx="8778240" cy="457200"/>
          </a:xfrm>
          <a:prstGeom prst="rect">
            <a:avLst/>
          </a:prstGeom>
          <a:noFill/>
          <a:ln/>
        </p:spPr>
        <p:txBody>
          <a:bodyPr wrap="square" lIns="91440" tIns="45720" rIns="91440" bIns="45720" rtlCol="0" anchor="ctr"/>
          <a:lstStyle/>
          <a:p>
            <a:pPr marL="0" indent="0">
              <a:buNone/>
            </a:pPr>
            <a:r>
              <a:rPr lang="en-US">
                <a:latin typeface="Calibri"/>
                <a:ea typeface="Calibri"/>
                <a:cs typeface="Calibri"/>
              </a:rPr>
              <a:t>How Power BI's built-in forecast works, and what it produced</a:t>
            </a:r>
          </a:p>
        </p:txBody>
      </p:sp>
      <p:sp>
        <p:nvSpPr>
          <p:cNvPr id="18" name="Text 16"/>
          <p:cNvSpPr/>
          <p:nvPr/>
        </p:nvSpPr>
        <p:spPr>
          <a:xfrm>
            <a:off x="640080" y="5287221"/>
            <a:ext cx="731520" cy="822960"/>
          </a:xfrm>
          <a:prstGeom prst="rect">
            <a:avLst/>
          </a:prstGeom>
          <a:noFill/>
          <a:ln/>
        </p:spPr>
        <p:txBody>
          <a:bodyPr wrap="square" rtlCol="0" anchor="ctr"/>
          <a:lstStyle/>
          <a:p>
            <a:pPr marL="0" indent="0">
              <a:buNone/>
            </a:pPr>
            <a:r>
              <a:rPr lang="en-US" sz="2800" b="1">
                <a:solidFill>
                  <a:srgbClr val="E8A33D"/>
                </a:solidFill>
                <a:latin typeface="Georgia" pitchFamily="34" charset="0"/>
                <a:ea typeface="Georgia" pitchFamily="34" charset="-122"/>
                <a:cs typeface="Georgia" pitchFamily="34" charset="-120"/>
              </a:rPr>
              <a:t>05</a:t>
            </a:r>
            <a:endParaRPr lang="en-US" sz="2800"/>
          </a:p>
        </p:txBody>
      </p:sp>
      <p:sp>
        <p:nvSpPr>
          <p:cNvPr id="19" name="Text 17"/>
          <p:cNvSpPr/>
          <p:nvPr/>
        </p:nvSpPr>
        <p:spPr>
          <a:xfrm>
            <a:off x="1554480" y="5305509"/>
            <a:ext cx="4389120" cy="365760"/>
          </a:xfrm>
          <a:prstGeom prst="rect">
            <a:avLst/>
          </a:prstGeom>
          <a:noFill/>
          <a:ln/>
        </p:spPr>
        <p:txBody>
          <a:bodyPr wrap="square" lIns="91440" tIns="45720" rIns="91440" bIns="45720" rtlCol="0" anchor="ctr"/>
          <a:lstStyle/>
          <a:p>
            <a:pPr marL="0" indent="0">
              <a:buNone/>
            </a:pPr>
            <a:r>
              <a:rPr lang="en-US" sz="2000" b="1">
                <a:latin typeface="Calibri"/>
                <a:ea typeface="Calibri"/>
                <a:cs typeface="Calibri"/>
              </a:rPr>
              <a:t>Status, SCM Relevance &amp; Next Steps</a:t>
            </a:r>
            <a:endParaRPr lang="en-US" sz="2000">
              <a:latin typeface="Calibri"/>
              <a:ea typeface="Calibri"/>
              <a:cs typeface="Calibri"/>
            </a:endParaRPr>
          </a:p>
        </p:txBody>
      </p:sp>
      <p:sp>
        <p:nvSpPr>
          <p:cNvPr id="20" name="Text 18"/>
          <p:cNvSpPr/>
          <p:nvPr/>
        </p:nvSpPr>
        <p:spPr>
          <a:xfrm>
            <a:off x="1554480" y="5671269"/>
            <a:ext cx="8778240" cy="457200"/>
          </a:xfrm>
          <a:prstGeom prst="rect">
            <a:avLst/>
          </a:prstGeom>
          <a:noFill/>
          <a:ln/>
        </p:spPr>
        <p:txBody>
          <a:bodyPr wrap="square" lIns="91440" tIns="45720" rIns="91440" bIns="45720" rtlCol="0" anchor="ctr"/>
          <a:lstStyle/>
          <a:p>
            <a:pPr marL="0" indent="0">
              <a:buNone/>
            </a:pPr>
            <a:r>
              <a:rPr lang="en-US">
                <a:latin typeface="Calibri"/>
                <a:ea typeface="Calibri"/>
                <a:cs typeface="Calibri"/>
              </a:rPr>
              <a:t>What's done, what's left, and why this matters beyond trading</a:t>
            </a:r>
          </a:p>
        </p:txBody>
      </p:sp>
      <p:pic>
        <p:nvPicPr>
          <p:cNvPr id="21" name="Picture 20">
            <a:extLst>
              <a:ext uri="{FF2B5EF4-FFF2-40B4-BE49-F238E27FC236}">
                <a16:creationId xmlns:a16="http://schemas.microsoft.com/office/drawing/2014/main" id="{ACB011D9-2568-9E4A-5813-23EAE0EA4E6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551319" y="24252"/>
            <a:ext cx="1574482" cy="879017"/>
          </a:xfrm>
          <a:prstGeom prst="rect">
            <a:avLst/>
          </a:prstGeom>
          <a:ln>
            <a:solidFill>
              <a:schemeClr val="bg1">
                <a:lumMod val="95000"/>
              </a:schemeClr>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11338560" y="6510528"/>
            <a:ext cx="457200" cy="274320"/>
          </a:xfrm>
          <a:prstGeom prst="rect">
            <a:avLst/>
          </a:prstGeom>
          <a:noFill/>
          <a:ln/>
        </p:spPr>
        <p:txBody>
          <a:bodyPr wrap="square" rtlCol="0" anchor="ctr"/>
          <a:lstStyle/>
          <a:p>
            <a:pPr marL="0" indent="0" algn="r">
              <a:buNone/>
            </a:pPr>
            <a:r>
              <a:rPr lang="en-US" sz="900" dirty="0">
                <a:solidFill>
                  <a:srgbClr val="8A929C"/>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548640" y="411480"/>
            <a:ext cx="10058400" cy="320040"/>
          </a:xfrm>
          <a:prstGeom prst="rect">
            <a:avLst/>
          </a:prstGeom>
          <a:noFill/>
          <a:ln/>
        </p:spPr>
        <p:txBody>
          <a:bodyPr wrap="square" lIns="91440" tIns="45720" rIns="91440" bIns="45720" rtlCol="0" anchor="ctr"/>
          <a:lstStyle/>
          <a:p>
            <a:pPr marL="0" indent="0">
              <a:buNone/>
            </a:pPr>
            <a:r>
              <a:rPr lang="en-US" sz="3600" b="1" kern="0" spc="200" dirty="0">
                <a:solidFill>
                  <a:schemeClr val="accent2"/>
                </a:solidFill>
                <a:latin typeface="Calibri"/>
                <a:ea typeface="Calibri"/>
                <a:cs typeface="Calibri"/>
              </a:rPr>
              <a:t>THE PROBLEM</a:t>
            </a:r>
            <a:endParaRPr lang="en-US" sz="3600" dirty="0">
              <a:solidFill>
                <a:schemeClr val="accent2"/>
              </a:solidFill>
              <a:latin typeface="Calibri"/>
              <a:ea typeface="Calibri"/>
              <a:cs typeface="Calibri"/>
            </a:endParaRPr>
          </a:p>
        </p:txBody>
      </p:sp>
      <p:sp>
        <p:nvSpPr>
          <p:cNvPr id="5" name="Text 3"/>
          <p:cNvSpPr/>
          <p:nvPr/>
        </p:nvSpPr>
        <p:spPr>
          <a:xfrm>
            <a:off x="548640" y="731520"/>
            <a:ext cx="10789920" cy="822960"/>
          </a:xfrm>
          <a:prstGeom prst="rect">
            <a:avLst/>
          </a:prstGeom>
          <a:noFill/>
          <a:ln/>
        </p:spPr>
        <p:txBody>
          <a:bodyPr wrap="square" lIns="91440" tIns="45720" rIns="91440" bIns="45720" rtlCol="0" anchor="ctr"/>
          <a:lstStyle/>
          <a:p>
            <a:pPr marL="0" indent="0">
              <a:buNone/>
            </a:pPr>
            <a:r>
              <a:rPr lang="en-US" sz="2800" b="1">
                <a:latin typeface="Georgia"/>
                <a:ea typeface="Georgia" pitchFamily="34" charset="-122"/>
                <a:cs typeface="Georgia" pitchFamily="34" charset="-120"/>
              </a:rPr>
              <a:t>Why Gold Price Forecasting Matters</a:t>
            </a:r>
            <a:endParaRPr lang="en-US" sz="2800">
              <a:latin typeface="Georgia"/>
            </a:endParaRPr>
          </a:p>
        </p:txBody>
      </p:sp>
      <p:sp>
        <p:nvSpPr>
          <p:cNvPr id="6" name="Shape 4"/>
          <p:cNvSpPr/>
          <p:nvPr/>
        </p:nvSpPr>
        <p:spPr>
          <a:xfrm>
            <a:off x="548640" y="1737360"/>
            <a:ext cx="11064240" cy="1280160"/>
          </a:xfrm>
          <a:prstGeom prst="roundRect">
            <a:avLst>
              <a:gd name="adj" fmla="val 5714"/>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7" name="Text 5"/>
          <p:cNvSpPr/>
          <p:nvPr/>
        </p:nvSpPr>
        <p:spPr>
          <a:xfrm>
            <a:off x="868680" y="1920240"/>
            <a:ext cx="10424160" cy="914400"/>
          </a:xfrm>
          <a:prstGeom prst="rect">
            <a:avLst/>
          </a:prstGeom>
          <a:noFill/>
          <a:ln/>
        </p:spPr>
        <p:txBody>
          <a:bodyPr wrap="square" lIns="91440" tIns="45720" rIns="91440" bIns="45720" rtlCol="0" anchor="ctr"/>
          <a:lstStyle/>
          <a:p>
            <a:pPr marL="0" indent="0">
              <a:buNone/>
            </a:pPr>
            <a:r>
              <a:rPr lang="en-US" sz="1600" dirty="0">
                <a:latin typeface="Calibri"/>
                <a:ea typeface="Calibri"/>
                <a:cs typeface="Calibri"/>
              </a:rPr>
              <a:t>Gold is a widely used hedge against inflation and economic uncertainty, but its price is volatile and shaped by macroeconomic shocks that are hard to anticipate from intuition alone. Traders, financial institutions, and businesses that use gold as a raw material all face the same challenge: without a forecast, decisions about when to buy, sell, or hedge are made blind.</a:t>
            </a:r>
          </a:p>
        </p:txBody>
      </p:sp>
      <p:sp>
        <p:nvSpPr>
          <p:cNvPr id="8" name="Shape 6"/>
          <p:cNvSpPr/>
          <p:nvPr/>
        </p:nvSpPr>
        <p:spPr>
          <a:xfrm>
            <a:off x="548640" y="3246120"/>
            <a:ext cx="3520440" cy="2377440"/>
          </a:xfrm>
          <a:prstGeom prst="roundRect">
            <a:avLst>
              <a:gd name="adj" fmla="val 3077"/>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9" name="Text 7"/>
          <p:cNvSpPr/>
          <p:nvPr/>
        </p:nvSpPr>
        <p:spPr>
          <a:xfrm>
            <a:off x="777240" y="3429000"/>
            <a:ext cx="3108960" cy="365760"/>
          </a:xfrm>
          <a:prstGeom prst="rect">
            <a:avLst/>
          </a:prstGeom>
          <a:noFill/>
          <a:ln/>
        </p:spPr>
        <p:txBody>
          <a:bodyPr wrap="square" lIns="91440" tIns="45720" rIns="91440" bIns="45720" rtlCol="0" anchor="ctr"/>
          <a:lstStyle/>
          <a:p>
            <a:pPr marL="0" indent="0">
              <a:buNone/>
            </a:pPr>
            <a:r>
              <a:rPr lang="en-US" b="1" dirty="0">
                <a:solidFill>
                  <a:schemeClr val="accent2"/>
                </a:solidFill>
                <a:latin typeface="Calibri"/>
                <a:ea typeface="Calibri"/>
                <a:cs typeface="Calibri"/>
              </a:rPr>
              <a:t>Unpredictability</a:t>
            </a:r>
            <a:endParaRPr lang="en-US" dirty="0">
              <a:solidFill>
                <a:schemeClr val="accent2"/>
              </a:solidFill>
              <a:latin typeface="Calibri"/>
              <a:ea typeface="Calibri"/>
              <a:cs typeface="Calibri"/>
            </a:endParaRPr>
          </a:p>
        </p:txBody>
      </p:sp>
      <p:sp>
        <p:nvSpPr>
          <p:cNvPr id="10" name="Text 8"/>
          <p:cNvSpPr/>
          <p:nvPr/>
        </p:nvSpPr>
        <p:spPr>
          <a:xfrm>
            <a:off x="777240" y="3840480"/>
            <a:ext cx="3108960" cy="1645920"/>
          </a:xfrm>
          <a:prstGeom prst="rect">
            <a:avLst/>
          </a:prstGeom>
          <a:noFill/>
          <a:ln/>
        </p:spPr>
        <p:txBody>
          <a:bodyPr wrap="square" lIns="91440" tIns="45720" rIns="91440" bIns="45720" rtlCol="0" anchor="ctr"/>
          <a:lstStyle/>
          <a:p>
            <a:pPr marL="0" indent="0">
              <a:buNone/>
            </a:pPr>
            <a:r>
              <a:rPr lang="en-US" sz="1600" dirty="0">
                <a:latin typeface="Calibri"/>
                <a:ea typeface="Calibri"/>
                <a:cs typeface="Calibri"/>
              </a:rPr>
              <a:t>Sharp price swings driven by macro shocks are difficult to anticipate.</a:t>
            </a:r>
          </a:p>
        </p:txBody>
      </p:sp>
      <p:sp>
        <p:nvSpPr>
          <p:cNvPr id="11" name="Shape 9"/>
          <p:cNvSpPr/>
          <p:nvPr/>
        </p:nvSpPr>
        <p:spPr>
          <a:xfrm>
            <a:off x="4251960" y="3246120"/>
            <a:ext cx="3520440" cy="2377440"/>
          </a:xfrm>
          <a:prstGeom prst="roundRect">
            <a:avLst>
              <a:gd name="adj" fmla="val 3077"/>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12" name="Text 10"/>
          <p:cNvSpPr/>
          <p:nvPr/>
        </p:nvSpPr>
        <p:spPr>
          <a:xfrm>
            <a:off x="4480560" y="3429000"/>
            <a:ext cx="3108960" cy="365760"/>
          </a:xfrm>
          <a:prstGeom prst="rect">
            <a:avLst/>
          </a:prstGeom>
          <a:noFill/>
          <a:ln/>
        </p:spPr>
        <p:txBody>
          <a:bodyPr wrap="square" lIns="91440" tIns="45720" rIns="91440" bIns="45720" rtlCol="0" anchor="ctr"/>
          <a:lstStyle/>
          <a:p>
            <a:pPr marL="0" indent="0">
              <a:buNone/>
            </a:pPr>
            <a:r>
              <a:rPr lang="en-US" b="1" dirty="0">
                <a:solidFill>
                  <a:schemeClr val="accent2"/>
                </a:solidFill>
                <a:latin typeface="Calibri"/>
                <a:ea typeface="Calibri"/>
                <a:cs typeface="Calibri"/>
              </a:rPr>
              <a:t>Suboptimal Timing</a:t>
            </a:r>
            <a:endParaRPr lang="en-US" dirty="0">
              <a:solidFill>
                <a:schemeClr val="accent2"/>
              </a:solidFill>
              <a:latin typeface="Calibri"/>
              <a:ea typeface="Calibri"/>
              <a:cs typeface="Calibri"/>
            </a:endParaRPr>
          </a:p>
        </p:txBody>
      </p:sp>
      <p:sp>
        <p:nvSpPr>
          <p:cNvPr id="13" name="Text 11"/>
          <p:cNvSpPr/>
          <p:nvPr/>
        </p:nvSpPr>
        <p:spPr>
          <a:xfrm>
            <a:off x="4480560" y="3840480"/>
            <a:ext cx="3108960" cy="1645920"/>
          </a:xfrm>
          <a:prstGeom prst="rect">
            <a:avLst/>
          </a:prstGeom>
          <a:noFill/>
          <a:ln/>
        </p:spPr>
        <p:txBody>
          <a:bodyPr wrap="square" lIns="91440" tIns="45720" rIns="91440" bIns="45720" rtlCol="0" anchor="ctr"/>
          <a:lstStyle/>
          <a:p>
            <a:pPr marL="0" indent="0">
              <a:buNone/>
            </a:pPr>
            <a:r>
              <a:rPr lang="en-US" sz="1600" dirty="0">
                <a:latin typeface="Calibri"/>
                <a:ea typeface="Calibri"/>
                <a:cs typeface="Calibri"/>
              </a:rPr>
              <a:t>Without a forecast, buying and hedging decisions are made reactively, not proactively.</a:t>
            </a:r>
          </a:p>
        </p:txBody>
      </p:sp>
      <p:sp>
        <p:nvSpPr>
          <p:cNvPr id="14" name="Shape 12"/>
          <p:cNvSpPr/>
          <p:nvPr/>
        </p:nvSpPr>
        <p:spPr>
          <a:xfrm>
            <a:off x="7955280" y="3246120"/>
            <a:ext cx="3520440" cy="2377440"/>
          </a:xfrm>
          <a:prstGeom prst="roundRect">
            <a:avLst>
              <a:gd name="adj" fmla="val 3077"/>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15" name="Text 13"/>
          <p:cNvSpPr/>
          <p:nvPr/>
        </p:nvSpPr>
        <p:spPr>
          <a:xfrm>
            <a:off x="8183880" y="3429000"/>
            <a:ext cx="3108960" cy="365760"/>
          </a:xfrm>
          <a:prstGeom prst="rect">
            <a:avLst/>
          </a:prstGeom>
          <a:noFill/>
          <a:ln/>
        </p:spPr>
        <p:txBody>
          <a:bodyPr wrap="square" lIns="91440" tIns="45720" rIns="91440" bIns="45720" rtlCol="0" anchor="ctr"/>
          <a:lstStyle/>
          <a:p>
            <a:pPr marL="0" indent="0">
              <a:buNone/>
            </a:pPr>
            <a:r>
              <a:rPr lang="en-US" b="1" dirty="0">
                <a:solidFill>
                  <a:schemeClr val="accent2"/>
                </a:solidFill>
                <a:latin typeface="Calibri"/>
                <a:ea typeface="Calibri"/>
                <a:cs typeface="Calibri"/>
              </a:rPr>
              <a:t>Unmitigated Risk</a:t>
            </a:r>
            <a:endParaRPr lang="en-US" dirty="0">
              <a:solidFill>
                <a:schemeClr val="accent2"/>
              </a:solidFill>
              <a:latin typeface="Calibri"/>
              <a:ea typeface="Calibri"/>
              <a:cs typeface="Calibri"/>
            </a:endParaRPr>
          </a:p>
        </p:txBody>
      </p:sp>
      <p:sp>
        <p:nvSpPr>
          <p:cNvPr id="16" name="Text 14"/>
          <p:cNvSpPr/>
          <p:nvPr/>
        </p:nvSpPr>
        <p:spPr>
          <a:xfrm>
            <a:off x="8183880" y="3840480"/>
            <a:ext cx="3108960" cy="1645920"/>
          </a:xfrm>
          <a:prstGeom prst="rect">
            <a:avLst/>
          </a:prstGeom>
          <a:noFill/>
          <a:ln/>
        </p:spPr>
        <p:txBody>
          <a:bodyPr wrap="square" lIns="91440" tIns="45720" rIns="91440" bIns="45720" rtlCol="0" anchor="ctr"/>
          <a:lstStyle/>
          <a:p>
            <a:pPr marL="0" indent="0">
              <a:buNone/>
            </a:pPr>
            <a:r>
              <a:rPr lang="en-US" sz="1600" dirty="0">
                <a:latin typeface="Calibri"/>
                <a:ea typeface="Calibri"/>
                <a:cs typeface="Calibri"/>
              </a:rPr>
              <a:t>Exposure to downside price movement is hard to quantify without historical analysis.</a:t>
            </a:r>
          </a:p>
        </p:txBody>
      </p:sp>
      <p:pic>
        <p:nvPicPr>
          <p:cNvPr id="19" name="Picture 18">
            <a:extLst>
              <a:ext uri="{FF2B5EF4-FFF2-40B4-BE49-F238E27FC236}">
                <a16:creationId xmlns:a16="http://schemas.microsoft.com/office/drawing/2014/main" id="{1D4AF91E-B46A-4C25-EB3C-336B3AD0212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11338560" y="6510528"/>
            <a:ext cx="457200" cy="274320"/>
          </a:xfrm>
          <a:prstGeom prst="rect">
            <a:avLst/>
          </a:prstGeom>
          <a:noFill/>
          <a:ln/>
        </p:spPr>
        <p:txBody>
          <a:bodyPr wrap="square" rtlCol="0" anchor="ctr"/>
          <a:lstStyle/>
          <a:p>
            <a:pPr marL="0" indent="0" algn="r">
              <a:buNone/>
            </a:pPr>
            <a:r>
              <a:rPr lang="en-US" sz="900" dirty="0">
                <a:solidFill>
                  <a:srgbClr val="8A929C"/>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548640" y="411480"/>
            <a:ext cx="10058400" cy="320040"/>
          </a:xfrm>
          <a:prstGeom prst="rect">
            <a:avLst/>
          </a:prstGeom>
          <a:noFill/>
          <a:ln/>
        </p:spPr>
        <p:txBody>
          <a:bodyPr wrap="square" lIns="91440" tIns="45720" rIns="91440" bIns="45720" rtlCol="0" anchor="ctr"/>
          <a:lstStyle/>
          <a:p>
            <a:pPr marL="0" indent="0">
              <a:buNone/>
            </a:pPr>
            <a:r>
              <a:rPr lang="en-US" sz="3600" b="1" kern="0" spc="200" dirty="0">
                <a:solidFill>
                  <a:schemeClr val="accent2"/>
                </a:solidFill>
                <a:latin typeface="Calibri"/>
                <a:ea typeface="Calibri"/>
                <a:cs typeface="Calibri"/>
              </a:rPr>
              <a:t>DATA FOUNDATION</a:t>
            </a:r>
            <a:endParaRPr lang="en-US" sz="3600" dirty="0">
              <a:solidFill>
                <a:schemeClr val="accent2"/>
              </a:solidFill>
              <a:latin typeface="Calibri"/>
              <a:ea typeface="Calibri"/>
              <a:cs typeface="Calibri"/>
            </a:endParaRPr>
          </a:p>
        </p:txBody>
      </p:sp>
      <p:sp>
        <p:nvSpPr>
          <p:cNvPr id="5" name="Text 3"/>
          <p:cNvSpPr/>
          <p:nvPr/>
        </p:nvSpPr>
        <p:spPr>
          <a:xfrm>
            <a:off x="548640" y="731520"/>
            <a:ext cx="10789920" cy="822960"/>
          </a:xfrm>
          <a:prstGeom prst="rect">
            <a:avLst/>
          </a:prstGeom>
          <a:noFill/>
          <a:ln/>
        </p:spPr>
        <p:txBody>
          <a:bodyPr wrap="square" lIns="91440" tIns="45720" rIns="91440" bIns="45720" rtlCol="0" anchor="ctr"/>
          <a:lstStyle/>
          <a:p>
            <a:pPr marL="0" indent="0">
              <a:buNone/>
            </a:pPr>
            <a:r>
              <a:rPr lang="en-US" sz="2800" b="1">
                <a:latin typeface="Georgia"/>
                <a:ea typeface="Georgia" pitchFamily="34" charset="-122"/>
                <a:cs typeface="Georgia" pitchFamily="34" charset="-120"/>
              </a:rPr>
              <a:t>Where Our Data Actually Comes From</a:t>
            </a:r>
            <a:endParaRPr lang="en-US" sz="2800">
              <a:latin typeface="Georgia"/>
            </a:endParaRPr>
          </a:p>
        </p:txBody>
      </p:sp>
      <p:sp>
        <p:nvSpPr>
          <p:cNvPr id="6" name="Shape 4"/>
          <p:cNvSpPr/>
          <p:nvPr/>
        </p:nvSpPr>
        <p:spPr>
          <a:xfrm>
            <a:off x="548640" y="1701579"/>
            <a:ext cx="5394960" cy="2103120"/>
          </a:xfrm>
          <a:prstGeom prst="roundRect">
            <a:avLst>
              <a:gd name="adj" fmla="val 3478"/>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7" name="Text 5"/>
          <p:cNvSpPr/>
          <p:nvPr/>
        </p:nvSpPr>
        <p:spPr>
          <a:xfrm>
            <a:off x="868680" y="1874520"/>
            <a:ext cx="4572000" cy="365760"/>
          </a:xfrm>
          <a:prstGeom prst="rect">
            <a:avLst/>
          </a:prstGeom>
          <a:noFill/>
          <a:ln/>
        </p:spPr>
        <p:txBody>
          <a:bodyPr wrap="square" lIns="91440" tIns="45720" rIns="91440" bIns="45720" rtlCol="0" anchor="ctr"/>
          <a:lstStyle/>
          <a:p>
            <a:pPr marL="0" indent="0">
              <a:buNone/>
            </a:pPr>
            <a:r>
              <a:rPr lang="en-US" b="1" dirty="0" err="1">
                <a:solidFill>
                  <a:schemeClr val="accent2"/>
                </a:solidFill>
                <a:latin typeface="Calibri"/>
                <a:ea typeface="Calibri"/>
                <a:cs typeface="Calibri"/>
              </a:rPr>
              <a:t>TradingView</a:t>
            </a:r>
            <a:endParaRPr lang="en-US" dirty="0">
              <a:solidFill>
                <a:schemeClr val="accent2"/>
              </a:solidFill>
              <a:latin typeface="Calibri"/>
              <a:ea typeface="Calibri"/>
              <a:cs typeface="Calibri"/>
            </a:endParaRPr>
          </a:p>
        </p:txBody>
      </p:sp>
      <p:sp>
        <p:nvSpPr>
          <p:cNvPr id="8" name="Text 6"/>
          <p:cNvSpPr/>
          <p:nvPr/>
        </p:nvSpPr>
        <p:spPr>
          <a:xfrm>
            <a:off x="868680" y="2286000"/>
            <a:ext cx="4937760" cy="1371600"/>
          </a:xfrm>
          <a:prstGeom prst="rect">
            <a:avLst/>
          </a:prstGeom>
          <a:noFill/>
          <a:ln/>
        </p:spPr>
        <p:txBody>
          <a:bodyPr wrap="square" lIns="91440" tIns="45720" rIns="91440" bIns="45720" rtlCol="0" anchor="ctr"/>
          <a:lstStyle/>
          <a:p>
            <a:pPr marL="0" indent="0">
              <a:buNone/>
            </a:pPr>
            <a:r>
              <a:rPr lang="en-US" sz="1600" dirty="0">
                <a:latin typeface="Calibri"/>
                <a:ea typeface="Calibri"/>
                <a:cs typeface="Calibri"/>
              </a:rPr>
              <a:t>Powers our live Meridian market terminal (see next slide) — real-time price charts, a technical gauge, symbol info, and an economic calendar via </a:t>
            </a:r>
            <a:r>
              <a:rPr lang="en-US" sz="1600" dirty="0" err="1">
                <a:latin typeface="Calibri"/>
                <a:ea typeface="Calibri"/>
                <a:cs typeface="Calibri"/>
              </a:rPr>
              <a:t>TradingView's</a:t>
            </a:r>
            <a:r>
              <a:rPr lang="en-US" sz="1600" dirty="0">
                <a:latin typeface="Calibri"/>
                <a:ea typeface="Calibri"/>
                <a:cs typeface="Calibri"/>
              </a:rPr>
              <a:t> own embeddable widgets. This is a live monitoring layer, not a source of historical data used in our model.</a:t>
            </a:r>
          </a:p>
        </p:txBody>
      </p:sp>
      <p:sp>
        <p:nvSpPr>
          <p:cNvPr id="9" name="Shape 7"/>
          <p:cNvSpPr/>
          <p:nvPr/>
        </p:nvSpPr>
        <p:spPr>
          <a:xfrm>
            <a:off x="6080760" y="1691640"/>
            <a:ext cx="5532120" cy="2103120"/>
          </a:xfrm>
          <a:prstGeom prst="roundRect">
            <a:avLst>
              <a:gd name="adj" fmla="val 3478"/>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10" name="Text 8"/>
          <p:cNvSpPr/>
          <p:nvPr/>
        </p:nvSpPr>
        <p:spPr>
          <a:xfrm>
            <a:off x="6400800" y="1874520"/>
            <a:ext cx="4572000" cy="365760"/>
          </a:xfrm>
          <a:prstGeom prst="rect">
            <a:avLst/>
          </a:prstGeom>
          <a:noFill/>
          <a:ln/>
        </p:spPr>
        <p:txBody>
          <a:bodyPr wrap="square" lIns="91440" tIns="45720" rIns="91440" bIns="45720" rtlCol="0" anchor="ctr"/>
          <a:lstStyle/>
          <a:p>
            <a:pPr marL="0" indent="0">
              <a:buNone/>
            </a:pPr>
            <a:r>
              <a:rPr lang="en-US" b="1" dirty="0">
                <a:solidFill>
                  <a:schemeClr val="accent2"/>
                </a:solidFill>
                <a:latin typeface="Calibri"/>
                <a:ea typeface="Calibri"/>
                <a:cs typeface="Calibri"/>
              </a:rPr>
              <a:t>Investing.com</a:t>
            </a:r>
            <a:endParaRPr lang="en-US" dirty="0">
              <a:solidFill>
                <a:schemeClr val="accent2"/>
              </a:solidFill>
              <a:latin typeface="Calibri"/>
              <a:ea typeface="Calibri"/>
              <a:cs typeface="Calibri"/>
            </a:endParaRPr>
          </a:p>
        </p:txBody>
      </p:sp>
      <p:sp>
        <p:nvSpPr>
          <p:cNvPr id="11" name="Text 9"/>
          <p:cNvSpPr/>
          <p:nvPr/>
        </p:nvSpPr>
        <p:spPr>
          <a:xfrm>
            <a:off x="6400800" y="2286000"/>
            <a:ext cx="5029200" cy="1371600"/>
          </a:xfrm>
          <a:prstGeom prst="rect">
            <a:avLst/>
          </a:prstGeom>
          <a:solidFill>
            <a:schemeClr val="bg1">
              <a:lumMod val="95000"/>
            </a:schemeClr>
          </a:solidFill>
          <a:ln/>
        </p:spPr>
        <p:txBody>
          <a:bodyPr wrap="square" lIns="91440" tIns="45720" rIns="91440" bIns="45720" rtlCol="0" anchor="ctr"/>
          <a:lstStyle/>
          <a:p>
            <a:pPr marL="0" indent="0">
              <a:buNone/>
            </a:pPr>
            <a:r>
              <a:rPr lang="en-US" sz="1600" dirty="0">
                <a:latin typeface="Calibri"/>
                <a:ea typeface="Calibri"/>
                <a:cs typeface="Calibri"/>
              </a:rPr>
              <a:t>Source of the daily historical Gold price series (Open, High, Low, Close, Volume) used in our Power BI dashboard and forecast — this is the real data behind everything in this deck.</a:t>
            </a:r>
          </a:p>
        </p:txBody>
      </p:sp>
      <p:sp>
        <p:nvSpPr>
          <p:cNvPr id="12" name="Shape 10"/>
          <p:cNvSpPr/>
          <p:nvPr/>
        </p:nvSpPr>
        <p:spPr>
          <a:xfrm>
            <a:off x="548640" y="3977640"/>
            <a:ext cx="11064240" cy="1965960"/>
          </a:xfrm>
          <a:prstGeom prst="roundRect">
            <a:avLst>
              <a:gd name="adj" fmla="val 3721"/>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13" name="Text 11"/>
          <p:cNvSpPr/>
          <p:nvPr/>
        </p:nvSpPr>
        <p:spPr>
          <a:xfrm>
            <a:off x="868680" y="4160520"/>
            <a:ext cx="7315200" cy="365760"/>
          </a:xfrm>
          <a:prstGeom prst="rect">
            <a:avLst/>
          </a:prstGeom>
          <a:noFill/>
          <a:ln/>
        </p:spPr>
        <p:txBody>
          <a:bodyPr wrap="square" lIns="91440" tIns="45720" rIns="91440" bIns="45720" rtlCol="0" anchor="ctr"/>
          <a:lstStyle/>
          <a:p>
            <a:pPr marL="0" indent="0">
              <a:buNone/>
            </a:pPr>
            <a:r>
              <a:rPr lang="en-US" sz="1400" b="1">
                <a:solidFill>
                  <a:schemeClr val="accent2"/>
                </a:solidFill>
                <a:latin typeface="Calibri"/>
                <a:ea typeface="Calibri"/>
                <a:cs typeface="Calibri"/>
              </a:rPr>
              <a:t>Dataset Snapshot</a:t>
            </a:r>
            <a:endParaRPr lang="en-US" sz="1400">
              <a:solidFill>
                <a:schemeClr val="accent2"/>
              </a:solidFill>
              <a:latin typeface="Calibri"/>
              <a:ea typeface="Calibri"/>
              <a:cs typeface="Calibri"/>
            </a:endParaRPr>
          </a:p>
        </p:txBody>
      </p:sp>
      <p:sp>
        <p:nvSpPr>
          <p:cNvPr id="14" name="Text 12"/>
          <p:cNvSpPr/>
          <p:nvPr/>
        </p:nvSpPr>
        <p:spPr>
          <a:xfrm>
            <a:off x="868680" y="4617720"/>
            <a:ext cx="3474720" cy="502920"/>
          </a:xfrm>
          <a:prstGeom prst="rect">
            <a:avLst/>
          </a:prstGeom>
          <a:noFill/>
          <a:ln/>
        </p:spPr>
        <p:txBody>
          <a:bodyPr wrap="square" lIns="91440" tIns="45720" rIns="91440" bIns="45720" rtlCol="0" anchor="ctr"/>
          <a:lstStyle/>
          <a:p>
            <a:pPr marL="0" indent="0">
              <a:buNone/>
            </a:pPr>
            <a:r>
              <a:rPr lang="en-US" sz="2400" b="1">
                <a:latin typeface="Georgia"/>
                <a:ea typeface="Georgia" pitchFamily="34" charset="-122"/>
                <a:cs typeface="Georgia" pitchFamily="34" charset="-120"/>
              </a:rPr>
              <a:t>2,081</a:t>
            </a:r>
            <a:endParaRPr lang="en-US" sz="2400">
              <a:latin typeface="Georgia"/>
            </a:endParaRPr>
          </a:p>
        </p:txBody>
      </p:sp>
      <p:sp>
        <p:nvSpPr>
          <p:cNvPr id="15" name="Text 13"/>
          <p:cNvSpPr/>
          <p:nvPr/>
        </p:nvSpPr>
        <p:spPr>
          <a:xfrm>
            <a:off x="868680" y="5120640"/>
            <a:ext cx="3474720" cy="320040"/>
          </a:xfrm>
          <a:prstGeom prst="rect">
            <a:avLst/>
          </a:prstGeom>
          <a:noFill/>
          <a:ln/>
        </p:spPr>
        <p:txBody>
          <a:bodyPr wrap="square" lIns="91440" tIns="45720" rIns="91440" bIns="45720" rtlCol="0" anchor="ctr"/>
          <a:lstStyle/>
          <a:p>
            <a:pPr marL="0" indent="0">
              <a:buNone/>
            </a:pPr>
            <a:r>
              <a:rPr lang="en-US" sz="1200">
                <a:latin typeface="Calibri"/>
                <a:ea typeface="Calibri"/>
                <a:cs typeface="Calibri"/>
              </a:rPr>
              <a:t>Daily Rows</a:t>
            </a:r>
          </a:p>
        </p:txBody>
      </p:sp>
      <p:sp>
        <p:nvSpPr>
          <p:cNvPr id="16" name="Text 14"/>
          <p:cNvSpPr/>
          <p:nvPr/>
        </p:nvSpPr>
        <p:spPr>
          <a:xfrm>
            <a:off x="3446890" y="4663440"/>
            <a:ext cx="3474720" cy="502920"/>
          </a:xfrm>
          <a:prstGeom prst="rect">
            <a:avLst/>
          </a:prstGeom>
          <a:noFill/>
          <a:ln/>
        </p:spPr>
        <p:txBody>
          <a:bodyPr wrap="square" lIns="91440" tIns="45720" rIns="91440" bIns="45720" rtlCol="0" anchor="ctr"/>
          <a:lstStyle/>
          <a:p>
            <a:pPr marL="0" indent="0">
              <a:buNone/>
            </a:pPr>
            <a:r>
              <a:rPr lang="en-US" sz="2400" b="1" dirty="0">
                <a:latin typeface="Georgia"/>
                <a:ea typeface="Georgia" pitchFamily="34" charset="-122"/>
                <a:cs typeface="Georgia" pitchFamily="34" charset="-120"/>
              </a:rPr>
              <a:t>Jan 2017 – Jul 2026</a:t>
            </a:r>
            <a:endParaRPr lang="en-US" sz="2400" dirty="0">
              <a:latin typeface="Georgia"/>
            </a:endParaRPr>
          </a:p>
        </p:txBody>
      </p:sp>
      <p:sp>
        <p:nvSpPr>
          <p:cNvPr id="17" name="Text 15"/>
          <p:cNvSpPr/>
          <p:nvPr/>
        </p:nvSpPr>
        <p:spPr>
          <a:xfrm>
            <a:off x="4480560" y="5120640"/>
            <a:ext cx="3474720" cy="320040"/>
          </a:xfrm>
          <a:prstGeom prst="rect">
            <a:avLst/>
          </a:prstGeom>
          <a:noFill/>
          <a:ln/>
        </p:spPr>
        <p:txBody>
          <a:bodyPr wrap="square" lIns="91440" tIns="45720" rIns="91440" bIns="45720" rtlCol="0" anchor="ctr"/>
          <a:lstStyle/>
          <a:p>
            <a:pPr marL="0" indent="0">
              <a:buNone/>
            </a:pPr>
            <a:r>
              <a:rPr lang="en-US" sz="1200">
                <a:latin typeface="Calibri"/>
                <a:ea typeface="Calibri"/>
                <a:cs typeface="Calibri"/>
              </a:rPr>
              <a:t>Date Range</a:t>
            </a:r>
          </a:p>
        </p:txBody>
      </p:sp>
      <p:sp>
        <p:nvSpPr>
          <p:cNvPr id="18" name="Text 16"/>
          <p:cNvSpPr/>
          <p:nvPr/>
        </p:nvSpPr>
        <p:spPr>
          <a:xfrm>
            <a:off x="7762460" y="4613744"/>
            <a:ext cx="3474720" cy="502920"/>
          </a:xfrm>
          <a:prstGeom prst="rect">
            <a:avLst/>
          </a:prstGeom>
          <a:noFill/>
          <a:ln/>
        </p:spPr>
        <p:txBody>
          <a:bodyPr wrap="square" lIns="91440" tIns="45720" rIns="91440" bIns="45720" rtlCol="0" anchor="ctr"/>
          <a:lstStyle/>
          <a:p>
            <a:pPr marL="0" indent="0">
              <a:buNone/>
            </a:pPr>
            <a:r>
              <a:rPr lang="en-US" sz="2400" b="1" dirty="0">
                <a:latin typeface="Georgia"/>
                <a:ea typeface="Georgia" pitchFamily="34" charset="-122"/>
                <a:cs typeface="Georgia" pitchFamily="34" charset="-120"/>
              </a:rPr>
              <a:t>$1,162 – $5,355</a:t>
            </a:r>
            <a:endParaRPr lang="en-US" sz="2400" dirty="0">
              <a:latin typeface="Georgia"/>
            </a:endParaRPr>
          </a:p>
        </p:txBody>
      </p:sp>
      <p:sp>
        <p:nvSpPr>
          <p:cNvPr id="19" name="Text 17"/>
          <p:cNvSpPr/>
          <p:nvPr/>
        </p:nvSpPr>
        <p:spPr>
          <a:xfrm>
            <a:off x="8316070" y="5080088"/>
            <a:ext cx="3474720" cy="320040"/>
          </a:xfrm>
          <a:prstGeom prst="rect">
            <a:avLst/>
          </a:prstGeom>
          <a:noFill/>
          <a:ln/>
        </p:spPr>
        <p:txBody>
          <a:bodyPr wrap="square" lIns="91440" tIns="45720" rIns="91440" bIns="45720" rtlCol="0" anchor="ctr"/>
          <a:lstStyle/>
          <a:p>
            <a:pPr marL="0" indent="0">
              <a:buNone/>
            </a:pPr>
            <a:r>
              <a:rPr lang="en-US" sz="1200" dirty="0">
                <a:latin typeface="Calibri"/>
                <a:ea typeface="Calibri"/>
                <a:cs typeface="Calibri"/>
              </a:rPr>
              <a:t>Price Range (Close)</a:t>
            </a:r>
          </a:p>
        </p:txBody>
      </p:sp>
      <p:pic>
        <p:nvPicPr>
          <p:cNvPr id="21" name="Picture 20">
            <a:extLst>
              <a:ext uri="{FF2B5EF4-FFF2-40B4-BE49-F238E27FC236}">
                <a16:creationId xmlns:a16="http://schemas.microsoft.com/office/drawing/2014/main" id="{61614166-2D73-BB8F-A459-0F45D3F7D0A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AA731B-1E33-A955-DD32-0F0220053CDE}"/>
              </a:ext>
            </a:extLst>
          </p:cNvPr>
          <p:cNvPicPr>
            <a:picLocks noChangeAspect="1"/>
          </p:cNvPicPr>
          <p:nvPr/>
        </p:nvPicPr>
        <p:blipFill>
          <a:blip r:embed="rId2"/>
          <a:stretch>
            <a:fillRect/>
          </a:stretch>
        </p:blipFill>
        <p:spPr>
          <a:xfrm>
            <a:off x="0" y="860991"/>
            <a:ext cx="12154452" cy="6004266"/>
          </a:xfrm>
          <a:prstGeom prst="rect">
            <a:avLst/>
          </a:prstGeom>
        </p:spPr>
      </p:pic>
      <p:sp>
        <p:nvSpPr>
          <p:cNvPr id="4" name="TextBox 3">
            <a:extLst>
              <a:ext uri="{FF2B5EF4-FFF2-40B4-BE49-F238E27FC236}">
                <a16:creationId xmlns:a16="http://schemas.microsoft.com/office/drawing/2014/main" id="{256DADF1-15B1-F8B9-44E3-CD1DF93E8B71}"/>
              </a:ext>
            </a:extLst>
          </p:cNvPr>
          <p:cNvSpPr txBox="1"/>
          <p:nvPr/>
        </p:nvSpPr>
        <p:spPr>
          <a:xfrm>
            <a:off x="143229" y="211693"/>
            <a:ext cx="744032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solidFill>
                  <a:schemeClr val="accent2"/>
                </a:solidFill>
                <a:ea typeface="Calibri"/>
                <a:cs typeface="Calibri"/>
              </a:rPr>
              <a:t>POWER BI  ·  HISTORICAL ANALYSIS</a:t>
            </a:r>
            <a:endParaRPr lang="en-US" sz="3600" dirty="0">
              <a:solidFill>
                <a:schemeClr val="accent2"/>
              </a:solidFill>
            </a:endParaRPr>
          </a:p>
          <a:p>
            <a:pPr algn="l"/>
            <a:endParaRPr lang="en-US" sz="3600" dirty="0">
              <a:solidFill>
                <a:schemeClr val="accent2"/>
              </a:solidFill>
              <a:ea typeface="Calibri"/>
              <a:cs typeface="Calibri"/>
            </a:endParaRPr>
          </a:p>
        </p:txBody>
      </p:sp>
      <p:pic>
        <p:nvPicPr>
          <p:cNvPr id="6" name="Picture 5">
            <a:extLst>
              <a:ext uri="{FF2B5EF4-FFF2-40B4-BE49-F238E27FC236}">
                <a16:creationId xmlns:a16="http://schemas.microsoft.com/office/drawing/2014/main" id="{58A19E44-4CD2-2EF0-1856-58AE590CAF8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extLst>
      <p:ext uri="{BB962C8B-B14F-4D97-AF65-F5344CB8AC3E}">
        <p14:creationId xmlns:p14="http://schemas.microsoft.com/office/powerpoint/2010/main" val="4198620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0AB2938-DB5E-7D90-60D8-441E3674D176}"/>
              </a:ext>
            </a:extLst>
          </p:cNvPr>
          <p:cNvSpPr txBox="1"/>
          <p:nvPr/>
        </p:nvSpPr>
        <p:spPr>
          <a:xfrm>
            <a:off x="305124" y="240337"/>
            <a:ext cx="845125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accent2"/>
                </a:solidFill>
                <a:ea typeface="+mn-lt"/>
                <a:cs typeface="+mn-lt"/>
              </a:rPr>
              <a:t>MERIDIAN  ·  LIVE TRADING TERMINAL</a:t>
            </a:r>
            <a:endParaRPr lang="en-US" sz="3600" dirty="0">
              <a:solidFill>
                <a:schemeClr val="accent2"/>
              </a:solidFill>
            </a:endParaRPr>
          </a:p>
        </p:txBody>
      </p:sp>
      <p:sp>
        <p:nvSpPr>
          <p:cNvPr id="7" name="TextBox 6">
            <a:extLst>
              <a:ext uri="{FF2B5EF4-FFF2-40B4-BE49-F238E27FC236}">
                <a16:creationId xmlns:a16="http://schemas.microsoft.com/office/drawing/2014/main" id="{5EE0A4B1-908E-83BA-5644-96F14F535579}"/>
              </a:ext>
            </a:extLst>
          </p:cNvPr>
          <p:cNvSpPr txBox="1"/>
          <p:nvPr/>
        </p:nvSpPr>
        <p:spPr>
          <a:xfrm>
            <a:off x="485497" y="1079175"/>
            <a:ext cx="10427668" cy="46474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ea typeface="Calibri"/>
                <a:cs typeface="Calibri"/>
              </a:rPr>
              <a:t>Real-time chart, technical gauge, symbol info &amp; economic calendar</a:t>
            </a:r>
          </a:p>
          <a:p>
            <a:endParaRPr lang="en-US" sz="2400" dirty="0"/>
          </a:p>
          <a:p>
            <a:r>
              <a:rPr lang="en-US" sz="2400" dirty="0">
                <a:ea typeface="Calibri"/>
                <a:cs typeface="Calibri"/>
              </a:rPr>
              <a:t>Built on official </a:t>
            </a:r>
            <a:r>
              <a:rPr lang="en-US" sz="2400" dirty="0" err="1">
                <a:ea typeface="Calibri"/>
                <a:cs typeface="Calibri"/>
              </a:rPr>
              <a:t>TradingView</a:t>
            </a:r>
            <a:r>
              <a:rPr lang="en-US" sz="2400" dirty="0">
                <a:ea typeface="Calibri"/>
                <a:cs typeface="Calibri"/>
              </a:rPr>
              <a:t> widgets</a:t>
            </a:r>
          </a:p>
          <a:p>
            <a:endParaRPr lang="en-US" sz="2400" dirty="0"/>
          </a:p>
          <a:p>
            <a:r>
              <a:rPr lang="en-US" sz="2000" dirty="0">
                <a:ea typeface="+mn-lt"/>
                <a:cs typeface="+mn-lt"/>
              </a:rPr>
              <a:t>•</a:t>
            </a:r>
            <a:r>
              <a:rPr lang="en-US" sz="2000" dirty="0">
                <a:ea typeface="Calibri"/>
                <a:cs typeface="Calibri"/>
              </a:rPr>
              <a:t>Advanced candlestick chart (15M interval)</a:t>
            </a:r>
          </a:p>
          <a:p>
            <a:endParaRPr lang="en-US" sz="2000" dirty="0"/>
          </a:p>
          <a:p>
            <a:r>
              <a:rPr lang="en-US" sz="2000" dirty="0">
                <a:ea typeface="+mn-lt"/>
                <a:cs typeface="+mn-lt"/>
              </a:rPr>
              <a:t>•</a:t>
            </a:r>
            <a:r>
              <a:rPr lang="en-US" sz="2000" dirty="0">
                <a:ea typeface="Calibri"/>
                <a:cs typeface="Calibri"/>
              </a:rPr>
              <a:t>Multi-asset market overview (crypto, equities, forex, futures)</a:t>
            </a:r>
          </a:p>
          <a:p>
            <a:endParaRPr lang="en-US" sz="2000" dirty="0"/>
          </a:p>
          <a:p>
            <a:r>
              <a:rPr lang="en-US" sz="2000" dirty="0">
                <a:ea typeface="+mn-lt"/>
                <a:cs typeface="+mn-lt"/>
              </a:rPr>
              <a:t>•</a:t>
            </a:r>
            <a:r>
              <a:rPr lang="en-US" sz="2000" dirty="0">
                <a:ea typeface="Calibri"/>
                <a:cs typeface="Calibri"/>
              </a:rPr>
              <a:t>Technical analysis gauge (buy/sell/neutral signal)</a:t>
            </a:r>
          </a:p>
          <a:p>
            <a:endParaRPr lang="en-US" sz="2000" dirty="0"/>
          </a:p>
          <a:p>
            <a:r>
              <a:rPr lang="en-US" sz="2000" dirty="0">
                <a:ea typeface="+mn-lt"/>
                <a:cs typeface="+mn-lt"/>
              </a:rPr>
              <a:t>•</a:t>
            </a:r>
            <a:r>
              <a:rPr lang="en-US" sz="2000" dirty="0">
                <a:ea typeface="Calibri"/>
                <a:cs typeface="Calibri"/>
              </a:rPr>
              <a:t>Live economic calendar for macro events</a:t>
            </a:r>
          </a:p>
          <a:p>
            <a:endParaRPr lang="en-US" sz="2000" dirty="0"/>
          </a:p>
          <a:p>
            <a:r>
              <a:rPr lang="en-US" sz="2000" i="1" dirty="0">
                <a:ea typeface="Calibri"/>
                <a:cs typeface="Calibri"/>
              </a:rPr>
              <a:t>Role: monitoring layer — where forecasts will surface once the AI agent is connected.</a:t>
            </a:r>
            <a:endParaRPr lang="en-US" sz="2000" dirty="0"/>
          </a:p>
          <a:p>
            <a:pPr algn="l"/>
            <a:endParaRPr lang="en-US" sz="2000" dirty="0">
              <a:ea typeface="Calibri"/>
              <a:cs typeface="Calibri"/>
            </a:endParaRPr>
          </a:p>
        </p:txBody>
      </p:sp>
      <p:sp>
        <p:nvSpPr>
          <p:cNvPr id="8" name="TextBox 7">
            <a:extLst>
              <a:ext uri="{FF2B5EF4-FFF2-40B4-BE49-F238E27FC236}">
                <a16:creationId xmlns:a16="http://schemas.microsoft.com/office/drawing/2014/main" id="{8731070A-D77E-7BF3-F5F4-FBB2CB28BA7E}"/>
              </a:ext>
            </a:extLst>
          </p:cNvPr>
          <p:cNvSpPr txBox="1"/>
          <p:nvPr/>
        </p:nvSpPr>
        <p:spPr>
          <a:xfrm>
            <a:off x="724592" y="5744169"/>
            <a:ext cx="390716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dirty="0">
                <a:solidFill>
                  <a:srgbClr val="0462C1"/>
                </a:solidFill>
                <a:ea typeface="Calibri"/>
                <a:cs typeface="Calibri"/>
                <a:hlinkClick r:id="rId2"/>
              </a:rPr>
              <a:t>MERIDIAN // Live Market Terminal</a:t>
            </a:r>
            <a:endParaRPr lang="en-US" dirty="0"/>
          </a:p>
          <a:p>
            <a:pPr algn="l"/>
            <a:endParaRPr lang="en-US" dirty="0">
              <a:ea typeface="Calibri"/>
              <a:cs typeface="Calibri"/>
            </a:endParaRPr>
          </a:p>
        </p:txBody>
      </p:sp>
      <p:sp>
        <p:nvSpPr>
          <p:cNvPr id="9" name="TextBox 8">
            <a:extLst>
              <a:ext uri="{FF2B5EF4-FFF2-40B4-BE49-F238E27FC236}">
                <a16:creationId xmlns:a16="http://schemas.microsoft.com/office/drawing/2014/main" id="{20D6F6DF-E04B-3D39-8A24-6519437835AB}"/>
              </a:ext>
            </a:extLst>
          </p:cNvPr>
          <p:cNvSpPr txBox="1"/>
          <p:nvPr/>
        </p:nvSpPr>
        <p:spPr>
          <a:xfrm>
            <a:off x="8268731" y="5745671"/>
            <a:ext cx="206217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dirty="0">
                <a:solidFill>
                  <a:srgbClr val="0462C1"/>
                </a:solidFill>
                <a:ea typeface="Calibri"/>
                <a:cs typeface="Calibri"/>
                <a:hlinkClick r:id="rId3"/>
              </a:rPr>
              <a:t>code script.txt</a:t>
            </a:r>
            <a:endParaRPr lang="en-US" dirty="0"/>
          </a:p>
          <a:p>
            <a:endParaRPr lang="en-US" dirty="0">
              <a:ea typeface="Calibri"/>
              <a:cs typeface="Calibri"/>
            </a:endParaRPr>
          </a:p>
        </p:txBody>
      </p:sp>
      <p:pic>
        <p:nvPicPr>
          <p:cNvPr id="3" name="Picture 2">
            <a:extLst>
              <a:ext uri="{FF2B5EF4-FFF2-40B4-BE49-F238E27FC236}">
                <a16:creationId xmlns:a16="http://schemas.microsoft.com/office/drawing/2014/main" id="{9ECC4219-9726-1A94-FDD4-4BFA9798E4B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extLst>
      <p:ext uri="{BB962C8B-B14F-4D97-AF65-F5344CB8AC3E}">
        <p14:creationId xmlns:p14="http://schemas.microsoft.com/office/powerpoint/2010/main" val="4180195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11338560" y="6510528"/>
            <a:ext cx="457200" cy="274320"/>
          </a:xfrm>
          <a:prstGeom prst="rect">
            <a:avLst/>
          </a:prstGeom>
          <a:noFill/>
          <a:ln/>
        </p:spPr>
        <p:txBody>
          <a:bodyPr wrap="square" rtlCol="0" anchor="ctr"/>
          <a:lstStyle/>
          <a:p>
            <a:pPr marL="0" indent="0" algn="r">
              <a:buNone/>
            </a:pPr>
            <a:r>
              <a:rPr lang="en-US" sz="900" dirty="0">
                <a:solidFill>
                  <a:srgbClr val="8A929C"/>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548640" y="411480"/>
            <a:ext cx="10058400" cy="320040"/>
          </a:xfrm>
          <a:prstGeom prst="rect">
            <a:avLst/>
          </a:prstGeom>
          <a:noFill/>
          <a:ln/>
        </p:spPr>
        <p:txBody>
          <a:bodyPr wrap="square" lIns="91440" tIns="45720" rIns="91440" bIns="45720" rtlCol="0" anchor="ctr"/>
          <a:lstStyle/>
          <a:p>
            <a:pPr marL="0" indent="0">
              <a:buNone/>
            </a:pPr>
            <a:r>
              <a:rPr lang="en-US" sz="3600" b="1" kern="0" spc="200" dirty="0">
                <a:solidFill>
                  <a:schemeClr val="accent2"/>
                </a:solidFill>
                <a:latin typeface="Calibri"/>
                <a:ea typeface="Calibri"/>
                <a:cs typeface="Calibri"/>
              </a:rPr>
              <a:t>THE FORECAST</a:t>
            </a:r>
            <a:endParaRPr lang="en-US" sz="3600" dirty="0">
              <a:solidFill>
                <a:schemeClr val="accent2"/>
              </a:solidFill>
              <a:latin typeface="Calibri"/>
              <a:ea typeface="Calibri"/>
              <a:cs typeface="Calibri"/>
            </a:endParaRPr>
          </a:p>
        </p:txBody>
      </p:sp>
      <p:sp>
        <p:nvSpPr>
          <p:cNvPr id="5" name="Text 3"/>
          <p:cNvSpPr/>
          <p:nvPr/>
        </p:nvSpPr>
        <p:spPr>
          <a:xfrm>
            <a:off x="548640" y="731520"/>
            <a:ext cx="10789920" cy="822960"/>
          </a:xfrm>
          <a:prstGeom prst="rect">
            <a:avLst/>
          </a:prstGeom>
          <a:noFill/>
          <a:ln/>
        </p:spPr>
        <p:txBody>
          <a:bodyPr wrap="square" lIns="91440" tIns="45720" rIns="91440" bIns="45720" rtlCol="0" anchor="ctr"/>
          <a:lstStyle/>
          <a:p>
            <a:pPr marL="0" indent="0">
              <a:buNone/>
            </a:pPr>
            <a:r>
              <a:rPr lang="en-US" sz="2800" b="1" dirty="0">
                <a:latin typeface="Georgia"/>
                <a:ea typeface="Georgia" pitchFamily="34" charset="-122"/>
                <a:cs typeface="Georgia" pitchFamily="34" charset="-120"/>
              </a:rPr>
              <a:t>90-Day Gold Price Forecast (Power BI)</a:t>
            </a:r>
            <a:endParaRPr lang="en-US" sz="2800" dirty="0">
              <a:latin typeface="Georgia"/>
            </a:endParaRPr>
          </a:p>
        </p:txBody>
      </p:sp>
      <p:sp>
        <p:nvSpPr>
          <p:cNvPr id="7" name="Text 5"/>
          <p:cNvSpPr/>
          <p:nvPr/>
        </p:nvSpPr>
        <p:spPr>
          <a:xfrm>
            <a:off x="868680" y="1874520"/>
            <a:ext cx="7315200" cy="320040"/>
          </a:xfrm>
          <a:prstGeom prst="rect">
            <a:avLst/>
          </a:prstGeom>
          <a:noFill/>
          <a:ln/>
        </p:spPr>
        <p:txBody>
          <a:bodyPr wrap="square" lIns="91440" tIns="45720" rIns="91440" bIns="45720" rtlCol="0" anchor="ctr"/>
          <a:lstStyle/>
          <a:p>
            <a:pPr marL="0" indent="0">
              <a:buNone/>
            </a:pPr>
            <a:r>
              <a:rPr lang="en-US" sz="2800" b="1" dirty="0">
                <a:solidFill>
                  <a:schemeClr val="accent2"/>
                </a:solidFill>
                <a:latin typeface="Calibri"/>
                <a:ea typeface="Calibri"/>
                <a:cs typeface="Calibri"/>
              </a:rPr>
              <a:t>How It Was Built — Simply</a:t>
            </a:r>
            <a:endParaRPr lang="en-US" sz="2800" dirty="0">
              <a:solidFill>
                <a:schemeClr val="accent2"/>
              </a:solidFill>
              <a:latin typeface="Calibri"/>
              <a:ea typeface="Calibri"/>
              <a:cs typeface="Calibri"/>
            </a:endParaRPr>
          </a:p>
        </p:txBody>
      </p:sp>
      <p:sp>
        <p:nvSpPr>
          <p:cNvPr id="8" name="Text 6"/>
          <p:cNvSpPr/>
          <p:nvPr/>
        </p:nvSpPr>
        <p:spPr>
          <a:xfrm>
            <a:off x="883920" y="2512612"/>
            <a:ext cx="10424160" cy="1188720"/>
          </a:xfrm>
          <a:prstGeom prst="rect">
            <a:avLst/>
          </a:prstGeom>
          <a:noFill/>
          <a:ln/>
        </p:spPr>
        <p:txBody>
          <a:bodyPr wrap="square" lIns="91440" tIns="45720" rIns="91440" bIns="45720" rtlCol="0" anchor="t"/>
          <a:lstStyle/>
          <a:p>
            <a:pPr marL="342900" indent="-342900">
              <a:spcAft>
                <a:spcPts val="600"/>
              </a:spcAft>
              <a:buSzPct val="100000"/>
              <a:buChar char="•"/>
            </a:pPr>
            <a:r>
              <a:rPr lang="en-US" sz="2400" dirty="0">
                <a:latin typeface="Calibri"/>
                <a:ea typeface="Calibri"/>
                <a:cs typeface="Calibri"/>
              </a:rPr>
              <a:t>Built using Power BI's native Analytics pane → Forecast feature on the Gold price line chart — no custom code.</a:t>
            </a:r>
          </a:p>
          <a:p>
            <a:pPr marL="342900" indent="-342900">
              <a:spcAft>
                <a:spcPts val="600"/>
              </a:spcAft>
              <a:buSzPct val="100000"/>
              <a:buChar char="•"/>
            </a:pPr>
            <a:r>
              <a:rPr lang="en-US" sz="2400" dirty="0">
                <a:latin typeface="Calibri"/>
                <a:ea typeface="Calibri"/>
                <a:cs typeface="Calibri"/>
              </a:rPr>
              <a:t>This feature uses Exponential Smoothing (ETS) — a standard statistical method that automatically detects trend and seasonality in the historical price line and projects it forward.</a:t>
            </a:r>
          </a:p>
          <a:p>
            <a:pPr marL="342900" indent="-342900">
              <a:spcAft>
                <a:spcPts val="600"/>
              </a:spcAft>
              <a:buSzPct val="100000"/>
              <a:buChar char="•"/>
            </a:pPr>
            <a:r>
              <a:rPr lang="en-US" sz="2400" dirty="0">
                <a:latin typeface="Calibri"/>
                <a:ea typeface="Calibri"/>
                <a:cs typeface="Calibri"/>
              </a:rPr>
              <a:t>All settings were left at Power BI's defaults (default confidence interval, automatic seasonality detection).</a:t>
            </a:r>
          </a:p>
        </p:txBody>
      </p:sp>
      <p:pic>
        <p:nvPicPr>
          <p:cNvPr id="12" name="Picture 11">
            <a:extLst>
              <a:ext uri="{FF2B5EF4-FFF2-40B4-BE49-F238E27FC236}">
                <a16:creationId xmlns:a16="http://schemas.microsoft.com/office/drawing/2014/main" id="{F91DFCA2-43B2-F65E-2806-EEA6EFD1221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11338560" y="6510528"/>
            <a:ext cx="457200" cy="274320"/>
          </a:xfrm>
          <a:prstGeom prst="rect">
            <a:avLst/>
          </a:prstGeom>
          <a:noFill/>
          <a:ln/>
        </p:spPr>
        <p:txBody>
          <a:bodyPr wrap="square" rtlCol="0" anchor="ctr"/>
          <a:lstStyle/>
          <a:p>
            <a:pPr marL="0" indent="0" algn="r">
              <a:buNone/>
            </a:pPr>
            <a:r>
              <a:rPr lang="en-US" sz="900" dirty="0">
                <a:solidFill>
                  <a:srgbClr val="8A929C"/>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548640" y="411480"/>
            <a:ext cx="10058400" cy="320040"/>
          </a:xfrm>
          <a:prstGeom prst="rect">
            <a:avLst/>
          </a:prstGeom>
          <a:noFill/>
          <a:ln/>
        </p:spPr>
        <p:txBody>
          <a:bodyPr wrap="square" rtlCol="0" anchor="ctr"/>
          <a:lstStyle/>
          <a:p>
            <a:pPr marL="0" indent="0">
              <a:buNone/>
            </a:pPr>
            <a:r>
              <a:rPr lang="en-US" sz="3600" b="1" kern="0" spc="200" dirty="0">
                <a:solidFill>
                  <a:schemeClr val="accent2"/>
                </a:solidFill>
                <a:latin typeface="Calibri" pitchFamily="34" charset="0"/>
                <a:ea typeface="Calibri" pitchFamily="34" charset="-122"/>
                <a:cs typeface="Calibri" pitchFamily="34" charset="-120"/>
              </a:rPr>
              <a:t>PROJECT STATUS</a:t>
            </a:r>
            <a:endParaRPr lang="en-US" sz="3600" dirty="0">
              <a:solidFill>
                <a:schemeClr val="accent2"/>
              </a:solidFill>
            </a:endParaRPr>
          </a:p>
        </p:txBody>
      </p:sp>
      <p:sp>
        <p:nvSpPr>
          <p:cNvPr id="5" name="Text 3"/>
          <p:cNvSpPr/>
          <p:nvPr/>
        </p:nvSpPr>
        <p:spPr>
          <a:xfrm>
            <a:off x="548640" y="731520"/>
            <a:ext cx="10789920" cy="822960"/>
          </a:xfrm>
          <a:prstGeom prst="rect">
            <a:avLst/>
          </a:prstGeom>
          <a:noFill/>
          <a:ln/>
        </p:spPr>
        <p:txBody>
          <a:bodyPr wrap="square" rtlCol="0" anchor="ctr"/>
          <a:lstStyle/>
          <a:p>
            <a:pPr marL="0" indent="0">
              <a:buNone/>
            </a:pPr>
            <a:r>
              <a:rPr lang="en-US" sz="2800" b="1" dirty="0">
                <a:latin typeface="Georgia" pitchFamily="34" charset="0"/>
                <a:ea typeface="Georgia" pitchFamily="34" charset="-122"/>
                <a:cs typeface="Georgia" pitchFamily="34" charset="-120"/>
              </a:rPr>
              <a:t>Where We Are, What Remains</a:t>
            </a:r>
            <a:endParaRPr lang="en-US" sz="2800" dirty="0"/>
          </a:p>
        </p:txBody>
      </p:sp>
      <p:sp>
        <p:nvSpPr>
          <p:cNvPr id="6" name="Shape 4"/>
          <p:cNvSpPr/>
          <p:nvPr/>
        </p:nvSpPr>
        <p:spPr>
          <a:xfrm>
            <a:off x="548640" y="1737360"/>
            <a:ext cx="5394960" cy="4206240"/>
          </a:xfrm>
          <a:prstGeom prst="roundRect">
            <a:avLst>
              <a:gd name="adj" fmla="val 1739"/>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7" name="Text 5"/>
          <p:cNvSpPr/>
          <p:nvPr/>
        </p:nvSpPr>
        <p:spPr>
          <a:xfrm>
            <a:off x="868680" y="1965960"/>
            <a:ext cx="4572000" cy="365760"/>
          </a:xfrm>
          <a:prstGeom prst="rect">
            <a:avLst/>
          </a:prstGeom>
          <a:noFill/>
          <a:ln/>
        </p:spPr>
        <p:txBody>
          <a:bodyPr wrap="square" rtlCol="0" anchor="ctr"/>
          <a:lstStyle/>
          <a:p>
            <a:pPr marL="0" indent="0">
              <a:buNone/>
            </a:pPr>
            <a:r>
              <a:rPr lang="en-US" sz="1500" b="1" dirty="0">
                <a:solidFill>
                  <a:schemeClr val="accent2"/>
                </a:solidFill>
                <a:latin typeface="Calibri" pitchFamily="34" charset="0"/>
                <a:ea typeface="Calibri" pitchFamily="34" charset="-122"/>
                <a:cs typeface="Calibri" pitchFamily="34" charset="-120"/>
              </a:rPr>
              <a:t>✓ Completed</a:t>
            </a:r>
            <a:endParaRPr lang="en-US" sz="1500" dirty="0">
              <a:solidFill>
                <a:schemeClr val="accent2"/>
              </a:solidFill>
            </a:endParaRPr>
          </a:p>
        </p:txBody>
      </p:sp>
      <p:sp>
        <p:nvSpPr>
          <p:cNvPr id="8" name="Text 6"/>
          <p:cNvSpPr/>
          <p:nvPr/>
        </p:nvSpPr>
        <p:spPr>
          <a:xfrm>
            <a:off x="868680" y="2377440"/>
            <a:ext cx="4846320" cy="3474720"/>
          </a:xfrm>
          <a:prstGeom prst="rect">
            <a:avLst/>
          </a:prstGeom>
          <a:noFill/>
          <a:ln/>
        </p:spPr>
        <p:txBody>
          <a:bodyPr wrap="square" rtlCol="0" anchor="t"/>
          <a:lstStyle/>
          <a:p>
            <a:pPr marL="342900" indent="-342900">
              <a:spcAft>
                <a:spcPts val="800"/>
              </a:spcAft>
              <a:buSzPct val="100000"/>
              <a:buChar char="•"/>
            </a:pPr>
            <a:r>
              <a:rPr lang="en-US" sz="1600" dirty="0">
                <a:latin typeface="Calibri" pitchFamily="34" charset="0"/>
                <a:ea typeface="Calibri" pitchFamily="34" charset="-122"/>
                <a:cs typeface="Calibri" pitchFamily="34" charset="-120"/>
              </a:rPr>
              <a:t>Sourced Gold price history from Investing.com (2017–2026, daily)</a:t>
            </a:r>
            <a:endParaRPr lang="en-US" sz="1600" dirty="0"/>
          </a:p>
          <a:p>
            <a:pPr marL="342900" indent="-342900">
              <a:spcAft>
                <a:spcPts val="800"/>
              </a:spcAft>
              <a:buSzPct val="100000"/>
              <a:buChar char="•"/>
            </a:pPr>
            <a:r>
              <a:rPr lang="en-US" sz="1600" dirty="0">
                <a:latin typeface="Calibri" pitchFamily="34" charset="0"/>
                <a:ea typeface="Calibri" pitchFamily="34" charset="-122"/>
                <a:cs typeface="Calibri" pitchFamily="34" charset="-120"/>
              </a:rPr>
              <a:t>Found and corrected a real date-formatting error in the raw data</a:t>
            </a:r>
            <a:endParaRPr lang="en-US" sz="1600" dirty="0"/>
          </a:p>
          <a:p>
            <a:pPr marL="342900" indent="-342900">
              <a:spcAft>
                <a:spcPts val="800"/>
              </a:spcAft>
              <a:buSzPct val="100000"/>
              <a:buChar char="•"/>
            </a:pPr>
            <a:r>
              <a:rPr lang="en-US" sz="1600" dirty="0">
                <a:latin typeface="Calibri" pitchFamily="34" charset="0"/>
                <a:ea typeface="Calibri" pitchFamily="34" charset="-122"/>
                <a:cs typeface="Calibri" pitchFamily="34" charset="-120"/>
              </a:rPr>
              <a:t>Built a Power BI dashboard with Price and Volume trend visuals</a:t>
            </a:r>
            <a:endParaRPr lang="en-US" sz="1600" dirty="0"/>
          </a:p>
          <a:p>
            <a:pPr marL="342900" indent="-342900">
              <a:spcAft>
                <a:spcPts val="800"/>
              </a:spcAft>
              <a:buSzPct val="100000"/>
              <a:buChar char="•"/>
            </a:pPr>
            <a:r>
              <a:rPr lang="en-US" sz="1600" dirty="0">
                <a:latin typeface="Calibri" pitchFamily="34" charset="0"/>
                <a:ea typeface="Calibri" pitchFamily="34" charset="-122"/>
                <a:cs typeface="Calibri" pitchFamily="34" charset="-120"/>
              </a:rPr>
              <a:t>Generated a 90-day forecast using Power BI's built-in Forecast feature</a:t>
            </a:r>
            <a:endParaRPr lang="en-US" sz="1600" dirty="0"/>
          </a:p>
          <a:p>
            <a:pPr marL="342900" indent="-342900">
              <a:spcAft>
                <a:spcPts val="800"/>
              </a:spcAft>
              <a:buSzPct val="100000"/>
              <a:buChar char="•"/>
            </a:pPr>
            <a:r>
              <a:rPr lang="en-US" sz="1600" dirty="0">
                <a:latin typeface="Calibri" pitchFamily="34" charset="0"/>
                <a:ea typeface="Calibri" pitchFamily="34" charset="-122"/>
                <a:cs typeface="Calibri" pitchFamily="34" charset="-120"/>
              </a:rPr>
              <a:t>Built Meridian, a live TradingView-based market monitoring terminal</a:t>
            </a:r>
            <a:endParaRPr lang="en-US" sz="1600" dirty="0"/>
          </a:p>
        </p:txBody>
      </p:sp>
      <p:sp>
        <p:nvSpPr>
          <p:cNvPr id="9" name="Shape 7"/>
          <p:cNvSpPr/>
          <p:nvPr/>
        </p:nvSpPr>
        <p:spPr>
          <a:xfrm>
            <a:off x="6217920" y="1737360"/>
            <a:ext cx="5394960" cy="4206240"/>
          </a:xfrm>
          <a:prstGeom prst="roundRect">
            <a:avLst>
              <a:gd name="adj" fmla="val 1739"/>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10" name="Text 8"/>
          <p:cNvSpPr/>
          <p:nvPr/>
        </p:nvSpPr>
        <p:spPr>
          <a:xfrm>
            <a:off x="6537960" y="1965960"/>
            <a:ext cx="4572000" cy="365760"/>
          </a:xfrm>
          <a:prstGeom prst="rect">
            <a:avLst/>
          </a:prstGeom>
          <a:noFill/>
          <a:ln/>
        </p:spPr>
        <p:txBody>
          <a:bodyPr wrap="square" lIns="91440" tIns="45720" rIns="91440" bIns="45720" rtlCol="0" anchor="ctr"/>
          <a:lstStyle/>
          <a:p>
            <a:pPr marL="0" indent="0">
              <a:buNone/>
            </a:pPr>
            <a:r>
              <a:rPr lang="en-US" b="1">
                <a:solidFill>
                  <a:schemeClr val="accent2"/>
                </a:solidFill>
                <a:latin typeface="Calibri"/>
                <a:ea typeface="Calibri"/>
                <a:cs typeface="Calibri"/>
              </a:rPr>
              <a:t>○ Remaining</a:t>
            </a:r>
            <a:endParaRPr lang="en-US">
              <a:solidFill>
                <a:schemeClr val="accent2"/>
              </a:solidFill>
              <a:latin typeface="Calibri"/>
              <a:ea typeface="Calibri"/>
              <a:cs typeface="Calibri"/>
            </a:endParaRPr>
          </a:p>
        </p:txBody>
      </p:sp>
      <p:sp>
        <p:nvSpPr>
          <p:cNvPr id="11" name="Text 9"/>
          <p:cNvSpPr/>
          <p:nvPr/>
        </p:nvSpPr>
        <p:spPr>
          <a:xfrm>
            <a:off x="6537960" y="2377440"/>
            <a:ext cx="4846320" cy="3474720"/>
          </a:xfrm>
          <a:prstGeom prst="rect">
            <a:avLst/>
          </a:prstGeom>
          <a:noFill/>
          <a:ln/>
        </p:spPr>
        <p:txBody>
          <a:bodyPr wrap="square" lIns="91440" tIns="45720" rIns="91440" bIns="45720" rtlCol="0" anchor="t"/>
          <a:lstStyle/>
          <a:p>
            <a:pPr marL="342900" indent="-342900">
              <a:spcAft>
                <a:spcPts val="800"/>
              </a:spcAft>
              <a:buSzPct val="100000"/>
              <a:buChar char="•"/>
            </a:pPr>
            <a:r>
              <a:rPr lang="en-US" sz="1600">
                <a:latin typeface="Calibri"/>
                <a:ea typeface="Calibri"/>
                <a:cs typeface="Calibri"/>
              </a:rPr>
              <a:t>Validate the forecast against actual prices as new days arrive, to see how accurate it turns out to be</a:t>
            </a:r>
          </a:p>
          <a:p>
            <a:pPr marL="342900" indent="-342900">
              <a:spcAft>
                <a:spcPts val="800"/>
              </a:spcAft>
              <a:buSzPct val="100000"/>
              <a:buChar char="•"/>
            </a:pPr>
            <a:r>
              <a:rPr lang="en-US" sz="1600">
                <a:latin typeface="Calibri"/>
                <a:ea typeface="Calibri"/>
                <a:cs typeface="Calibri"/>
              </a:rPr>
              <a:t>Extend the Power BI report to cover Volume and Price side by side on one page</a:t>
            </a:r>
          </a:p>
          <a:p>
            <a:pPr marL="342900" indent="-342900">
              <a:spcAft>
                <a:spcPts val="800"/>
              </a:spcAft>
              <a:buSzPct val="100000"/>
              <a:buChar char="•"/>
            </a:pPr>
            <a:r>
              <a:rPr lang="en-US" sz="1600">
                <a:latin typeface="Calibri"/>
                <a:ea typeface="Calibri"/>
                <a:cs typeface="Calibri"/>
              </a:rPr>
              <a:t>Explore connecting Meridian's live feed to the Power BI report for a single unified view</a:t>
            </a:r>
          </a:p>
          <a:p>
            <a:pPr marL="342900" indent="-342900">
              <a:spcAft>
                <a:spcPts val="800"/>
              </a:spcAft>
              <a:buSzPct val="100000"/>
              <a:buChar char="•"/>
            </a:pPr>
            <a:r>
              <a:rPr lang="en-US" sz="1600">
                <a:latin typeface="Calibri"/>
                <a:ea typeface="Calibri"/>
                <a:cs typeface="Calibri"/>
              </a:rPr>
              <a:t>Consider a simple written explanation of forecast confidence for non-technical readers</a:t>
            </a:r>
          </a:p>
        </p:txBody>
      </p:sp>
      <p:pic>
        <p:nvPicPr>
          <p:cNvPr id="12" name="Picture 11" descr="A close up of a logo&#10;&#10;AI-generated content may be incorrect.">
            <a:extLst>
              <a:ext uri="{FF2B5EF4-FFF2-40B4-BE49-F238E27FC236}">
                <a16:creationId xmlns:a16="http://schemas.microsoft.com/office/drawing/2014/main" id="{1F43C9F1-0A2F-7A96-ACD6-D226C11D52E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11338560" y="6510528"/>
            <a:ext cx="457200" cy="274320"/>
          </a:xfrm>
          <a:prstGeom prst="rect">
            <a:avLst/>
          </a:prstGeom>
          <a:noFill/>
          <a:ln/>
        </p:spPr>
        <p:txBody>
          <a:bodyPr wrap="square" rtlCol="0" anchor="ctr"/>
          <a:lstStyle/>
          <a:p>
            <a:pPr marL="0" indent="0" algn="r">
              <a:buNone/>
            </a:pPr>
            <a:r>
              <a:rPr lang="en-US" sz="900" dirty="0">
                <a:solidFill>
                  <a:srgbClr val="8A929C"/>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548640" y="411480"/>
            <a:ext cx="10058400" cy="320040"/>
          </a:xfrm>
          <a:prstGeom prst="rect">
            <a:avLst/>
          </a:prstGeom>
          <a:noFill/>
          <a:ln/>
        </p:spPr>
        <p:txBody>
          <a:bodyPr wrap="square" rtlCol="0" anchor="ctr"/>
          <a:lstStyle/>
          <a:p>
            <a:pPr marL="0" indent="0">
              <a:buNone/>
            </a:pPr>
            <a:r>
              <a:rPr lang="en-US" sz="3600" b="1" kern="0" spc="200" dirty="0">
                <a:solidFill>
                  <a:schemeClr val="accent2"/>
                </a:solidFill>
                <a:latin typeface="Calibri" pitchFamily="34" charset="0"/>
                <a:ea typeface="Calibri" pitchFamily="34" charset="-122"/>
                <a:cs typeface="Calibri" pitchFamily="34" charset="-120"/>
              </a:rPr>
              <a:t>INTERPRETATION</a:t>
            </a:r>
            <a:endParaRPr lang="en-US" sz="3600" dirty="0">
              <a:solidFill>
                <a:schemeClr val="accent2"/>
              </a:solidFill>
            </a:endParaRPr>
          </a:p>
        </p:txBody>
      </p:sp>
      <p:sp>
        <p:nvSpPr>
          <p:cNvPr id="5" name="Text 3"/>
          <p:cNvSpPr/>
          <p:nvPr/>
        </p:nvSpPr>
        <p:spPr>
          <a:xfrm>
            <a:off x="548640" y="920205"/>
            <a:ext cx="7959635" cy="793932"/>
          </a:xfrm>
          <a:prstGeom prst="rect">
            <a:avLst/>
          </a:prstGeom>
          <a:noFill/>
          <a:ln/>
        </p:spPr>
        <p:txBody>
          <a:bodyPr wrap="square" rtlCol="0" anchor="ctr"/>
          <a:lstStyle/>
          <a:p>
            <a:pPr marL="0" indent="0">
              <a:buNone/>
            </a:pPr>
            <a:r>
              <a:rPr lang="en-US" sz="2800" b="1" dirty="0">
                <a:latin typeface="Georgia" pitchFamily="34" charset="0"/>
                <a:ea typeface="Georgia" pitchFamily="34" charset="-122"/>
                <a:cs typeface="Georgia" pitchFamily="34" charset="-120"/>
              </a:rPr>
              <a:t>How to Read the Forecast</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936962648"/>
              </p:ext>
            </p:extLst>
          </p:nvPr>
        </p:nvGraphicFramePr>
        <p:xfrm>
          <a:off x="548640" y="1783080"/>
          <a:ext cx="11064240" cy="4084320"/>
        </p:xfrm>
        <a:graphic>
          <a:graphicData uri="http://schemas.openxmlformats.org/drawingml/2006/table">
            <a:tbl>
              <a:tblPr/>
              <a:tblGrid>
                <a:gridCol w="329184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731520">
                <a:tc>
                  <a:txBody>
                    <a:bodyPr/>
                    <a:lstStyle/>
                    <a:p>
                      <a:pPr marL="0" indent="0">
                        <a:buNone/>
                      </a:pPr>
                      <a:r>
                        <a:rPr lang="en-US" sz="2800" b="1">
                          <a:solidFill>
                            <a:srgbClr val="E8A33D"/>
                          </a:solidFill>
                          <a:latin typeface="Calibri"/>
                          <a:ea typeface="Calibri"/>
                          <a:cs typeface="Calibri"/>
                        </a:rPr>
                        <a:t>Forecast horizon</a:t>
                      </a:r>
                      <a:endParaRPr lang="en-US" sz="2800">
                        <a:latin typeface="Calibri"/>
                        <a:ea typeface="Calibri"/>
                        <a:cs typeface="Calibri"/>
                      </a:endParaRP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tc>
                  <a:txBody>
                    <a:bodyPr/>
                    <a:lstStyle/>
                    <a:p>
                      <a:pPr marL="0" indent="0">
                        <a:buNone/>
                      </a:pPr>
                      <a:r>
                        <a:rPr lang="en-US" sz="2000">
                          <a:solidFill>
                            <a:schemeClr val="tx1"/>
                          </a:solidFill>
                          <a:latin typeface="Calibri"/>
                          <a:ea typeface="Calibri"/>
                          <a:cs typeface="Calibri"/>
                        </a:rPr>
                        <a:t>90 days, starting from the last actual data point (21 July 2026)</a:t>
                      </a: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731520">
                <a:tc>
                  <a:txBody>
                    <a:bodyPr/>
                    <a:lstStyle/>
                    <a:p>
                      <a:pPr marL="0" indent="0">
                        <a:buNone/>
                      </a:pPr>
                      <a:r>
                        <a:rPr lang="en-US" sz="2800" b="1">
                          <a:solidFill>
                            <a:srgbClr val="E8A33D"/>
                          </a:solidFill>
                          <a:latin typeface="Calibri"/>
                          <a:ea typeface="Calibri"/>
                          <a:cs typeface="Calibri"/>
                        </a:rPr>
                        <a:t>Method</a:t>
                      </a:r>
                      <a:endParaRPr lang="en-US" sz="2800">
                        <a:latin typeface="Calibri"/>
                        <a:ea typeface="Calibri"/>
                        <a:cs typeface="Calibri"/>
                      </a:endParaRP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tc>
                  <a:txBody>
                    <a:bodyPr/>
                    <a:lstStyle/>
                    <a:p>
                      <a:pPr marL="0" indent="0">
                        <a:buNone/>
                      </a:pPr>
                      <a:r>
                        <a:rPr lang="en-US" sz="2000">
                          <a:solidFill>
                            <a:schemeClr val="tx1"/>
                          </a:solidFill>
                          <a:latin typeface="Calibri"/>
                          <a:ea typeface="Calibri"/>
                          <a:cs typeface="Calibri"/>
                        </a:rPr>
                        <a:t>Exponential Smoothing (ETS) — trend + seasonality projected forward, default settings</a:t>
                      </a: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731520">
                <a:tc>
                  <a:txBody>
                    <a:bodyPr/>
                    <a:lstStyle/>
                    <a:p>
                      <a:pPr marL="0" indent="0">
                        <a:buNone/>
                      </a:pPr>
                      <a:r>
                        <a:rPr lang="en-US" sz="2800" b="1">
                          <a:solidFill>
                            <a:srgbClr val="E8A33D"/>
                          </a:solidFill>
                          <a:latin typeface="Calibri"/>
                          <a:ea typeface="Calibri"/>
                          <a:cs typeface="Calibri"/>
                        </a:rPr>
                        <a:t>Shaded band</a:t>
                      </a:r>
                      <a:endParaRPr lang="en-US" sz="2800">
                        <a:latin typeface="Calibri"/>
                        <a:ea typeface="Calibri"/>
                        <a:cs typeface="Calibri"/>
                      </a:endParaRP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tc>
                  <a:txBody>
                    <a:bodyPr/>
                    <a:lstStyle/>
                    <a:p>
                      <a:pPr marL="0" indent="0">
                        <a:buNone/>
                      </a:pPr>
                      <a:r>
                        <a:rPr lang="en-US" sz="2000">
                          <a:solidFill>
                            <a:schemeClr val="tx1"/>
                          </a:solidFill>
                          <a:latin typeface="Calibri"/>
                          <a:ea typeface="Calibri"/>
                          <a:cs typeface="Calibri"/>
                        </a:rPr>
                        <a:t>Power BI's default confidence interval — shows the range of likely outcomes, not a single guaranteed price</a:t>
                      </a: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731520">
                <a:tc>
                  <a:txBody>
                    <a:bodyPr/>
                    <a:lstStyle/>
                    <a:p>
                      <a:pPr marL="0" indent="0">
                        <a:buNone/>
                      </a:pPr>
                      <a:r>
                        <a:rPr lang="en-US" sz="2800" b="1">
                          <a:solidFill>
                            <a:srgbClr val="E8A33D"/>
                          </a:solidFill>
                          <a:latin typeface="Calibri"/>
                          <a:ea typeface="Calibri"/>
                          <a:cs typeface="Calibri"/>
                        </a:rPr>
                        <a:t>Why the band widens</a:t>
                      </a:r>
                      <a:endParaRPr lang="en-US" sz="2800">
                        <a:latin typeface="Calibri"/>
                        <a:ea typeface="Calibri"/>
                        <a:cs typeface="Calibri"/>
                      </a:endParaRP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tc>
                  <a:txBody>
                    <a:bodyPr/>
                    <a:lstStyle/>
                    <a:p>
                      <a:pPr marL="0" indent="0">
                        <a:buNone/>
                      </a:pPr>
                      <a:r>
                        <a:rPr lang="en-US" sz="2000">
                          <a:solidFill>
                            <a:schemeClr val="tx1"/>
                          </a:solidFill>
                          <a:latin typeface="Calibri"/>
                          <a:ea typeface="Calibri"/>
                          <a:cs typeface="Calibri"/>
                        </a:rPr>
                        <a:t>Uncertainty compounds the further out you forecast — near-term days are more reliable than day 90</a:t>
                      </a: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731520">
                <a:tc>
                  <a:txBody>
                    <a:bodyPr/>
                    <a:lstStyle/>
                    <a:p>
                      <a:pPr marL="0" indent="0">
                        <a:buNone/>
                      </a:pPr>
                      <a:r>
                        <a:rPr lang="en-US" sz="2800" b="1">
                          <a:solidFill>
                            <a:srgbClr val="E8A33D"/>
                          </a:solidFill>
                          <a:latin typeface="Calibri"/>
                          <a:ea typeface="Calibri"/>
                          <a:cs typeface="Calibri"/>
                        </a:rPr>
                        <a:t>What it does NOT capture</a:t>
                      </a:r>
                      <a:endParaRPr lang="en-US" sz="2800">
                        <a:latin typeface="Calibri"/>
                        <a:ea typeface="Calibri"/>
                        <a:cs typeface="Calibri"/>
                      </a:endParaRP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tc>
                  <a:txBody>
                    <a:bodyPr/>
                    <a:lstStyle/>
                    <a:p>
                      <a:pPr marL="0" indent="0">
                        <a:buNone/>
                      </a:pPr>
                      <a:r>
                        <a:rPr lang="en-US" sz="2000">
                          <a:solidFill>
                            <a:schemeClr val="tx1"/>
                          </a:solidFill>
                          <a:latin typeface="Calibri"/>
                          <a:ea typeface="Calibri"/>
                          <a:cs typeface="Calibri"/>
                        </a:rPr>
                        <a:t>Sudden macro shocks, geopolitical events, or central bank actions — ETS only projects patterns already present in the historical price line</a:t>
                      </a:r>
                    </a:p>
                  </a:txBody>
                  <a:tcPr anchor="ctr">
                    <a:lnL w="9525" cap="flat" cmpd="sng" algn="ctr">
                      <a:solidFill>
                        <a:srgbClr val="2A323C"/>
                      </a:solidFill>
                      <a:prstDash val="solid"/>
                      <a:round/>
                      <a:headEnd type="none" w="med" len="med"/>
                      <a:tailEnd type="none" w="med" len="med"/>
                    </a:lnL>
                    <a:lnR w="9525" cap="flat" cmpd="sng" algn="ctr">
                      <a:solidFill>
                        <a:srgbClr val="2A323C"/>
                      </a:solidFill>
                      <a:prstDash val="solid"/>
                      <a:round/>
                      <a:headEnd type="none" w="med" len="med"/>
                      <a:tailEnd type="none" w="med" len="med"/>
                    </a:lnR>
                    <a:lnT w="9525" cap="flat" cmpd="sng" algn="ctr">
                      <a:solidFill>
                        <a:srgbClr val="2A323C"/>
                      </a:solidFill>
                      <a:prstDash val="solid"/>
                      <a:round/>
                      <a:headEnd type="none" w="med" len="med"/>
                      <a:tailEnd type="none" w="med" len="med"/>
                    </a:lnT>
                    <a:lnB w="9525" cap="flat" cmpd="sng" algn="ctr">
                      <a:solidFill>
                        <a:srgbClr val="2A323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pic>
        <p:nvPicPr>
          <p:cNvPr id="8" name="Picture 7">
            <a:extLst>
              <a:ext uri="{FF2B5EF4-FFF2-40B4-BE49-F238E27FC236}">
                <a16:creationId xmlns:a16="http://schemas.microsoft.com/office/drawing/2014/main" id="{E84A4709-5DB9-0C8E-9809-366CE9BF3D0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11338560" y="6510528"/>
            <a:ext cx="457200" cy="274320"/>
          </a:xfrm>
          <a:prstGeom prst="rect">
            <a:avLst/>
          </a:prstGeom>
          <a:noFill/>
          <a:ln/>
        </p:spPr>
        <p:txBody>
          <a:bodyPr wrap="square" rtlCol="0" anchor="ctr"/>
          <a:lstStyle/>
          <a:p>
            <a:pPr marL="0" indent="0" algn="r">
              <a:buNone/>
            </a:pPr>
            <a:r>
              <a:rPr lang="en-US" sz="900" dirty="0">
                <a:solidFill>
                  <a:srgbClr val="8A929C"/>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548640" y="411480"/>
            <a:ext cx="10058400" cy="320040"/>
          </a:xfrm>
          <a:prstGeom prst="rect">
            <a:avLst/>
          </a:prstGeom>
          <a:noFill/>
          <a:ln/>
        </p:spPr>
        <p:txBody>
          <a:bodyPr wrap="square" rtlCol="0" anchor="ctr"/>
          <a:lstStyle/>
          <a:p>
            <a:pPr marL="0" indent="0">
              <a:buNone/>
            </a:pPr>
            <a:r>
              <a:rPr lang="en-US" sz="3600" b="1" kern="0" spc="200" dirty="0">
                <a:solidFill>
                  <a:schemeClr val="accent2"/>
                </a:solidFill>
                <a:latin typeface="Calibri" pitchFamily="34" charset="0"/>
                <a:ea typeface="Calibri" pitchFamily="34" charset="-122"/>
                <a:cs typeface="Calibri" pitchFamily="34" charset="-120"/>
              </a:rPr>
              <a:t>BROADER RELEVANCE</a:t>
            </a:r>
            <a:endParaRPr lang="en-US" sz="3600" dirty="0">
              <a:solidFill>
                <a:schemeClr val="accent2"/>
              </a:solidFill>
            </a:endParaRPr>
          </a:p>
        </p:txBody>
      </p:sp>
      <p:sp>
        <p:nvSpPr>
          <p:cNvPr id="5" name="Text 3"/>
          <p:cNvSpPr/>
          <p:nvPr/>
        </p:nvSpPr>
        <p:spPr>
          <a:xfrm>
            <a:off x="548640" y="731520"/>
            <a:ext cx="10789920" cy="822960"/>
          </a:xfrm>
          <a:prstGeom prst="rect">
            <a:avLst/>
          </a:prstGeom>
          <a:noFill/>
          <a:ln/>
        </p:spPr>
        <p:txBody>
          <a:bodyPr wrap="square" rtlCol="0" anchor="ctr"/>
          <a:lstStyle/>
          <a:p>
            <a:pPr marL="0" indent="0">
              <a:buNone/>
            </a:pPr>
            <a:r>
              <a:rPr lang="en-US" sz="2800" b="1" dirty="0">
                <a:latin typeface="Georgia" pitchFamily="34" charset="0"/>
                <a:ea typeface="Georgia" pitchFamily="34" charset="-122"/>
                <a:cs typeface="Georgia" pitchFamily="34" charset="-120"/>
              </a:rPr>
              <a:t>Why This Matters for Supply Chain Management</a:t>
            </a:r>
            <a:endParaRPr lang="en-US" sz="2800" dirty="0"/>
          </a:p>
        </p:txBody>
      </p:sp>
      <p:sp>
        <p:nvSpPr>
          <p:cNvPr id="6" name="Text 4"/>
          <p:cNvSpPr/>
          <p:nvPr/>
        </p:nvSpPr>
        <p:spPr>
          <a:xfrm>
            <a:off x="548640" y="1600200"/>
            <a:ext cx="10972800" cy="457200"/>
          </a:xfrm>
          <a:prstGeom prst="rect">
            <a:avLst/>
          </a:prstGeom>
          <a:noFill/>
          <a:ln/>
        </p:spPr>
        <p:txBody>
          <a:bodyPr wrap="square" rtlCol="0" anchor="ctr"/>
          <a:lstStyle/>
          <a:p>
            <a:pPr marL="0" indent="0">
              <a:buNone/>
            </a:pPr>
            <a:r>
              <a:rPr lang="en-US" sz="2000" dirty="0">
                <a:latin typeface="Calibri" pitchFamily="34" charset="0"/>
                <a:ea typeface="Calibri" pitchFamily="34" charset="-122"/>
                <a:cs typeface="Calibri" pitchFamily="34" charset="-120"/>
              </a:rPr>
              <a:t>Gold isn't only a trading asset — it's a raw material input, a hedge instrument, and a proxy for currency risk across global supply chains.</a:t>
            </a:r>
            <a:endParaRPr lang="en-US" sz="2000" dirty="0"/>
          </a:p>
        </p:txBody>
      </p:sp>
      <p:sp>
        <p:nvSpPr>
          <p:cNvPr id="7" name="Shape 5"/>
          <p:cNvSpPr/>
          <p:nvPr/>
        </p:nvSpPr>
        <p:spPr>
          <a:xfrm>
            <a:off x="548640" y="2286000"/>
            <a:ext cx="3611880" cy="3840480"/>
          </a:xfrm>
          <a:prstGeom prst="roundRect">
            <a:avLst>
              <a:gd name="adj" fmla="val 2025"/>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8" name="Text 6"/>
          <p:cNvSpPr/>
          <p:nvPr/>
        </p:nvSpPr>
        <p:spPr>
          <a:xfrm>
            <a:off x="777240" y="2468880"/>
            <a:ext cx="3200400" cy="640080"/>
          </a:xfrm>
          <a:prstGeom prst="rect">
            <a:avLst/>
          </a:prstGeom>
          <a:noFill/>
          <a:ln/>
        </p:spPr>
        <p:txBody>
          <a:bodyPr wrap="square" lIns="91440" tIns="45720" rIns="91440" bIns="45720" rtlCol="0" anchor="ctr"/>
          <a:lstStyle/>
          <a:p>
            <a:pPr marL="0" indent="0">
              <a:buNone/>
            </a:pPr>
            <a:r>
              <a:rPr lang="en-US" sz="2400" b="1">
                <a:solidFill>
                  <a:schemeClr val="accent2"/>
                </a:solidFill>
                <a:latin typeface="Calibri"/>
                <a:ea typeface="Calibri"/>
                <a:cs typeface="Calibri"/>
              </a:rPr>
              <a:t>Procurement &amp; Input Costs</a:t>
            </a:r>
          </a:p>
        </p:txBody>
      </p:sp>
      <p:sp>
        <p:nvSpPr>
          <p:cNvPr id="9" name="Text 7"/>
          <p:cNvSpPr/>
          <p:nvPr/>
        </p:nvSpPr>
        <p:spPr>
          <a:xfrm>
            <a:off x="777240" y="3108960"/>
            <a:ext cx="3200400" cy="2834640"/>
          </a:xfrm>
          <a:prstGeom prst="rect">
            <a:avLst/>
          </a:prstGeom>
          <a:noFill/>
          <a:ln/>
        </p:spPr>
        <p:txBody>
          <a:bodyPr wrap="square" rtlCol="0" anchor="ctr"/>
          <a:lstStyle/>
          <a:p>
            <a:pPr marL="0" indent="0">
              <a:buNone/>
            </a:pPr>
            <a:r>
              <a:rPr lang="en-US" sz="2400">
                <a:latin typeface="Calibri" pitchFamily="34" charset="0"/>
                <a:ea typeface="Calibri" pitchFamily="34" charset="-122"/>
                <a:cs typeface="Calibri" pitchFamily="34" charset="-120"/>
              </a:rPr>
              <a:t>Electronics, jewelry, and medical-device manufacturers use gold as a raw material; a price trend view helps inform when to place supplier orders.</a:t>
            </a:r>
            <a:endParaRPr lang="en-US" sz="2400"/>
          </a:p>
        </p:txBody>
      </p:sp>
      <p:sp>
        <p:nvSpPr>
          <p:cNvPr id="10" name="Shape 8"/>
          <p:cNvSpPr/>
          <p:nvPr/>
        </p:nvSpPr>
        <p:spPr>
          <a:xfrm>
            <a:off x="4343400" y="2286000"/>
            <a:ext cx="3611880" cy="3840480"/>
          </a:xfrm>
          <a:prstGeom prst="roundRect">
            <a:avLst>
              <a:gd name="adj" fmla="val 2025"/>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11" name="Text 9"/>
          <p:cNvSpPr/>
          <p:nvPr/>
        </p:nvSpPr>
        <p:spPr>
          <a:xfrm>
            <a:off x="4572000" y="2468880"/>
            <a:ext cx="3200400" cy="640080"/>
          </a:xfrm>
          <a:prstGeom prst="rect">
            <a:avLst/>
          </a:prstGeom>
          <a:noFill/>
          <a:ln/>
        </p:spPr>
        <p:txBody>
          <a:bodyPr wrap="square" lIns="91440" tIns="45720" rIns="91440" bIns="45720" rtlCol="0" anchor="ctr"/>
          <a:lstStyle/>
          <a:p>
            <a:pPr marL="0" indent="0">
              <a:buNone/>
            </a:pPr>
            <a:r>
              <a:rPr lang="en-US" sz="2400" b="1">
                <a:solidFill>
                  <a:schemeClr val="accent2"/>
                </a:solidFill>
                <a:latin typeface="Calibri"/>
                <a:ea typeface="Calibri"/>
                <a:cs typeface="Calibri"/>
              </a:rPr>
              <a:t>Currency &amp; Inflation Hedging</a:t>
            </a:r>
          </a:p>
        </p:txBody>
      </p:sp>
      <p:sp>
        <p:nvSpPr>
          <p:cNvPr id="12" name="Text 10"/>
          <p:cNvSpPr/>
          <p:nvPr/>
        </p:nvSpPr>
        <p:spPr>
          <a:xfrm>
            <a:off x="4572000" y="3108960"/>
            <a:ext cx="3200400" cy="2834640"/>
          </a:xfrm>
          <a:prstGeom prst="rect">
            <a:avLst/>
          </a:prstGeom>
          <a:noFill/>
          <a:ln/>
        </p:spPr>
        <p:txBody>
          <a:bodyPr wrap="square" rtlCol="0" anchor="ctr"/>
          <a:lstStyle/>
          <a:p>
            <a:pPr marL="0" indent="0">
              <a:buNone/>
            </a:pPr>
            <a:r>
              <a:rPr lang="en-US" sz="2400">
                <a:latin typeface="Calibri" pitchFamily="34" charset="0"/>
                <a:ea typeface="Calibri" pitchFamily="34" charset="-122"/>
                <a:cs typeface="Calibri" pitchFamily="34" charset="-120"/>
              </a:rPr>
              <a:t>Gold often serves as a hedge against currency and inflation risk; monitoring its trend supports broader financial risk planning.</a:t>
            </a:r>
            <a:endParaRPr lang="en-US" sz="2400"/>
          </a:p>
        </p:txBody>
      </p:sp>
      <p:sp>
        <p:nvSpPr>
          <p:cNvPr id="13" name="Shape 11"/>
          <p:cNvSpPr/>
          <p:nvPr/>
        </p:nvSpPr>
        <p:spPr>
          <a:xfrm>
            <a:off x="8138160" y="2286000"/>
            <a:ext cx="3611880" cy="3840480"/>
          </a:xfrm>
          <a:prstGeom prst="roundRect">
            <a:avLst>
              <a:gd name="adj" fmla="val 2025"/>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14" name="Text 12"/>
          <p:cNvSpPr/>
          <p:nvPr/>
        </p:nvSpPr>
        <p:spPr>
          <a:xfrm>
            <a:off x="8366760" y="2468880"/>
            <a:ext cx="3200400" cy="640080"/>
          </a:xfrm>
          <a:prstGeom prst="rect">
            <a:avLst/>
          </a:prstGeom>
          <a:noFill/>
          <a:ln/>
        </p:spPr>
        <p:txBody>
          <a:bodyPr wrap="square" lIns="91440" tIns="45720" rIns="91440" bIns="45720" rtlCol="0" anchor="ctr"/>
          <a:lstStyle/>
          <a:p>
            <a:pPr marL="0" indent="0">
              <a:buNone/>
            </a:pPr>
            <a:r>
              <a:rPr lang="en-US" sz="2400" b="1">
                <a:solidFill>
                  <a:schemeClr val="accent2"/>
                </a:solidFill>
                <a:latin typeface="Calibri"/>
                <a:ea typeface="Calibri"/>
                <a:cs typeface="Calibri"/>
              </a:rPr>
              <a:t>Inventory &amp; Working Capital</a:t>
            </a:r>
          </a:p>
        </p:txBody>
      </p:sp>
      <p:sp>
        <p:nvSpPr>
          <p:cNvPr id="15" name="Text 13"/>
          <p:cNvSpPr/>
          <p:nvPr/>
        </p:nvSpPr>
        <p:spPr>
          <a:xfrm>
            <a:off x="8366760" y="3108960"/>
            <a:ext cx="3200400" cy="2834640"/>
          </a:xfrm>
          <a:prstGeom prst="rect">
            <a:avLst/>
          </a:prstGeom>
          <a:noFill/>
          <a:ln/>
        </p:spPr>
        <p:txBody>
          <a:bodyPr wrap="square" rtlCol="0" anchor="ctr"/>
          <a:lstStyle/>
          <a:p>
            <a:pPr marL="0" indent="0">
              <a:buNone/>
            </a:pPr>
            <a:r>
              <a:rPr lang="en-US" sz="2400">
                <a:latin typeface="Calibri" pitchFamily="34" charset="0"/>
                <a:ea typeface="Calibri" pitchFamily="34" charset="-122"/>
                <a:cs typeface="Calibri" pitchFamily="34" charset="-120"/>
              </a:rPr>
              <a:t>A rising price trend can support buying ahead of need; a falling trend favors just-in-time purchasing of gold-containing components.</a:t>
            </a:r>
            <a:endParaRPr lang="en-US" sz="2400"/>
          </a:p>
        </p:txBody>
      </p:sp>
      <p:pic>
        <p:nvPicPr>
          <p:cNvPr id="17" name="Picture 16">
            <a:extLst>
              <a:ext uri="{FF2B5EF4-FFF2-40B4-BE49-F238E27FC236}">
                <a16:creationId xmlns:a16="http://schemas.microsoft.com/office/drawing/2014/main" id="{B463C5E2-4EBE-E801-06C4-2BAB4538BF1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3" name="Text 1"/>
          <p:cNvSpPr/>
          <p:nvPr/>
        </p:nvSpPr>
        <p:spPr>
          <a:xfrm>
            <a:off x="11338560" y="6510528"/>
            <a:ext cx="457200" cy="274320"/>
          </a:xfrm>
          <a:prstGeom prst="rect">
            <a:avLst/>
          </a:prstGeom>
          <a:noFill/>
          <a:ln/>
        </p:spPr>
        <p:txBody>
          <a:bodyPr wrap="square" rtlCol="0" anchor="ctr"/>
          <a:lstStyle/>
          <a:p>
            <a:pPr marL="0" indent="0" algn="r">
              <a:buNone/>
            </a:pPr>
            <a:r>
              <a:rPr lang="en-US" sz="900">
                <a:solidFill>
                  <a:srgbClr val="8A929C"/>
                </a:solidFill>
                <a:latin typeface="Calibri" pitchFamily="34" charset="0"/>
                <a:ea typeface="Calibri" pitchFamily="34" charset="-122"/>
                <a:cs typeface="Calibri" pitchFamily="34" charset="-120"/>
              </a:rPr>
              <a:t>12</a:t>
            </a:r>
            <a:endParaRPr lang="en-US" sz="900"/>
          </a:p>
        </p:txBody>
      </p:sp>
      <p:sp>
        <p:nvSpPr>
          <p:cNvPr id="4" name="Text 2"/>
          <p:cNvSpPr/>
          <p:nvPr/>
        </p:nvSpPr>
        <p:spPr>
          <a:xfrm>
            <a:off x="548640" y="411480"/>
            <a:ext cx="10058400" cy="320040"/>
          </a:xfrm>
          <a:prstGeom prst="rect">
            <a:avLst/>
          </a:prstGeom>
          <a:noFill/>
          <a:ln/>
        </p:spPr>
        <p:txBody>
          <a:bodyPr wrap="square" rtlCol="0" anchor="ctr"/>
          <a:lstStyle/>
          <a:p>
            <a:pPr marL="0" indent="0">
              <a:buNone/>
            </a:pPr>
            <a:r>
              <a:rPr lang="en-US" sz="3600" b="1" kern="0" spc="200" dirty="0">
                <a:solidFill>
                  <a:schemeClr val="accent2"/>
                </a:solidFill>
                <a:latin typeface="Calibri" pitchFamily="34" charset="0"/>
                <a:ea typeface="Calibri" pitchFamily="34" charset="-122"/>
                <a:cs typeface="Calibri" pitchFamily="34" charset="-120"/>
              </a:rPr>
              <a:t>FROM INSIGHT TO ACTION</a:t>
            </a:r>
            <a:endParaRPr lang="en-US" sz="3600" dirty="0">
              <a:solidFill>
                <a:schemeClr val="accent2"/>
              </a:solidFill>
            </a:endParaRPr>
          </a:p>
        </p:txBody>
      </p:sp>
      <p:sp>
        <p:nvSpPr>
          <p:cNvPr id="5" name="Text 3"/>
          <p:cNvSpPr/>
          <p:nvPr/>
        </p:nvSpPr>
        <p:spPr>
          <a:xfrm>
            <a:off x="548640" y="862148"/>
            <a:ext cx="10789920" cy="822960"/>
          </a:xfrm>
          <a:prstGeom prst="rect">
            <a:avLst/>
          </a:prstGeom>
          <a:noFill/>
          <a:ln/>
        </p:spPr>
        <p:txBody>
          <a:bodyPr wrap="square" rtlCol="0" anchor="ctr"/>
          <a:lstStyle/>
          <a:p>
            <a:pPr marL="0" indent="0">
              <a:buNone/>
            </a:pPr>
            <a:r>
              <a:rPr lang="en-US" sz="2800" b="1" dirty="0">
                <a:latin typeface="Georgia" pitchFamily="34" charset="0"/>
                <a:ea typeface="Georgia" pitchFamily="34" charset="-122"/>
                <a:cs typeface="Georgia" pitchFamily="34" charset="-120"/>
              </a:rPr>
              <a:t>Recommendations</a:t>
            </a:r>
            <a:endParaRPr lang="en-US" sz="2800" dirty="0"/>
          </a:p>
        </p:txBody>
      </p:sp>
      <p:sp>
        <p:nvSpPr>
          <p:cNvPr id="6" name="Shape 4"/>
          <p:cNvSpPr/>
          <p:nvPr/>
        </p:nvSpPr>
        <p:spPr>
          <a:xfrm>
            <a:off x="548640" y="1783080"/>
            <a:ext cx="11064240" cy="960120"/>
          </a:xfrm>
          <a:prstGeom prst="roundRect">
            <a:avLst>
              <a:gd name="adj" fmla="val 7619"/>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8" name="Text 6"/>
          <p:cNvSpPr/>
          <p:nvPr/>
        </p:nvSpPr>
        <p:spPr>
          <a:xfrm>
            <a:off x="756194" y="1936351"/>
            <a:ext cx="6768011" cy="329475"/>
          </a:xfrm>
          <a:prstGeom prst="rect">
            <a:avLst/>
          </a:prstGeom>
          <a:noFill/>
          <a:ln/>
        </p:spPr>
        <p:txBody>
          <a:bodyPr wrap="square" rtlCol="0" anchor="ctr"/>
          <a:lstStyle/>
          <a:p>
            <a:pPr marL="0" indent="0">
              <a:buNone/>
            </a:pPr>
            <a:r>
              <a:rPr lang="en-US" sz="2000" b="1">
                <a:latin typeface="Calibri" pitchFamily="34" charset="0"/>
                <a:ea typeface="Calibri" pitchFamily="34" charset="-122"/>
                <a:cs typeface="Calibri" pitchFamily="34" charset="-120"/>
              </a:rPr>
              <a:t>Use the Forecast for Planning, Not Certainty</a:t>
            </a:r>
            <a:endParaRPr lang="en-US" sz="2000"/>
          </a:p>
        </p:txBody>
      </p:sp>
      <p:sp>
        <p:nvSpPr>
          <p:cNvPr id="9" name="Text 7"/>
          <p:cNvSpPr/>
          <p:nvPr/>
        </p:nvSpPr>
        <p:spPr>
          <a:xfrm>
            <a:off x="756194" y="2262051"/>
            <a:ext cx="11155680" cy="464457"/>
          </a:xfrm>
          <a:prstGeom prst="rect">
            <a:avLst/>
          </a:prstGeom>
          <a:noFill/>
          <a:ln/>
        </p:spPr>
        <p:txBody>
          <a:bodyPr wrap="square" rtlCol="0" anchor="ctr"/>
          <a:lstStyle/>
          <a:p>
            <a:pPr marL="0" indent="0">
              <a:buNone/>
            </a:pPr>
            <a:r>
              <a:rPr lang="en-US" sz="2000">
                <a:latin typeface="Calibri" pitchFamily="34" charset="0"/>
                <a:ea typeface="Calibri" pitchFamily="34" charset="-122"/>
                <a:cs typeface="Calibri" pitchFamily="34" charset="-120"/>
              </a:rPr>
              <a:t>Treat the 90-day forecast as a directional signal for timing decisions — not a guaranteed price.</a:t>
            </a:r>
            <a:endParaRPr lang="en-US" sz="2000"/>
          </a:p>
        </p:txBody>
      </p:sp>
      <p:sp>
        <p:nvSpPr>
          <p:cNvPr id="10" name="Shape 8"/>
          <p:cNvSpPr/>
          <p:nvPr/>
        </p:nvSpPr>
        <p:spPr>
          <a:xfrm>
            <a:off x="548640" y="2880360"/>
            <a:ext cx="11064240" cy="960120"/>
          </a:xfrm>
          <a:prstGeom prst="roundRect">
            <a:avLst>
              <a:gd name="adj" fmla="val 7619"/>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12" name="Text 10"/>
          <p:cNvSpPr/>
          <p:nvPr/>
        </p:nvSpPr>
        <p:spPr>
          <a:xfrm>
            <a:off x="756194" y="3062659"/>
            <a:ext cx="4206240" cy="365760"/>
          </a:xfrm>
          <a:prstGeom prst="rect">
            <a:avLst/>
          </a:prstGeom>
          <a:noFill/>
          <a:ln/>
        </p:spPr>
        <p:txBody>
          <a:bodyPr wrap="square" rtlCol="0" anchor="ctr"/>
          <a:lstStyle/>
          <a:p>
            <a:pPr marL="0" indent="0">
              <a:buNone/>
            </a:pPr>
            <a:r>
              <a:rPr lang="en-US" sz="2000" b="1">
                <a:latin typeface="Calibri" pitchFamily="34" charset="0"/>
                <a:ea typeface="Calibri" pitchFamily="34" charset="-122"/>
                <a:cs typeface="Calibri" pitchFamily="34" charset="-120"/>
              </a:rPr>
              <a:t>Re-run the Forecast Regularly</a:t>
            </a:r>
            <a:endParaRPr lang="en-US" sz="2000"/>
          </a:p>
        </p:txBody>
      </p:sp>
      <p:sp>
        <p:nvSpPr>
          <p:cNvPr id="13" name="Text 11"/>
          <p:cNvSpPr/>
          <p:nvPr/>
        </p:nvSpPr>
        <p:spPr>
          <a:xfrm>
            <a:off x="770709" y="3373845"/>
            <a:ext cx="9784080" cy="457200"/>
          </a:xfrm>
          <a:prstGeom prst="rect">
            <a:avLst/>
          </a:prstGeom>
          <a:noFill/>
          <a:ln/>
        </p:spPr>
        <p:txBody>
          <a:bodyPr wrap="square" rtlCol="0" anchor="ctr"/>
          <a:lstStyle/>
          <a:p>
            <a:pPr marL="0" indent="0">
              <a:buNone/>
            </a:pPr>
            <a:r>
              <a:rPr lang="en-US">
                <a:latin typeface="Calibri" pitchFamily="34" charset="0"/>
                <a:ea typeface="Calibri" pitchFamily="34" charset="-122"/>
                <a:cs typeface="Calibri" pitchFamily="34" charset="-120"/>
              </a:rPr>
              <a:t>Refresh the Power BI forecast as new daily prices come in, so it stays anchored to recent trends.</a:t>
            </a:r>
            <a:endParaRPr lang="en-US"/>
          </a:p>
        </p:txBody>
      </p:sp>
      <p:sp>
        <p:nvSpPr>
          <p:cNvPr id="14" name="Shape 12"/>
          <p:cNvSpPr/>
          <p:nvPr/>
        </p:nvSpPr>
        <p:spPr>
          <a:xfrm>
            <a:off x="548640" y="3977640"/>
            <a:ext cx="11064240" cy="960120"/>
          </a:xfrm>
          <a:prstGeom prst="roundRect">
            <a:avLst>
              <a:gd name="adj" fmla="val 7619"/>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16" name="Text 14"/>
          <p:cNvSpPr/>
          <p:nvPr/>
        </p:nvSpPr>
        <p:spPr>
          <a:xfrm>
            <a:off x="756194" y="4101882"/>
            <a:ext cx="6514011" cy="351246"/>
          </a:xfrm>
          <a:prstGeom prst="rect">
            <a:avLst/>
          </a:prstGeom>
          <a:noFill/>
          <a:ln/>
        </p:spPr>
        <p:txBody>
          <a:bodyPr wrap="square" rtlCol="0" anchor="ctr"/>
          <a:lstStyle/>
          <a:p>
            <a:pPr marL="0" indent="0">
              <a:buNone/>
            </a:pPr>
            <a:r>
              <a:rPr lang="en-US" sz="2400" b="1">
                <a:latin typeface="Calibri" pitchFamily="34" charset="0"/>
                <a:ea typeface="Calibri" pitchFamily="34" charset="-122"/>
                <a:cs typeface="Calibri" pitchFamily="34" charset="-120"/>
              </a:rPr>
              <a:t>Track Forecast Accuracy Over Time</a:t>
            </a:r>
            <a:endParaRPr lang="en-US" sz="2400"/>
          </a:p>
        </p:txBody>
      </p:sp>
      <p:sp>
        <p:nvSpPr>
          <p:cNvPr id="17" name="Text 15"/>
          <p:cNvSpPr/>
          <p:nvPr/>
        </p:nvSpPr>
        <p:spPr>
          <a:xfrm>
            <a:off x="756194" y="4478383"/>
            <a:ext cx="9784080" cy="457200"/>
          </a:xfrm>
          <a:prstGeom prst="rect">
            <a:avLst/>
          </a:prstGeom>
          <a:noFill/>
          <a:ln/>
        </p:spPr>
        <p:txBody>
          <a:bodyPr wrap="square" lIns="91440" tIns="45720" rIns="91440" bIns="45720" rtlCol="0" anchor="ctr"/>
          <a:lstStyle/>
          <a:p>
            <a:pPr marL="0" indent="0">
              <a:buNone/>
            </a:pPr>
            <a:r>
              <a:rPr lang="en-US">
                <a:latin typeface="Calibri"/>
                <a:ea typeface="Calibri"/>
                <a:cs typeface="Calibri"/>
              </a:rPr>
              <a:t>Compare each forecast against what happens, to build confidence in how reliable it is.</a:t>
            </a:r>
          </a:p>
        </p:txBody>
      </p:sp>
      <p:sp>
        <p:nvSpPr>
          <p:cNvPr id="18" name="Shape 16"/>
          <p:cNvSpPr/>
          <p:nvPr/>
        </p:nvSpPr>
        <p:spPr>
          <a:xfrm>
            <a:off x="548640" y="5074920"/>
            <a:ext cx="11187611" cy="1264920"/>
          </a:xfrm>
          <a:prstGeom prst="roundRect">
            <a:avLst>
              <a:gd name="adj" fmla="val 7619"/>
            </a:avLst>
          </a:prstGeom>
          <a:solidFill>
            <a:schemeClr val="bg1">
              <a:lumMod val="95000"/>
            </a:schemeClr>
          </a:solidFill>
          <a:ln w="12700">
            <a:solidFill>
              <a:srgbClr val="2A323C"/>
            </a:solidFill>
            <a:prstDash val="solid"/>
          </a:ln>
          <a:effectLst>
            <a:outerShdw blurRad="101600" dist="38100" dir="5400000" algn="bl" rotWithShape="0">
              <a:srgbClr val="000000">
                <a:alpha val="35000"/>
              </a:srgbClr>
            </a:outerShdw>
          </a:effectLst>
        </p:spPr>
      </p:sp>
      <p:sp>
        <p:nvSpPr>
          <p:cNvPr id="20" name="Text 18"/>
          <p:cNvSpPr/>
          <p:nvPr/>
        </p:nvSpPr>
        <p:spPr>
          <a:xfrm>
            <a:off x="756193" y="5184648"/>
            <a:ext cx="8383230" cy="365760"/>
          </a:xfrm>
          <a:prstGeom prst="rect">
            <a:avLst/>
          </a:prstGeom>
          <a:noFill/>
          <a:ln/>
        </p:spPr>
        <p:txBody>
          <a:bodyPr wrap="square" rtlCol="0" anchor="ctr"/>
          <a:lstStyle/>
          <a:p>
            <a:pPr marL="0" indent="0">
              <a:buNone/>
            </a:pPr>
            <a:r>
              <a:rPr lang="en-US" sz="2400" b="1">
                <a:latin typeface="Calibri" pitchFamily="34" charset="0"/>
                <a:ea typeface="Calibri" pitchFamily="34" charset="-122"/>
                <a:cs typeface="Calibri" pitchFamily="34" charset="-120"/>
              </a:rPr>
              <a:t>Keep Meridian and Power BI Connected in Spirit</a:t>
            </a:r>
            <a:endParaRPr lang="en-US" sz="2400"/>
          </a:p>
        </p:txBody>
      </p:sp>
      <p:sp>
        <p:nvSpPr>
          <p:cNvPr id="21" name="Text 19"/>
          <p:cNvSpPr/>
          <p:nvPr/>
        </p:nvSpPr>
        <p:spPr>
          <a:xfrm>
            <a:off x="756194" y="5553891"/>
            <a:ext cx="10669450" cy="761999"/>
          </a:xfrm>
          <a:prstGeom prst="rect">
            <a:avLst/>
          </a:prstGeom>
          <a:noFill/>
          <a:ln/>
        </p:spPr>
        <p:txBody>
          <a:bodyPr wrap="square" rtlCol="0" anchor="ctr"/>
          <a:lstStyle/>
          <a:p>
            <a:pPr marL="0" indent="0">
              <a:buNone/>
            </a:pPr>
            <a:r>
              <a:rPr lang="en-US" sz="2000">
                <a:latin typeface="Calibri" pitchFamily="34" charset="0"/>
                <a:ea typeface="Calibri" pitchFamily="34" charset="-122"/>
                <a:cs typeface="Calibri" pitchFamily="34" charset="-120"/>
              </a:rPr>
              <a:t>Use Meridian for live monitoring and Power BI for trend analysis and forecasting — two complementary views of the same asset.</a:t>
            </a:r>
            <a:endParaRPr lang="en-US" sz="2000"/>
          </a:p>
        </p:txBody>
      </p:sp>
      <p:pic>
        <p:nvPicPr>
          <p:cNvPr id="26" name="Picture 25">
            <a:extLst>
              <a:ext uri="{FF2B5EF4-FFF2-40B4-BE49-F238E27FC236}">
                <a16:creationId xmlns:a16="http://schemas.microsoft.com/office/drawing/2014/main" id="{819FF375-165C-CD9E-8066-D62794209D8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730069" y="948509"/>
            <a:ext cx="10058400" cy="320040"/>
          </a:xfrm>
          <a:prstGeom prst="rect">
            <a:avLst/>
          </a:prstGeom>
          <a:noFill/>
          <a:ln/>
        </p:spPr>
        <p:txBody>
          <a:bodyPr wrap="square" rtlCol="0" anchor="ctr"/>
          <a:lstStyle/>
          <a:p>
            <a:pPr marL="0" indent="0">
              <a:buNone/>
            </a:pPr>
            <a:r>
              <a:rPr lang="en-US" sz="3600" b="1" kern="0" spc="200" dirty="0">
                <a:solidFill>
                  <a:schemeClr val="accent2"/>
                </a:solidFill>
                <a:latin typeface="Calibri" pitchFamily="34" charset="0"/>
                <a:ea typeface="Calibri" pitchFamily="34" charset="-122"/>
                <a:cs typeface="Calibri" pitchFamily="34" charset="-120"/>
              </a:rPr>
              <a:t>CONCLUSION</a:t>
            </a:r>
            <a:endParaRPr lang="en-US" sz="3600" dirty="0">
              <a:solidFill>
                <a:schemeClr val="accent2"/>
              </a:solidFill>
            </a:endParaRPr>
          </a:p>
        </p:txBody>
      </p:sp>
      <p:sp>
        <p:nvSpPr>
          <p:cNvPr id="3" name="Text 1"/>
          <p:cNvSpPr/>
          <p:nvPr/>
        </p:nvSpPr>
        <p:spPr>
          <a:xfrm>
            <a:off x="548640" y="731520"/>
            <a:ext cx="10789920" cy="822960"/>
          </a:xfrm>
          <a:prstGeom prst="rect">
            <a:avLst/>
          </a:prstGeom>
          <a:noFill/>
          <a:ln/>
        </p:spPr>
        <p:txBody>
          <a:bodyPr wrap="square" rtlCol="0" anchor="ctr"/>
          <a:lstStyle/>
          <a:p>
            <a:pPr marL="0" indent="0">
              <a:buNone/>
            </a:pPr>
            <a:endParaRPr lang="en-US" sz="3200" dirty="0"/>
          </a:p>
        </p:txBody>
      </p:sp>
      <p:sp>
        <p:nvSpPr>
          <p:cNvPr id="5" name="Text 3"/>
          <p:cNvSpPr/>
          <p:nvPr/>
        </p:nvSpPr>
        <p:spPr>
          <a:xfrm>
            <a:off x="731520" y="1675737"/>
            <a:ext cx="10424160" cy="2651760"/>
          </a:xfrm>
          <a:prstGeom prst="rect">
            <a:avLst/>
          </a:prstGeom>
          <a:noFill/>
          <a:ln/>
        </p:spPr>
        <p:txBody>
          <a:bodyPr wrap="square" lIns="91440" tIns="45720" rIns="91440" bIns="45720" rtlCol="0" anchor="t"/>
          <a:lstStyle/>
          <a:p>
            <a:pPr marL="342900" indent="-342900">
              <a:spcAft>
                <a:spcPts val="1600"/>
              </a:spcAft>
              <a:buSzPct val="100000"/>
              <a:buChar char="•"/>
            </a:pPr>
            <a:r>
              <a:rPr lang="en-US" sz="3200" dirty="0">
                <a:latin typeface="Calibri" pitchFamily="34" charset="0"/>
                <a:ea typeface="Calibri" pitchFamily="34" charset="-122"/>
                <a:cs typeface="Calibri" pitchFamily="34" charset="-120"/>
              </a:rPr>
              <a:t>We built a real, working view of Gold's price and volume history (2017–2026) in Power BI, sourced from Investing.com.</a:t>
            </a:r>
            <a:endParaRPr lang="en-US" sz="3200" dirty="0"/>
          </a:p>
          <a:p>
            <a:pPr marL="342900" indent="-342900">
              <a:spcAft>
                <a:spcPts val="1600"/>
              </a:spcAft>
              <a:buSzPct val="100000"/>
              <a:buChar char="•"/>
            </a:pPr>
            <a:r>
              <a:rPr lang="en-US" sz="3200" dirty="0">
                <a:latin typeface="Calibri" pitchFamily="34" charset="0"/>
                <a:ea typeface="Calibri" pitchFamily="34" charset="-122"/>
                <a:cs typeface="Calibri" pitchFamily="34" charset="-120"/>
              </a:rPr>
              <a:t>Using Power BI's built-in forecasting, we projected the price trend 90 days forward from 21 July 2026.</a:t>
            </a:r>
            <a:endParaRPr lang="en-US" sz="3200" dirty="0"/>
          </a:p>
          <a:p>
            <a:pPr marL="342900" indent="-342900">
              <a:spcAft>
                <a:spcPts val="1600"/>
              </a:spcAft>
              <a:buSzPct val="100000"/>
              <a:buChar char="•"/>
            </a:pPr>
            <a:r>
              <a:rPr lang="en-US" sz="3200" dirty="0">
                <a:latin typeface="Calibri"/>
                <a:ea typeface="Calibri"/>
                <a:cs typeface="Calibri"/>
              </a:rPr>
              <a:t>Meridian gives us a live, complementary monitoring layer built on </a:t>
            </a:r>
            <a:r>
              <a:rPr lang="en-US" sz="3200" dirty="0" err="1">
                <a:latin typeface="Calibri"/>
                <a:ea typeface="Calibri"/>
                <a:cs typeface="Calibri"/>
              </a:rPr>
              <a:t>TradingView's</a:t>
            </a:r>
            <a:r>
              <a:rPr lang="en-US" sz="3200" dirty="0">
                <a:latin typeface="Calibri"/>
                <a:ea typeface="Calibri"/>
                <a:cs typeface="Calibri"/>
              </a:rPr>
              <a:t> own widgets.</a:t>
            </a:r>
          </a:p>
        </p:txBody>
      </p:sp>
      <p:pic>
        <p:nvPicPr>
          <p:cNvPr id="8" name="Picture 7">
            <a:extLst>
              <a:ext uri="{FF2B5EF4-FFF2-40B4-BE49-F238E27FC236}">
                <a16:creationId xmlns:a16="http://schemas.microsoft.com/office/drawing/2014/main" id="{E863161F-EF40-EBC2-871D-395FE351600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Lst>
          </a:blip>
          <a:srcRect l="6610" t="13800" b="12500"/>
          <a:stretch>
            <a:fillRect/>
          </a:stretch>
        </p:blipFill>
        <p:spPr>
          <a:xfrm>
            <a:off x="10617518" y="73152"/>
            <a:ext cx="1574482" cy="879017"/>
          </a:xfrm>
          <a:prstGeom prst="rect">
            <a:avLst/>
          </a:prstGeom>
          <a:ln>
            <a:solidFill>
              <a:schemeClr val="bg1">
                <a:lumMod val="95000"/>
              </a:schemeClr>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4BD5DE-1570-29DC-4224-14D4862CD8FE}"/>
              </a:ext>
            </a:extLst>
          </p:cNvPr>
          <p:cNvSpPr txBox="1"/>
          <p:nvPr/>
        </p:nvSpPr>
        <p:spPr>
          <a:xfrm>
            <a:off x="1209422" y="1867698"/>
            <a:ext cx="36725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GOLD PRICE ANALYSIS . POWER BI</a:t>
            </a:r>
          </a:p>
        </p:txBody>
      </p:sp>
      <p:sp>
        <p:nvSpPr>
          <p:cNvPr id="3" name="TextBox 2">
            <a:extLst>
              <a:ext uri="{FF2B5EF4-FFF2-40B4-BE49-F238E27FC236}">
                <a16:creationId xmlns:a16="http://schemas.microsoft.com/office/drawing/2014/main" id="{045CD069-F09E-BF80-E169-37DED8D6BDD1}"/>
              </a:ext>
            </a:extLst>
          </p:cNvPr>
          <p:cNvSpPr txBox="1"/>
          <p:nvPr/>
        </p:nvSpPr>
        <p:spPr>
          <a:xfrm>
            <a:off x="1209422" y="2237439"/>
            <a:ext cx="8005653" cy="15773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50" b="1">
                <a:ea typeface="Calibri"/>
                <a:cs typeface="Calibri"/>
              </a:rPr>
              <a:t>Thank You</a:t>
            </a:r>
            <a:endParaRPr lang="en-US" sz="9650" b="1"/>
          </a:p>
        </p:txBody>
      </p:sp>
      <p:sp>
        <p:nvSpPr>
          <p:cNvPr id="4" name="TextBox 3">
            <a:extLst>
              <a:ext uri="{FF2B5EF4-FFF2-40B4-BE49-F238E27FC236}">
                <a16:creationId xmlns:a16="http://schemas.microsoft.com/office/drawing/2014/main" id="{457542BD-3DBE-34C2-6BD6-E7182DF8D9C3}"/>
              </a:ext>
            </a:extLst>
          </p:cNvPr>
          <p:cNvSpPr txBox="1"/>
          <p:nvPr/>
        </p:nvSpPr>
        <p:spPr>
          <a:xfrm>
            <a:off x="1209421" y="3819868"/>
            <a:ext cx="36725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Questions &amp; Feedback are Welcome</a:t>
            </a:r>
          </a:p>
        </p:txBody>
      </p:sp>
    </p:spTree>
    <p:extLst>
      <p:ext uri="{BB962C8B-B14F-4D97-AF65-F5344CB8AC3E}">
        <p14:creationId xmlns:p14="http://schemas.microsoft.com/office/powerpoint/2010/main" val="22687147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1370</Words>
  <Application>Microsoft Office PowerPoint</Application>
  <PresentationFormat>Widescreen</PresentationFormat>
  <Paragraphs>148</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mohammed shuraim</cp:lastModifiedBy>
  <cp:revision>2</cp:revision>
  <dcterms:created xsi:type="dcterms:W3CDTF">2026-07-22T23:29:53Z</dcterms:created>
  <dcterms:modified xsi:type="dcterms:W3CDTF">2026-07-23T00:30:34Z</dcterms:modified>
</cp:coreProperties>
</file>