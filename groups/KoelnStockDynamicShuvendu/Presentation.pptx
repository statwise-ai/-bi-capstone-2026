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charts/chart4.xml" ContentType="application/vnd.openxmlformats-officedocument.drawingml.chart+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Sheet2.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Sheet3.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Sheet4.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0"/>
  <c:chart>
    <c:autoTitleDeleted val="1"/>
    <c:plotArea>
      <c:layout/>
      <c:doughnutChart>
        <c:varyColors val="1"/>
        <c:ser>
          <c:idx val="0"/>
          <c:order val="0"/>
          <c:tx>
            <c:strRef>
              <c:f>Sheet1!$B$1</c:f>
              <c:strCache>
                <c:ptCount val="1"/>
                <c:pt idx="0">
                  <c:v>Risk</c:v>
                </c:pt>
              </c:strCache>
            </c:strRef>
          </c:tx>
          <c:dPt>
            <c:idx val="0"/>
            <c:spPr>
              <a:solidFill>
                <a:srgbClr val="D03B3B"/>
              </a:solidFill>
            </c:spPr>
          </c:dPt>
          <c:dPt>
            <c:idx val="1"/>
            <c:spPr>
              <a:solidFill>
                <a:srgbClr val="D98C00"/>
              </a:solidFill>
            </c:spPr>
          </c:dPt>
          <c:dPt>
            <c:idx val="2"/>
            <c:spPr>
              <a:solidFill>
                <a:srgbClr val="0CA30C"/>
              </a:solidFill>
            </c:spPr>
          </c:dPt>
          <c:cat>
            <c:strRef>
              <c:f>Sheet1!$A$2:$A$4</c:f>
              <c:strCache>
                <c:ptCount val="3"/>
                <c:pt idx="0">
                  <c:v>High Risk</c:v>
                </c:pt>
                <c:pt idx="1">
                  <c:v>Medium Risk</c:v>
                </c:pt>
                <c:pt idx="2">
                  <c:v>Low Risk</c:v>
                </c:pt>
              </c:strCache>
            </c:strRef>
          </c:cat>
          <c:val>
            <c:numRef>
              <c:f>Sheet1!$B$2:$B$4</c:f>
              <c:numCache>
                <c:formatCode>General</c:formatCode>
                <c:ptCount val="3"/>
                <c:pt idx="0">
                  <c:v>0.388</c:v>
                </c:pt>
                <c:pt idx="1">
                  <c:v>0.354</c:v>
                </c:pt>
                <c:pt idx="2">
                  <c:v>0.258</c:v>
                </c:pt>
              </c:numCache>
            </c:numRef>
          </c:val>
        </c:ser>
        <c:dLbls>
          <c:numFmt formatCode="0%" sourceLinked="0"/>
          <c:txPr>
            <a:bodyPr/>
            <a:lstStyle/>
            <a:p>
              <a:pPr>
                <a:defRPr sz="1100" b="1">
                  <a:solidFill>
                    <a:srgbClr val="FFFFFF"/>
                  </a:solidFill>
                </a:defRPr>
              </a:pPr>
            </a:p>
          </c:txPr>
          <c:showLegendKey val="0"/>
          <c:showVal val="0"/>
          <c:showCatName val="0"/>
          <c:showSerName val="0"/>
          <c:showPercent val="1"/>
          <c:showBubbleSize val="0"/>
          <c:showLeaderLines val="1"/>
        </c:dLbls>
        <c:firstSliceAng val="0"/>
        <c:holeSize val="50"/>
      </c:doughnutChart>
    </c:plotArea>
    <c:legend>
      <c:legendPos/>
      <c:layout/>
      <c:overlay val="0"/>
      <c:txPr>
        <a:bodyPr/>
        <a:lstStyle/>
        <a:p>
          <a:pPr>
            <a:defRPr sz="1050">
              <a:solidFill>
                <a:srgbClr val="37332C"/>
              </a:solidFill>
            </a:defRPr>
          </a:pPr>
        </a:p>
      </c:txPr>
    </c:legend>
    <c:plotVisOnly val="1"/>
    <c:dispBlanksAs val="gap"/>
    <c:showDLblsOverMax val="0"/>
  </c:chart>
  <c:txPr>
    <a:bodyPr/>
    <a:lstStyle/>
    <a:p>
      <a:pPr>
        <a:defRPr sz="1800"/>
      </a:pPr>
      <a:endParaRPr/>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bar"/>
        <c:grouping val="clustered"/>
        <c:ser>
          <c:idx val="0"/>
          <c:order val="0"/>
          <c:tx>
            <c:strRef>
              <c:f>Sheet1!$B$1</c:f>
              <c:strCache>
                <c:ptCount val="1"/>
                <c:pt idx="0">
                  <c:v>Avg Risk Score</c:v>
                </c:pt>
              </c:strCache>
            </c:strRef>
          </c:tx>
          <c:spPr>
            <a:solidFill>
              <a:srgbClr val="2A78D6"/>
            </a:solidFill>
          </c:spPr>
          <c:cat>
            <c:strRef>
              <c:f>Sheet1!$A$2:$A$9</c:f>
              <c:strCache>
                <c:ptCount val="8"/>
                <c:pt idx="0">
                  <c:v>Electronics</c:v>
                </c:pt>
                <c:pt idx="1">
                  <c:v>Books &amp; Media</c:v>
                </c:pt>
                <c:pt idx="2">
                  <c:v>Automotive</c:v>
                </c:pt>
                <c:pt idx="3">
                  <c:v>Health &amp; Beauty</c:v>
                </c:pt>
                <c:pt idx="4">
                  <c:v>Sports</c:v>
                </c:pt>
                <c:pt idx="5">
                  <c:v>Home &amp; Garden</c:v>
                </c:pt>
                <c:pt idx="6">
                  <c:v>Food &amp; Beverage</c:v>
                </c:pt>
                <c:pt idx="7">
                  <c:v>Apparel</c:v>
                </c:pt>
              </c:strCache>
            </c:strRef>
          </c:cat>
          <c:val>
            <c:numRef>
              <c:f>Sheet1!$B$2:$B$9</c:f>
              <c:numCache>
                <c:formatCode>General</c:formatCode>
                <c:ptCount val="8"/>
                <c:pt idx="0">
                  <c:v>51.9</c:v>
                </c:pt>
                <c:pt idx="1">
                  <c:v>51.4</c:v>
                </c:pt>
                <c:pt idx="2">
                  <c:v>50.5</c:v>
                </c:pt>
                <c:pt idx="3">
                  <c:v>50.3</c:v>
                </c:pt>
                <c:pt idx="4">
                  <c:v>49.4</c:v>
                </c:pt>
                <c:pt idx="5">
                  <c:v>48.3</c:v>
                </c:pt>
                <c:pt idx="6">
                  <c:v>48.0</c:v>
                </c:pt>
                <c:pt idx="7">
                  <c:v>43.9</c:v>
                </c:pt>
              </c:numCache>
            </c:numRef>
          </c:val>
        </c:ser>
        <c:dLbls>
          <c:numFmt formatCode="0.0" sourceLinked="0"/>
          <c:txPr>
            <a:bodyPr/>
            <a:lstStyle/>
            <a:p>
              <a:pPr>
                <a:defRPr sz="900">
                  <a:solidFill>
                    <a:srgbClr val="6B6459"/>
                  </a:solidFill>
                </a:defRPr>
              </a:pPr>
            </a:p>
          </c:txPr>
          <c:showLegendKey val="0"/>
          <c:showVal val="1"/>
          <c:showCatName val="0"/>
          <c:showSerName val="0"/>
          <c:showPercent val="0"/>
          <c:showBubbleSize val="0"/>
          <c:showLeaderLines val="1"/>
        </c:dLbls>
        <c:axId val="-2068027336"/>
        <c:axId val="-2113994440"/>
      </c:barChart>
      <c:catAx>
        <c:axId val="-2068027336"/>
        <c:scaling>
          <c:orientation val="minMax"/>
        </c:scaling>
        <c:delete val="0"/>
        <c:axPos val="l"/>
        <c:majorTickMark val="out"/>
        <c:minorTickMark val="none"/>
        <c:tickLblPos val="nextTo"/>
        <c:spPr>
          <a:ln>
            <a:solidFill>
              <a:srgbClr val="E4DDD0"/>
            </a:solidFill>
          </a:ln>
        </c:spPr>
        <c:txPr>
          <a:bodyPr/>
          <a:lstStyle/>
          <a:p>
            <a:pPr>
              <a:defRPr sz="950">
                <a:solidFill>
                  <a:srgbClr val="37332C"/>
                </a:solidFill>
              </a:defRPr>
            </a:pPr>
          </a:p>
        </c:txPr>
        <c:crossAx val="-2113994440"/>
        <c:crosses val="autoZero"/>
        <c:auto val="1"/>
        <c:lblAlgn val="ctr"/>
        <c:lblOffset val="100"/>
        <c:noMultiLvlLbl val="0"/>
      </c:catAx>
      <c:valAx>
        <c:axId val="-2113994440"/>
        <c:scaling/>
        <c:delete val="0"/>
        <c:axPos val="b"/>
        <c:majorTickMark val="out"/>
        <c:minorTickMark val="none"/>
        <c:tickLblPos val="nextTo"/>
        <c:spPr>
          <a:ln>
            <a:solidFill>
              <a:srgbClr val="E4DDD0"/>
            </a:solidFill>
          </a:ln>
        </c:spPr>
        <c:txPr>
          <a:bodyPr/>
          <a:lstStyle/>
          <a:p>
            <a:pPr>
              <a:defRPr sz="850">
                <a:solidFill>
                  <a:srgbClr val="6B6459"/>
                </a:solidFill>
              </a:defRPr>
            </a:pPr>
          </a:p>
        </c:txPr>
        <c:crossAx val="-2068027336"/>
        <c:crosses val="autoZero"/>
      </c:valAx>
    </c:plotArea>
    <c:dispBlanksAs val="gap"/>
  </c:chart>
  <c:txPr>
    <a:bodyPr/>
    <a:lstStyle/>
    <a:p>
      <a:pPr>
        <a:defRPr sz="1800"/>
      </a:pPr>
      <a:endParaRPr lang="en-US"/>
    </a:p>
  </c:tx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0"/>
  <c:chart>
    <c:autoTitleDeleted val="1"/>
    <c:plotArea>
      <c:layout/>
      <c:doughnutChart>
        <c:varyColors val="1"/>
        <c:ser>
          <c:idx val="0"/>
          <c:order val="0"/>
          <c:tx>
            <c:strRef>
              <c:f>Sheet1!$B$1</c:f>
              <c:strCache>
                <c:ptCount val="1"/>
                <c:pt idx="0">
                  <c:v>Gauge</c:v>
                </c:pt>
              </c:strCache>
            </c:strRef>
          </c:tx>
          <c:dPt>
            <c:idx val="0"/>
            <c:spPr>
              <a:solidFill>
                <a:srgbClr val="D98C00"/>
              </a:solidFill>
            </c:spPr>
          </c:dPt>
          <c:dPt>
            <c:idx val="1"/>
            <c:spPr>
              <a:solidFill>
                <a:srgbClr val="F0EAD9"/>
              </a:solidFill>
            </c:spPr>
          </c:dPt>
          <c:cat>
            <c:strRef>
              <c:f>Sheet1!$A$2:$A$3</c:f>
              <c:strCache>
                <c:ptCount val="2"/>
                <c:pt idx="0">
                  <c:v>Filled</c:v>
                </c:pt>
                <c:pt idx="1">
                  <c:v>Remaining</c:v>
                </c:pt>
              </c:strCache>
            </c:strRef>
          </c:cat>
          <c:val>
            <c:numRef>
              <c:f>Sheet1!$B$2:$B$3</c:f>
              <c:numCache>
                <c:formatCode>General</c:formatCode>
                <c:ptCount val="2"/>
                <c:pt idx="0">
                  <c:v>85.2</c:v>
                </c:pt>
                <c:pt idx="1">
                  <c:v>14.799999999999997</c:v>
                </c:pt>
              </c:numCache>
            </c:numRef>
          </c:val>
        </c:ser>
        <c:firstSliceAng val="0"/>
        <c:holeSize val="50"/>
      </c:doughnutChart>
    </c:plotArea>
    <c:plotVisOnly val="1"/>
    <c:dispBlanksAs val="gap"/>
    <c:showDLblsOverMax val="0"/>
  </c:chart>
  <c:txPr>
    <a:bodyPr/>
    <a:lstStyle/>
    <a:p>
      <a:pPr>
        <a:defRPr sz="1800"/>
      </a:pPr>
      <a:endParaRPr/>
    </a:p>
  </c:tx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bar"/>
        <c:grouping val="clustered"/>
        <c:ser>
          <c:idx val="0"/>
          <c:order val="0"/>
          <c:tx>
            <c:strRef>
              <c:f>Sheet1!$B$1</c:f>
              <c:strCache>
                <c:ptCount val="1"/>
                <c:pt idx="0">
                  <c:v>CV Accuracy</c:v>
                </c:pt>
              </c:strCache>
            </c:strRef>
          </c:tx>
          <c:spPr>
            <a:solidFill>
              <a:srgbClr val="6B6459"/>
            </a:solidFill>
          </c:spPr>
          <c:dPt>
            <c:idx val="0"/>
            <c:spPr>
              <a:solidFill>
                <a:srgbClr val="C96A17"/>
              </a:solidFill>
            </c:spPr>
          </c:dPt>
          <c:cat>
            <c:strRef>
              <c:f>Sheet1!$A$2:$A$5</c:f>
              <c:strCache>
                <c:ptCount val="4"/>
                <c:pt idx="0">
                  <c:v>Random Forest*</c:v>
                </c:pt>
                <c:pt idx="1">
                  <c:v>Decision Tree</c:v>
                </c:pt>
                <c:pt idx="2">
                  <c:v>Logistic Regr.</c:v>
                </c:pt>
                <c:pt idx="3">
                  <c:v>XGBoost</c:v>
                </c:pt>
              </c:strCache>
            </c:strRef>
          </c:cat>
          <c:val>
            <c:numRef>
              <c:f>Sheet1!$B$2:$B$5</c:f>
              <c:numCache>
                <c:formatCode>General</c:formatCode>
                <c:ptCount val="4"/>
                <c:pt idx="0">
                  <c:v>0.766</c:v>
                </c:pt>
                <c:pt idx="1">
                  <c:v>0.791</c:v>
                </c:pt>
                <c:pt idx="2">
                  <c:v>0.794</c:v>
                </c:pt>
                <c:pt idx="3">
                  <c:v>0.803</c:v>
                </c:pt>
              </c:numCache>
            </c:numRef>
          </c:val>
        </c:ser>
        <c:dLbls>
          <c:numFmt formatCode="0.0" sourceLinked="0"/>
          <c:txPr>
            <a:bodyPr/>
            <a:lstStyle/>
            <a:p>
              <a:pPr>
                <a:defRPr sz="900">
                  <a:solidFill>
                    <a:srgbClr val="6B6459"/>
                  </a:solidFill>
                </a:defRPr>
              </a:pPr>
            </a:p>
          </c:txPr>
          <c:showLegendKey val="0"/>
          <c:showVal val="1"/>
          <c:showCatName val="0"/>
          <c:showSerName val="0"/>
          <c:showPercent val="0"/>
          <c:showBubbleSize val="0"/>
          <c:showLeaderLines val="1"/>
        </c:dLbls>
        <c:axId val="-2068027336"/>
        <c:axId val="-2113994440"/>
      </c:barChart>
      <c:catAx>
        <c:axId val="-2068027336"/>
        <c:scaling>
          <c:orientation val="minMax"/>
        </c:scaling>
        <c:delete val="0"/>
        <c:axPos val="l"/>
        <c:majorTickMark val="out"/>
        <c:minorTickMark val="none"/>
        <c:tickLblPos val="nextTo"/>
        <c:spPr>
          <a:ln>
            <a:solidFill>
              <a:srgbClr val="E4DDD0"/>
            </a:solidFill>
          </a:ln>
        </c:spPr>
        <c:txPr>
          <a:bodyPr/>
          <a:lstStyle/>
          <a:p>
            <a:pPr>
              <a:defRPr sz="950">
                <a:solidFill>
                  <a:srgbClr val="37332C"/>
                </a:solidFill>
              </a:defRPr>
            </a:pPr>
          </a:p>
        </c:txPr>
        <c:crossAx val="-2113994440"/>
        <c:crosses val="autoZero"/>
        <c:auto val="1"/>
        <c:lblAlgn val="ctr"/>
        <c:lblOffset val="100"/>
        <c:noMultiLvlLbl val="0"/>
      </c:catAx>
      <c:valAx>
        <c:axId val="-2113994440"/>
        <c:scaling/>
        <c:delete val="0"/>
        <c:axPos val="b"/>
        <c:majorTickMark val="out"/>
        <c:minorTickMark val="none"/>
        <c:tickLblPos val="nextTo"/>
        <c:spPr>
          <a:ln>
            <a:solidFill>
              <a:srgbClr val="E4DDD0"/>
            </a:solidFill>
          </a:ln>
        </c:spPr>
        <c:txPr>
          <a:bodyPr/>
          <a:lstStyle/>
          <a:p>
            <a:pPr>
              <a:defRPr sz="850">
                <a:solidFill>
                  <a:srgbClr val="6B6459"/>
                </a:solidFill>
              </a:defRPr>
            </a:pPr>
          </a:p>
        </c:txPr>
        <c:crossAx val="-2068027336"/>
        <c:crosses val="autoZero"/>
      </c:valAx>
    </c:plotArea>
    <c:dispBlanksAs val="gap"/>
  </c:chart>
  <c:txPr>
    <a:bodyPr/>
    <a:lstStyle/>
    <a:p>
      <a:pPr>
        <a:defRPr sz="1800"/>
      </a:pPr>
      <a:endParaRPr lang="en-US"/>
    </a:p>
  </c:txPr>
  <c:externalData r:id="rId1">
    <c:autoUpdate val="0"/>
  </c:externalData>
</c:chartSpace>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1.xml"/><Relationship Id="rId3" Type="http://schemas.openxmlformats.org/officeDocument/2006/relationships/chart" Target="../charts/char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4.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7F4EE"/>
        </a:solidFill>
        <a:effectLst/>
      </p:bgPr>
    </p:bg>
    <p:spTree>
      <p:nvGrpSpPr>
        <p:cNvPr id="1" name=""/>
        <p:cNvGrpSpPr/>
        <p:nvPr/>
      </p:nvGrpSpPr>
      <p:grpSpPr/>
      <p:sp>
        <p:nvSpPr>
          <p:cNvPr id="2" name="TextBox 1"/>
          <p:cNvSpPr txBox="1"/>
          <p:nvPr/>
        </p:nvSpPr>
        <p:spPr>
          <a:xfrm>
            <a:off x="548640" y="594360"/>
            <a:ext cx="7315200" cy="320040"/>
          </a:xfrm>
          <a:prstGeom prst="rect">
            <a:avLst/>
          </a:prstGeom>
          <a:noFill/>
        </p:spPr>
        <p:txBody>
          <a:bodyPr wrap="square" lIns="0" rIns="0" tIns="0" bIns="0">
            <a:spAutoFit/>
          </a:bodyPr>
          <a:lstStyle/>
          <a:p>
            <a:pPr algn="l"/>
            <a:r>
              <a:rPr sz="1200" b="1" i="0">
                <a:solidFill>
                  <a:srgbClr val="6B6459"/>
                </a:solidFill>
                <a:latin typeface="Segoe UI"/>
              </a:rPr>
              <a:t>STOCK DYNAMICS DASHBOARD  ·  PROJECT PRESENTATION</a:t>
            </a:r>
          </a:p>
        </p:txBody>
      </p:sp>
      <p:sp>
        <p:nvSpPr>
          <p:cNvPr id="3" name="TextBox 2"/>
          <p:cNvSpPr txBox="1"/>
          <p:nvPr/>
        </p:nvSpPr>
        <p:spPr>
          <a:xfrm>
            <a:off x="548640" y="1143000"/>
            <a:ext cx="10607040" cy="2377440"/>
          </a:xfrm>
          <a:prstGeom prst="rect">
            <a:avLst/>
          </a:prstGeom>
          <a:noFill/>
        </p:spPr>
        <p:txBody>
          <a:bodyPr wrap="square" lIns="0" rIns="0" tIns="0" bIns="0">
            <a:spAutoFit/>
          </a:bodyPr>
          <a:lstStyle/>
          <a:p>
            <a:pPr algn="l">
              <a:lnSpc>
                <a:spcPct val="102000"/>
              </a:lnSpc>
            </a:pPr>
            <a:r>
              <a:rPr sz="4400" b="1" i="0">
                <a:solidFill>
                  <a:srgbClr val="171512"/>
                </a:solidFill>
                <a:latin typeface="Segoe UI"/>
              </a:rPr>
              <a:t>Turning 500 SKUs of</a:t>
            </a:r>
          </a:p>
          <a:p>
            <a:pPr algn="l">
              <a:lnSpc>
                <a:spcPct val="102000"/>
              </a:lnSpc>
            </a:pPr>
            <a:r>
              <a:rPr sz="4400" b="1" i="0">
                <a:solidFill>
                  <a:srgbClr val="171512"/>
                </a:solidFill>
                <a:latin typeface="Segoe UI"/>
              </a:rPr>
              <a:t>warehouse data into</a:t>
            </a:r>
          </a:p>
          <a:p>
            <a:pPr algn="l">
              <a:lnSpc>
                <a:spcPct val="102000"/>
              </a:lnSpc>
            </a:pPr>
            <a:r>
              <a:rPr sz="4400" b="1" i="0">
                <a:solidFill>
                  <a:srgbClr val="171512"/>
                </a:solidFill>
                <a:latin typeface="Segoe UI"/>
              </a:rPr>
              <a:t>a same-day decision.</a:t>
            </a:r>
          </a:p>
        </p:txBody>
      </p:sp>
      <p:sp>
        <p:nvSpPr>
          <p:cNvPr id="4" name="TextBox 3"/>
          <p:cNvSpPr txBox="1"/>
          <p:nvPr/>
        </p:nvSpPr>
        <p:spPr>
          <a:xfrm>
            <a:off x="548640" y="3520440"/>
            <a:ext cx="7863840" cy="1188720"/>
          </a:xfrm>
          <a:prstGeom prst="rect">
            <a:avLst/>
          </a:prstGeom>
          <a:noFill/>
        </p:spPr>
        <p:txBody>
          <a:bodyPr wrap="square" lIns="0" rIns="0" tIns="0" bIns="0">
            <a:spAutoFit/>
          </a:bodyPr>
          <a:lstStyle/>
          <a:p>
            <a:pPr algn="l">
              <a:lnSpc>
                <a:spcPct val="120000"/>
              </a:lnSpc>
            </a:pPr>
            <a:r>
              <a:rPr sz="1500" b="0" i="0">
                <a:solidFill>
                  <a:srgbClr val="37332C"/>
                </a:solidFill>
                <a:latin typeface="Segoe UI"/>
              </a:rPr>
              <a:t>A Power BI dashboard, a semantic model of 23 DAX measures, and a machine learning notebook, built on top of one distribution center's inventory data to answer a single question: which products are about to run out, and what should be done about it first.</a:t>
            </a:r>
          </a:p>
        </p:txBody>
      </p:sp>
      <p:sp>
        <p:nvSpPr>
          <p:cNvPr id="5" name="Rectangle 4"/>
          <p:cNvSpPr/>
          <p:nvPr/>
        </p:nvSpPr>
        <p:spPr>
          <a:xfrm>
            <a:off x="548640" y="4892040"/>
            <a:ext cx="1225296" cy="384048"/>
          </a:xfrm>
          <a:prstGeom prst="rect">
            <a:avLst/>
          </a:prstGeom>
          <a:solidFill>
            <a:srgbClr val="FFFDF9"/>
          </a:solidFill>
          <a:ln w="9525">
            <a:solidFill>
              <a:srgbClr val="E4DDD0"/>
            </a:solid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1100">
                <a:solidFill>
                  <a:srgbClr val="6B6459"/>
                </a:solidFill>
                <a:latin typeface="Segoe UI"/>
              </a:rPr>
              <a:t>500 SKUs</a:t>
            </a:r>
          </a:p>
        </p:txBody>
      </p:sp>
      <p:sp>
        <p:nvSpPr>
          <p:cNvPr id="6" name="Rectangle 5"/>
          <p:cNvSpPr/>
          <p:nvPr/>
        </p:nvSpPr>
        <p:spPr>
          <a:xfrm>
            <a:off x="1920240" y="4892040"/>
            <a:ext cx="1700784" cy="384048"/>
          </a:xfrm>
          <a:prstGeom prst="rect">
            <a:avLst/>
          </a:prstGeom>
          <a:solidFill>
            <a:srgbClr val="FFFDF9"/>
          </a:solidFill>
          <a:ln w="9525">
            <a:solidFill>
              <a:srgbClr val="E4DDD0"/>
            </a:solid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1100">
                <a:solidFill>
                  <a:srgbClr val="6B6459"/>
                </a:solidFill>
                <a:latin typeface="Segoe UI"/>
              </a:rPr>
              <a:t>8 categories</a:t>
            </a:r>
          </a:p>
        </p:txBody>
      </p:sp>
      <p:sp>
        <p:nvSpPr>
          <p:cNvPr id="7" name="Rectangle 6"/>
          <p:cNvSpPr/>
          <p:nvPr/>
        </p:nvSpPr>
        <p:spPr>
          <a:xfrm>
            <a:off x="3767328" y="4892040"/>
            <a:ext cx="1700784" cy="384048"/>
          </a:xfrm>
          <a:prstGeom prst="rect">
            <a:avLst/>
          </a:prstGeom>
          <a:solidFill>
            <a:srgbClr val="FFFDF9"/>
          </a:solidFill>
          <a:ln w="9525">
            <a:solidFill>
              <a:srgbClr val="E4DDD0"/>
            </a:solid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1100">
                <a:solidFill>
                  <a:srgbClr val="6B6459"/>
                </a:solidFill>
                <a:latin typeface="Segoe UI"/>
              </a:rPr>
              <a:t>50 suppliers</a:t>
            </a:r>
          </a:p>
        </p:txBody>
      </p:sp>
      <p:sp>
        <p:nvSpPr>
          <p:cNvPr id="8" name="Rectangle 7"/>
          <p:cNvSpPr/>
          <p:nvPr/>
        </p:nvSpPr>
        <p:spPr>
          <a:xfrm>
            <a:off x="5614416" y="4892040"/>
            <a:ext cx="1938528" cy="384048"/>
          </a:xfrm>
          <a:prstGeom prst="rect">
            <a:avLst/>
          </a:prstGeom>
          <a:solidFill>
            <a:srgbClr val="FFFDF9"/>
          </a:solidFill>
          <a:ln w="9525">
            <a:solidFill>
              <a:srgbClr val="E4DDD0"/>
            </a:solid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1100">
                <a:solidFill>
                  <a:srgbClr val="6B6459"/>
                </a:solidFill>
                <a:latin typeface="Segoe UI"/>
              </a:rPr>
              <a:t>4 report pages</a:t>
            </a:r>
          </a:p>
        </p:txBody>
      </p:sp>
      <p:sp>
        <p:nvSpPr>
          <p:cNvPr id="9" name="Rectangle 8"/>
          <p:cNvSpPr/>
          <p:nvPr/>
        </p:nvSpPr>
        <p:spPr>
          <a:xfrm>
            <a:off x="7699248" y="4892040"/>
            <a:ext cx="2057400" cy="384048"/>
          </a:xfrm>
          <a:prstGeom prst="rect">
            <a:avLst/>
          </a:prstGeom>
          <a:solidFill>
            <a:srgbClr val="FFFDF9"/>
          </a:solidFill>
          <a:ln w="9525">
            <a:solidFill>
              <a:srgbClr val="E4DDD0"/>
            </a:solid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1100">
                <a:solidFill>
                  <a:srgbClr val="6B6459"/>
                </a:solidFill>
                <a:latin typeface="Segoe UI"/>
              </a:rPr>
              <a:t>23 DAX measures</a:t>
            </a:r>
          </a:p>
        </p:txBody>
      </p:sp>
      <p:sp>
        <p:nvSpPr>
          <p:cNvPr id="10" name="Rectangle 9"/>
          <p:cNvSpPr/>
          <p:nvPr/>
        </p:nvSpPr>
        <p:spPr>
          <a:xfrm>
            <a:off x="548640" y="5404104"/>
            <a:ext cx="1819656" cy="384048"/>
          </a:xfrm>
          <a:prstGeom prst="rect">
            <a:avLst/>
          </a:prstGeom>
          <a:solidFill>
            <a:srgbClr val="FFFDF9"/>
          </a:solidFill>
          <a:ln w="9525">
            <a:solidFill>
              <a:srgbClr val="E4DDD0"/>
            </a:solid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1100">
                <a:solidFill>
                  <a:srgbClr val="6B6459"/>
                </a:solidFill>
                <a:latin typeface="Segoe UI"/>
              </a:rPr>
              <a:t>1 ML notebook</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7F4EE"/>
        </a:solidFill>
        <a:effectLst/>
      </p:bgPr>
    </p:bg>
    <p:spTree>
      <p:nvGrpSpPr>
        <p:cNvPr id="1" name=""/>
        <p:cNvGrpSpPr/>
        <p:nvPr/>
      </p:nvGrpSpPr>
      <p:grpSpPr/>
      <p:sp>
        <p:nvSpPr>
          <p:cNvPr id="2" name="Rectangle 1"/>
          <p:cNvSpPr/>
          <p:nvPr/>
        </p:nvSpPr>
        <p:spPr>
          <a:xfrm>
            <a:off x="548640" y="384048"/>
            <a:ext cx="384048" cy="274320"/>
          </a:xfrm>
          <a:prstGeom prst="rect">
            <a:avLst/>
          </a:prstGeom>
          <a:solidFill>
            <a:srgbClr val="C96A1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wrap="none"/>
          <a:lstStyle/>
          <a:p>
            <a:pPr algn="ctr"/>
            <a:r>
              <a:rPr sz="1200" b="1">
                <a:solidFill>
                  <a:srgbClr val="FFFFFF"/>
                </a:solidFill>
                <a:latin typeface="Segoe UI"/>
              </a:rPr>
              <a:t>01</a:t>
            </a:r>
          </a:p>
        </p:txBody>
      </p:sp>
      <p:sp>
        <p:nvSpPr>
          <p:cNvPr id="3" name="TextBox 2"/>
          <p:cNvSpPr txBox="1"/>
          <p:nvPr/>
        </p:nvSpPr>
        <p:spPr>
          <a:xfrm>
            <a:off x="1051560" y="384048"/>
            <a:ext cx="7315200" cy="292608"/>
          </a:xfrm>
          <a:prstGeom prst="rect">
            <a:avLst/>
          </a:prstGeom>
          <a:noFill/>
        </p:spPr>
        <p:txBody>
          <a:bodyPr wrap="square" anchor="ctr" lIns="0" rIns="0" tIns="0" bIns="0">
            <a:spAutoFit/>
          </a:bodyPr>
          <a:lstStyle/>
          <a:p>
            <a:pPr algn="l"/>
            <a:r>
              <a:rPr sz="1150" b="1" i="0">
                <a:solidFill>
                  <a:srgbClr val="C96A17"/>
                </a:solidFill>
                <a:latin typeface="Segoe UI"/>
              </a:rPr>
              <a:t>THE BUSINESS PROBLEM</a:t>
            </a:r>
          </a:p>
        </p:txBody>
      </p:sp>
      <p:sp>
        <p:nvSpPr>
          <p:cNvPr id="4" name="TextBox 3"/>
          <p:cNvSpPr txBox="1"/>
          <p:nvPr/>
        </p:nvSpPr>
        <p:spPr>
          <a:xfrm>
            <a:off x="548640" y="749808"/>
            <a:ext cx="10789920" cy="1005840"/>
          </a:xfrm>
          <a:prstGeom prst="rect">
            <a:avLst/>
          </a:prstGeom>
          <a:noFill/>
        </p:spPr>
        <p:txBody>
          <a:bodyPr wrap="square" lIns="0" rIns="0" tIns="0" bIns="0">
            <a:spAutoFit/>
          </a:bodyPr>
          <a:lstStyle/>
          <a:p>
            <a:pPr algn="l">
              <a:lnSpc>
                <a:spcPct val="102000"/>
              </a:lnSpc>
            </a:pPr>
            <a:r>
              <a:rPr sz="2800" b="1" i="0">
                <a:solidFill>
                  <a:srgbClr val="171512"/>
                </a:solidFill>
                <a:latin typeface="Segoe UI"/>
              </a:rPr>
              <a:t>Two opposite failures, at the same time.</a:t>
            </a:r>
          </a:p>
        </p:txBody>
      </p:sp>
      <p:sp>
        <p:nvSpPr>
          <p:cNvPr id="5" name="TextBox 4"/>
          <p:cNvSpPr txBox="1"/>
          <p:nvPr/>
        </p:nvSpPr>
        <p:spPr>
          <a:xfrm>
            <a:off x="548640" y="1600200"/>
            <a:ext cx="5212080" cy="2926080"/>
          </a:xfrm>
          <a:prstGeom prst="rect">
            <a:avLst/>
          </a:prstGeom>
          <a:noFill/>
        </p:spPr>
        <p:txBody>
          <a:bodyPr wrap="square" lIns="0" rIns="0" tIns="0" bIns="0">
            <a:spAutoFit/>
          </a:bodyPr>
          <a:lstStyle/>
          <a:p>
            <a:pPr algn="l">
              <a:lnSpc>
                <a:spcPct val="125000"/>
              </a:lnSpc>
            </a:pPr>
            <a:r>
              <a:rPr sz="1550" b="0" i="0">
                <a:solidFill>
                  <a:srgbClr val="37332C"/>
                </a:solidFill>
                <a:latin typeface="Segoe UI"/>
              </a:rPr>
              <a:t>A regional distribution center runs 500 products across 8 categories. Some run out and cost the business sales. Others sit overstocked and tie up cash and shelf space. Both are happening at once, and nobody could see, product by product, which problem they were looking at.</a:t>
            </a:r>
          </a:p>
        </p:txBody>
      </p:sp>
      <p:sp>
        <p:nvSpPr>
          <p:cNvPr id="6" name="Rectangle 5"/>
          <p:cNvSpPr/>
          <p:nvPr/>
        </p:nvSpPr>
        <p:spPr>
          <a:xfrm>
            <a:off x="6126480" y="1554480"/>
            <a:ext cx="5486400" cy="4023360"/>
          </a:xfrm>
          <a:prstGeom prst="rect">
            <a:avLst/>
          </a:prstGeom>
          <a:solidFill>
            <a:srgbClr val="FFFDF9"/>
          </a:solidFill>
          <a:ln w="9525">
            <a:solidFill>
              <a:srgbClr val="E4DDD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327648" y="1682495"/>
            <a:ext cx="5120640" cy="320040"/>
          </a:xfrm>
          <a:prstGeom prst="rect">
            <a:avLst/>
          </a:prstGeom>
          <a:noFill/>
        </p:spPr>
        <p:txBody>
          <a:bodyPr wrap="square" lIns="0" rIns="0" tIns="0" bIns="0">
            <a:spAutoFit/>
          </a:bodyPr>
          <a:lstStyle/>
          <a:p>
            <a:pPr algn="l"/>
            <a:r>
              <a:rPr sz="1300" b="1" i="0">
                <a:solidFill>
                  <a:srgbClr val="171512"/>
                </a:solidFill>
                <a:latin typeface="Segoe UI"/>
              </a:rPr>
              <a:t>What the business asked for</a:t>
            </a:r>
          </a:p>
        </p:txBody>
      </p:sp>
      <p:sp>
        <p:nvSpPr>
          <p:cNvPr id="8" name="TextBox 7"/>
          <p:cNvSpPr txBox="1"/>
          <p:nvPr/>
        </p:nvSpPr>
        <p:spPr>
          <a:xfrm>
            <a:off x="6327648" y="2148840"/>
            <a:ext cx="5084064" cy="822960"/>
          </a:xfrm>
          <a:prstGeom prst="rect">
            <a:avLst/>
          </a:prstGeom>
          <a:noFill/>
        </p:spPr>
        <p:txBody>
          <a:bodyPr wrap="square" lIns="0" rIns="0" tIns="0" bIns="0">
            <a:spAutoFit/>
          </a:bodyPr>
          <a:lstStyle/>
          <a:p>
            <a:pPr algn="l">
              <a:lnSpc>
                <a:spcPct val="120000"/>
              </a:lnSpc>
            </a:pPr>
            <a:r>
              <a:rPr sz="1300" b="0" i="0">
                <a:solidFill>
                  <a:srgbClr val="37332C"/>
                </a:solidFill>
                <a:latin typeface="Segoe UI"/>
              </a:rPr>
              <a:t>Classify every product as High, Medium, or Low risk of stocking out, then use that label to decide reorder priority, supplier renegotiation, and safety stock levels.</a:t>
            </a:r>
          </a:p>
        </p:txBody>
      </p:sp>
      <p:sp>
        <p:nvSpPr>
          <p:cNvPr id="9" name="Rectangle 8"/>
          <p:cNvSpPr/>
          <p:nvPr/>
        </p:nvSpPr>
        <p:spPr>
          <a:xfrm>
            <a:off x="6327648" y="3154680"/>
            <a:ext cx="41148" cy="1188720"/>
          </a:xfrm>
          <a:prstGeom prst="rect">
            <a:avLst/>
          </a:prstGeom>
          <a:solidFill>
            <a:srgbClr val="C96A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83680" y="3154680"/>
            <a:ext cx="4754880" cy="1005840"/>
          </a:xfrm>
          <a:prstGeom prst="rect">
            <a:avLst/>
          </a:prstGeom>
          <a:noFill/>
        </p:spPr>
        <p:txBody>
          <a:bodyPr wrap="square" lIns="0" rIns="0" tIns="0" bIns="0">
            <a:spAutoFit/>
          </a:bodyPr>
          <a:lstStyle/>
          <a:p>
            <a:pPr algn="l">
              <a:lnSpc>
                <a:spcPct val="125000"/>
              </a:lnSpc>
            </a:pPr>
            <a:r>
              <a:rPr sz="1350" b="0" i="1">
                <a:solidFill>
                  <a:srgbClr val="37332C"/>
                </a:solidFill>
                <a:latin typeface="Segoe UI"/>
              </a:rPr>
              <a:t>“Which products to reorder first, which suppliers to renegotiate with, and where to hold more safety stock.”</a:t>
            </a:r>
          </a:p>
        </p:txBody>
      </p:sp>
      <p:sp>
        <p:nvSpPr>
          <p:cNvPr id="11" name="TextBox 10"/>
          <p:cNvSpPr txBox="1"/>
          <p:nvPr/>
        </p:nvSpPr>
        <p:spPr>
          <a:xfrm>
            <a:off x="6327648" y="4389120"/>
            <a:ext cx="5084064" cy="457200"/>
          </a:xfrm>
          <a:prstGeom prst="rect">
            <a:avLst/>
          </a:prstGeom>
          <a:noFill/>
        </p:spPr>
        <p:txBody>
          <a:bodyPr wrap="square" lIns="0" rIns="0" tIns="0" bIns="0">
            <a:spAutoFit/>
          </a:bodyPr>
          <a:lstStyle/>
          <a:p>
            <a:pPr algn="l"/>
            <a:r>
              <a:rPr sz="1050" b="0" i="0">
                <a:solidFill>
                  <a:srgbClr val="6B6459"/>
                </a:solidFill>
                <a:latin typeface="Segoe UI"/>
              </a:rPr>
              <a:t>Source: the dataset's own Use_Case_Documentation sheet, business goal statement.</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7F4EE"/>
        </a:solidFill>
        <a:effectLst/>
      </p:bgPr>
    </p:bg>
    <p:spTree>
      <p:nvGrpSpPr>
        <p:cNvPr id="1" name=""/>
        <p:cNvGrpSpPr/>
        <p:nvPr/>
      </p:nvGrpSpPr>
      <p:grpSpPr/>
      <p:sp>
        <p:nvSpPr>
          <p:cNvPr id="2" name="Rectangle 1"/>
          <p:cNvSpPr/>
          <p:nvPr/>
        </p:nvSpPr>
        <p:spPr>
          <a:xfrm>
            <a:off x="548640" y="384048"/>
            <a:ext cx="384048" cy="274320"/>
          </a:xfrm>
          <a:prstGeom prst="rect">
            <a:avLst/>
          </a:prstGeom>
          <a:solidFill>
            <a:srgbClr val="C96A1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wrap="none"/>
          <a:lstStyle/>
          <a:p>
            <a:pPr algn="ctr"/>
            <a:r>
              <a:rPr sz="1200" b="1">
                <a:solidFill>
                  <a:srgbClr val="FFFFFF"/>
                </a:solidFill>
                <a:latin typeface="Segoe UI"/>
              </a:rPr>
              <a:t>02</a:t>
            </a:r>
          </a:p>
        </p:txBody>
      </p:sp>
      <p:sp>
        <p:nvSpPr>
          <p:cNvPr id="3" name="TextBox 2"/>
          <p:cNvSpPr txBox="1"/>
          <p:nvPr/>
        </p:nvSpPr>
        <p:spPr>
          <a:xfrm>
            <a:off x="1051560" y="384048"/>
            <a:ext cx="7315200" cy="292608"/>
          </a:xfrm>
          <a:prstGeom prst="rect">
            <a:avLst/>
          </a:prstGeom>
          <a:noFill/>
        </p:spPr>
        <p:txBody>
          <a:bodyPr wrap="square" anchor="ctr" lIns="0" rIns="0" tIns="0" bIns="0">
            <a:spAutoFit/>
          </a:bodyPr>
          <a:lstStyle/>
          <a:p>
            <a:pPr algn="l"/>
            <a:r>
              <a:rPr sz="1150" b="1" i="0">
                <a:solidFill>
                  <a:srgbClr val="C96A17"/>
                </a:solidFill>
                <a:latin typeface="Segoe UI"/>
              </a:rPr>
              <a:t>THE DATA</a:t>
            </a:r>
          </a:p>
        </p:txBody>
      </p:sp>
      <p:sp>
        <p:nvSpPr>
          <p:cNvPr id="4" name="TextBox 3"/>
          <p:cNvSpPr txBox="1"/>
          <p:nvPr/>
        </p:nvSpPr>
        <p:spPr>
          <a:xfrm>
            <a:off x="548640" y="749808"/>
            <a:ext cx="10789920" cy="1005840"/>
          </a:xfrm>
          <a:prstGeom prst="rect">
            <a:avLst/>
          </a:prstGeom>
          <a:noFill/>
        </p:spPr>
        <p:txBody>
          <a:bodyPr wrap="square" lIns="0" rIns="0" tIns="0" bIns="0">
            <a:spAutoFit/>
          </a:bodyPr>
          <a:lstStyle/>
          <a:p>
            <a:pPr algn="l">
              <a:lnSpc>
                <a:spcPct val="102000"/>
              </a:lnSpc>
            </a:pPr>
            <a:r>
              <a:rPr sz="2600" b="1" i="0">
                <a:solidFill>
                  <a:srgbClr val="171512"/>
                </a:solidFill>
                <a:latin typeface="Segoe UI"/>
              </a:rPr>
              <a:t>28 columns, 500 rows, six families of information.</a:t>
            </a:r>
          </a:p>
        </p:txBody>
      </p:sp>
      <p:sp>
        <p:nvSpPr>
          <p:cNvPr id="5" name="Rectangle 4"/>
          <p:cNvSpPr/>
          <p:nvPr/>
        </p:nvSpPr>
        <p:spPr>
          <a:xfrm>
            <a:off x="548640" y="1691640"/>
            <a:ext cx="5394960" cy="4114800"/>
          </a:xfrm>
          <a:prstGeom prst="rect">
            <a:avLst/>
          </a:prstGeom>
          <a:solidFill>
            <a:srgbClr val="FFFDF9"/>
          </a:solidFill>
          <a:ln w="9525">
            <a:solidFill>
              <a:srgbClr val="E4DDD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49808" y="1819656"/>
            <a:ext cx="5029200" cy="320040"/>
          </a:xfrm>
          <a:prstGeom prst="rect">
            <a:avLst/>
          </a:prstGeom>
          <a:noFill/>
        </p:spPr>
        <p:txBody>
          <a:bodyPr wrap="square" lIns="0" rIns="0" tIns="0" bIns="0">
            <a:spAutoFit/>
          </a:bodyPr>
          <a:lstStyle/>
          <a:p>
            <a:pPr algn="l"/>
            <a:r>
              <a:rPr sz="1300" b="1" i="0">
                <a:solidFill>
                  <a:srgbClr val="171512"/>
                </a:solidFill>
                <a:latin typeface="Segoe UI"/>
              </a:rPr>
              <a:t>Stock_Data (the working sheet)</a:t>
            </a:r>
          </a:p>
        </p:txBody>
      </p:sp>
      <p:sp>
        <p:nvSpPr>
          <p:cNvPr id="7" name="TextBox 6"/>
          <p:cNvSpPr txBox="1"/>
          <p:nvPr/>
        </p:nvSpPr>
        <p:spPr>
          <a:xfrm>
            <a:off x="749808" y="2377440"/>
            <a:ext cx="2377440" cy="274320"/>
          </a:xfrm>
          <a:prstGeom prst="rect">
            <a:avLst/>
          </a:prstGeom>
          <a:noFill/>
        </p:spPr>
        <p:txBody>
          <a:bodyPr wrap="square" lIns="0" rIns="0" tIns="0" bIns="0">
            <a:spAutoFit/>
          </a:bodyPr>
          <a:lstStyle/>
          <a:p>
            <a:pPr algn="l"/>
            <a:r>
              <a:rPr sz="1200" b="0" i="0">
                <a:solidFill>
                  <a:srgbClr val="37332C"/>
                </a:solidFill>
                <a:latin typeface="Segoe UI"/>
              </a:rPr>
              <a:t>Product info</a:t>
            </a:r>
          </a:p>
        </p:txBody>
      </p:sp>
      <p:sp>
        <p:nvSpPr>
          <p:cNvPr id="8" name="Rectangle 7"/>
          <p:cNvSpPr/>
          <p:nvPr/>
        </p:nvSpPr>
        <p:spPr>
          <a:xfrm>
            <a:off x="3200400" y="2404872"/>
            <a:ext cx="2011680" cy="182880"/>
          </a:xfrm>
          <a:prstGeom prst="rect">
            <a:avLst/>
          </a:prstGeom>
          <a:solidFill>
            <a:srgbClr val="F0EA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3200400" y="2404872"/>
            <a:ext cx="2011680" cy="182880"/>
          </a:xfrm>
          <a:prstGeom prst="rect">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349240" y="2377440"/>
            <a:ext cx="457200" cy="274320"/>
          </a:xfrm>
          <a:prstGeom prst="rect">
            <a:avLst/>
          </a:prstGeom>
          <a:noFill/>
        </p:spPr>
        <p:txBody>
          <a:bodyPr wrap="square" lIns="0" rIns="0" tIns="0" bIns="0">
            <a:spAutoFit/>
          </a:bodyPr>
          <a:lstStyle/>
          <a:p>
            <a:pPr algn="l"/>
            <a:r>
              <a:rPr sz="1100" b="0" i="0">
                <a:solidFill>
                  <a:srgbClr val="6B6459"/>
                </a:solidFill>
                <a:latin typeface="Segoe UI"/>
              </a:rPr>
              <a:t>5</a:t>
            </a:r>
          </a:p>
        </p:txBody>
      </p:sp>
      <p:sp>
        <p:nvSpPr>
          <p:cNvPr id="11" name="TextBox 10"/>
          <p:cNvSpPr txBox="1"/>
          <p:nvPr/>
        </p:nvSpPr>
        <p:spPr>
          <a:xfrm>
            <a:off x="749808" y="2907792"/>
            <a:ext cx="2377440" cy="274320"/>
          </a:xfrm>
          <a:prstGeom prst="rect">
            <a:avLst/>
          </a:prstGeom>
          <a:noFill/>
        </p:spPr>
        <p:txBody>
          <a:bodyPr wrap="square" lIns="0" rIns="0" tIns="0" bIns="0">
            <a:spAutoFit/>
          </a:bodyPr>
          <a:lstStyle/>
          <a:p>
            <a:pPr algn="l"/>
            <a:r>
              <a:rPr sz="1200" b="0" i="0">
                <a:solidFill>
                  <a:srgbClr val="37332C"/>
                </a:solidFill>
                <a:latin typeface="Segoe UI"/>
              </a:rPr>
              <a:t>Stock levels</a:t>
            </a:r>
          </a:p>
        </p:txBody>
      </p:sp>
      <p:sp>
        <p:nvSpPr>
          <p:cNvPr id="12" name="Rectangle 11"/>
          <p:cNvSpPr/>
          <p:nvPr/>
        </p:nvSpPr>
        <p:spPr>
          <a:xfrm>
            <a:off x="3200400" y="2935224"/>
            <a:ext cx="2011680" cy="182880"/>
          </a:xfrm>
          <a:prstGeom prst="rect">
            <a:avLst/>
          </a:prstGeom>
          <a:solidFill>
            <a:srgbClr val="F0EA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3200400" y="2935224"/>
            <a:ext cx="2011680" cy="182880"/>
          </a:xfrm>
          <a:prstGeom prst="rect">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349240" y="2907792"/>
            <a:ext cx="457200" cy="274320"/>
          </a:xfrm>
          <a:prstGeom prst="rect">
            <a:avLst/>
          </a:prstGeom>
          <a:noFill/>
        </p:spPr>
        <p:txBody>
          <a:bodyPr wrap="square" lIns="0" rIns="0" tIns="0" bIns="0">
            <a:spAutoFit/>
          </a:bodyPr>
          <a:lstStyle/>
          <a:p>
            <a:pPr algn="l"/>
            <a:r>
              <a:rPr sz="1100" b="0" i="0">
                <a:solidFill>
                  <a:srgbClr val="6B6459"/>
                </a:solidFill>
                <a:latin typeface="Segoe UI"/>
              </a:rPr>
              <a:t>5</a:t>
            </a:r>
          </a:p>
        </p:txBody>
      </p:sp>
      <p:sp>
        <p:nvSpPr>
          <p:cNvPr id="15" name="TextBox 14"/>
          <p:cNvSpPr txBox="1"/>
          <p:nvPr/>
        </p:nvSpPr>
        <p:spPr>
          <a:xfrm>
            <a:off x="749808" y="3438144"/>
            <a:ext cx="2377440" cy="274320"/>
          </a:xfrm>
          <a:prstGeom prst="rect">
            <a:avLst/>
          </a:prstGeom>
          <a:noFill/>
        </p:spPr>
        <p:txBody>
          <a:bodyPr wrap="square" lIns="0" rIns="0" tIns="0" bIns="0">
            <a:spAutoFit/>
          </a:bodyPr>
          <a:lstStyle/>
          <a:p>
            <a:pPr algn="l"/>
            <a:r>
              <a:rPr sz="1200" b="0" i="0">
                <a:solidFill>
                  <a:srgbClr val="37332C"/>
                </a:solidFill>
                <a:latin typeface="Segoe UI"/>
              </a:rPr>
              <a:t>Demand patterns</a:t>
            </a:r>
          </a:p>
        </p:txBody>
      </p:sp>
      <p:sp>
        <p:nvSpPr>
          <p:cNvPr id="16" name="Rectangle 15"/>
          <p:cNvSpPr/>
          <p:nvPr/>
        </p:nvSpPr>
        <p:spPr>
          <a:xfrm>
            <a:off x="3200400" y="3465576"/>
            <a:ext cx="2011680" cy="182880"/>
          </a:xfrm>
          <a:prstGeom prst="rect">
            <a:avLst/>
          </a:prstGeom>
          <a:solidFill>
            <a:srgbClr val="F0EA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3200400" y="3465576"/>
            <a:ext cx="2011680" cy="182880"/>
          </a:xfrm>
          <a:prstGeom prst="rect">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349240" y="3438144"/>
            <a:ext cx="457200" cy="274320"/>
          </a:xfrm>
          <a:prstGeom prst="rect">
            <a:avLst/>
          </a:prstGeom>
          <a:noFill/>
        </p:spPr>
        <p:txBody>
          <a:bodyPr wrap="square" lIns="0" rIns="0" tIns="0" bIns="0">
            <a:spAutoFit/>
          </a:bodyPr>
          <a:lstStyle/>
          <a:p>
            <a:pPr algn="l"/>
            <a:r>
              <a:rPr sz="1100" b="0" i="0">
                <a:solidFill>
                  <a:srgbClr val="6B6459"/>
                </a:solidFill>
                <a:latin typeface="Segoe UI"/>
              </a:rPr>
              <a:t>5</a:t>
            </a:r>
          </a:p>
        </p:txBody>
      </p:sp>
      <p:sp>
        <p:nvSpPr>
          <p:cNvPr id="19" name="TextBox 18"/>
          <p:cNvSpPr txBox="1"/>
          <p:nvPr/>
        </p:nvSpPr>
        <p:spPr>
          <a:xfrm>
            <a:off x="749808" y="3968496"/>
            <a:ext cx="2377440" cy="274320"/>
          </a:xfrm>
          <a:prstGeom prst="rect">
            <a:avLst/>
          </a:prstGeom>
          <a:noFill/>
        </p:spPr>
        <p:txBody>
          <a:bodyPr wrap="square" lIns="0" rIns="0" tIns="0" bIns="0">
            <a:spAutoFit/>
          </a:bodyPr>
          <a:lstStyle/>
          <a:p>
            <a:pPr algn="l"/>
            <a:r>
              <a:rPr sz="1200" b="0" i="0">
                <a:solidFill>
                  <a:srgbClr val="37332C"/>
                </a:solidFill>
                <a:latin typeface="Segoe UI"/>
              </a:rPr>
              <a:t>Historical performance</a:t>
            </a:r>
          </a:p>
        </p:txBody>
      </p:sp>
      <p:sp>
        <p:nvSpPr>
          <p:cNvPr id="20" name="Rectangle 19"/>
          <p:cNvSpPr/>
          <p:nvPr/>
        </p:nvSpPr>
        <p:spPr>
          <a:xfrm>
            <a:off x="3200400" y="3995928"/>
            <a:ext cx="2011680" cy="182880"/>
          </a:xfrm>
          <a:prstGeom prst="rect">
            <a:avLst/>
          </a:prstGeom>
          <a:solidFill>
            <a:srgbClr val="F0EA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3200400" y="3995928"/>
            <a:ext cx="2011680" cy="182880"/>
          </a:xfrm>
          <a:prstGeom prst="rect">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349240" y="3968496"/>
            <a:ext cx="457200" cy="274320"/>
          </a:xfrm>
          <a:prstGeom prst="rect">
            <a:avLst/>
          </a:prstGeom>
          <a:noFill/>
        </p:spPr>
        <p:txBody>
          <a:bodyPr wrap="square" lIns="0" rIns="0" tIns="0" bIns="0">
            <a:spAutoFit/>
          </a:bodyPr>
          <a:lstStyle/>
          <a:p>
            <a:pPr algn="l"/>
            <a:r>
              <a:rPr sz="1100" b="0" i="0">
                <a:solidFill>
                  <a:srgbClr val="6B6459"/>
                </a:solidFill>
                <a:latin typeface="Segoe UI"/>
              </a:rPr>
              <a:t>5</a:t>
            </a:r>
          </a:p>
        </p:txBody>
      </p:sp>
      <p:sp>
        <p:nvSpPr>
          <p:cNvPr id="23" name="TextBox 22"/>
          <p:cNvSpPr txBox="1"/>
          <p:nvPr/>
        </p:nvSpPr>
        <p:spPr>
          <a:xfrm>
            <a:off x="749808" y="4498848"/>
            <a:ext cx="2377440" cy="274320"/>
          </a:xfrm>
          <a:prstGeom prst="rect">
            <a:avLst/>
          </a:prstGeom>
          <a:noFill/>
        </p:spPr>
        <p:txBody>
          <a:bodyPr wrap="square" lIns="0" rIns="0" tIns="0" bIns="0">
            <a:spAutoFit/>
          </a:bodyPr>
          <a:lstStyle/>
          <a:p>
            <a:pPr algn="l"/>
            <a:r>
              <a:rPr sz="1200" b="0" i="0">
                <a:solidFill>
                  <a:srgbClr val="37332C"/>
                </a:solidFill>
                <a:latin typeface="Segoe UI"/>
              </a:rPr>
              <a:t>Operational metrics</a:t>
            </a:r>
          </a:p>
        </p:txBody>
      </p:sp>
      <p:sp>
        <p:nvSpPr>
          <p:cNvPr id="24" name="Rectangle 23"/>
          <p:cNvSpPr/>
          <p:nvPr/>
        </p:nvSpPr>
        <p:spPr>
          <a:xfrm>
            <a:off x="3200400" y="4526280"/>
            <a:ext cx="2011680" cy="182880"/>
          </a:xfrm>
          <a:prstGeom prst="rect">
            <a:avLst/>
          </a:prstGeom>
          <a:solidFill>
            <a:srgbClr val="F0EA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3200400" y="4526280"/>
            <a:ext cx="2011680" cy="182880"/>
          </a:xfrm>
          <a:prstGeom prst="rect">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5349240" y="4498848"/>
            <a:ext cx="457200" cy="274320"/>
          </a:xfrm>
          <a:prstGeom prst="rect">
            <a:avLst/>
          </a:prstGeom>
          <a:noFill/>
        </p:spPr>
        <p:txBody>
          <a:bodyPr wrap="square" lIns="0" rIns="0" tIns="0" bIns="0">
            <a:spAutoFit/>
          </a:bodyPr>
          <a:lstStyle/>
          <a:p>
            <a:pPr algn="l"/>
            <a:r>
              <a:rPr sz="1100" b="0" i="0">
                <a:solidFill>
                  <a:srgbClr val="6B6459"/>
                </a:solidFill>
                <a:latin typeface="Segoe UI"/>
              </a:rPr>
              <a:t>5</a:t>
            </a:r>
          </a:p>
        </p:txBody>
      </p:sp>
      <p:sp>
        <p:nvSpPr>
          <p:cNvPr id="27" name="TextBox 26"/>
          <p:cNvSpPr txBox="1"/>
          <p:nvPr/>
        </p:nvSpPr>
        <p:spPr>
          <a:xfrm>
            <a:off x="749808" y="5029200"/>
            <a:ext cx="2377440" cy="274320"/>
          </a:xfrm>
          <a:prstGeom prst="rect">
            <a:avLst/>
          </a:prstGeom>
          <a:noFill/>
        </p:spPr>
        <p:txBody>
          <a:bodyPr wrap="square" lIns="0" rIns="0" tIns="0" bIns="0">
            <a:spAutoFit/>
          </a:bodyPr>
          <a:lstStyle/>
          <a:p>
            <a:pPr algn="l"/>
            <a:r>
              <a:rPr sz="1200" b="0" i="0">
                <a:solidFill>
                  <a:srgbClr val="37332C"/>
                </a:solidFill>
                <a:latin typeface="Segoe UI"/>
              </a:rPr>
              <a:t>Risk indicators</a:t>
            </a:r>
          </a:p>
        </p:txBody>
      </p:sp>
      <p:sp>
        <p:nvSpPr>
          <p:cNvPr id="28" name="Rectangle 27"/>
          <p:cNvSpPr/>
          <p:nvPr/>
        </p:nvSpPr>
        <p:spPr>
          <a:xfrm>
            <a:off x="3200400" y="5056632"/>
            <a:ext cx="2011680" cy="182880"/>
          </a:xfrm>
          <a:prstGeom prst="rect">
            <a:avLst/>
          </a:prstGeom>
          <a:solidFill>
            <a:srgbClr val="F0EA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3200400" y="5056632"/>
            <a:ext cx="1207008" cy="182880"/>
          </a:xfrm>
          <a:prstGeom prst="rect">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5349240" y="5029200"/>
            <a:ext cx="457200" cy="274320"/>
          </a:xfrm>
          <a:prstGeom prst="rect">
            <a:avLst/>
          </a:prstGeom>
          <a:noFill/>
        </p:spPr>
        <p:txBody>
          <a:bodyPr wrap="square" lIns="0" rIns="0" tIns="0" bIns="0">
            <a:spAutoFit/>
          </a:bodyPr>
          <a:lstStyle/>
          <a:p>
            <a:pPr algn="l"/>
            <a:r>
              <a:rPr sz="1100" b="0" i="0">
                <a:solidFill>
                  <a:srgbClr val="6B6459"/>
                </a:solidFill>
                <a:latin typeface="Segoe UI"/>
              </a:rPr>
              <a:t>3</a:t>
            </a:r>
          </a:p>
        </p:txBody>
      </p:sp>
      <p:sp>
        <p:nvSpPr>
          <p:cNvPr id="31" name="Rectangle 30"/>
          <p:cNvSpPr/>
          <p:nvPr/>
        </p:nvSpPr>
        <p:spPr>
          <a:xfrm>
            <a:off x="6172200" y="1691640"/>
            <a:ext cx="5440680" cy="4114800"/>
          </a:xfrm>
          <a:prstGeom prst="rect">
            <a:avLst/>
          </a:prstGeom>
          <a:solidFill>
            <a:srgbClr val="FFFDF9"/>
          </a:solidFill>
          <a:ln w="9525">
            <a:solidFill>
              <a:srgbClr val="E4DDD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6373368" y="1819656"/>
            <a:ext cx="5074920" cy="320040"/>
          </a:xfrm>
          <a:prstGeom prst="rect">
            <a:avLst/>
          </a:prstGeom>
          <a:noFill/>
        </p:spPr>
        <p:txBody>
          <a:bodyPr wrap="square" lIns="0" rIns="0" tIns="0" bIns="0">
            <a:spAutoFit/>
          </a:bodyPr>
          <a:lstStyle/>
          <a:p>
            <a:pPr algn="l"/>
            <a:r>
              <a:rPr sz="1300" b="1" i="0">
                <a:solidFill>
                  <a:srgbClr val="171512"/>
                </a:solidFill>
                <a:latin typeface="Segoe UI"/>
              </a:rPr>
              <a:t>Use_Case_Documentation (the brief)</a:t>
            </a:r>
          </a:p>
        </p:txBody>
      </p:sp>
      <p:sp>
        <p:nvSpPr>
          <p:cNvPr id="33" name="TextBox 32"/>
          <p:cNvSpPr txBox="1"/>
          <p:nvPr/>
        </p:nvSpPr>
        <p:spPr>
          <a:xfrm>
            <a:off x="6373368" y="2331720"/>
            <a:ext cx="5038344" cy="1554480"/>
          </a:xfrm>
          <a:prstGeom prst="rect">
            <a:avLst/>
          </a:prstGeom>
          <a:noFill/>
        </p:spPr>
        <p:txBody>
          <a:bodyPr wrap="square" lIns="0" rIns="0" tIns="0" bIns="0">
            <a:spAutoFit/>
          </a:bodyPr>
          <a:lstStyle/>
          <a:p>
            <a:pPr algn="l">
              <a:lnSpc>
                <a:spcPct val="125000"/>
              </a:lnSpc>
            </a:pPr>
            <a:r>
              <a:rPr sz="1300" b="0" i="0">
                <a:solidFill>
                  <a:srgbClr val="37332C"/>
                </a:solidFill>
                <a:latin typeface="Segoe UI"/>
              </a:rPr>
              <a:t>A second sheet in the same workbook, written like a project brief: the business goal, the machine learning problem statement, a decision framework with concrete thresholds, and success metrics. Every measure and rule in this project traces back to a line in this sheet, not an assumption.</a:t>
            </a:r>
          </a:p>
        </p:txBody>
      </p:sp>
      <p:sp>
        <p:nvSpPr>
          <p:cNvPr id="34" name="Oval 33"/>
          <p:cNvSpPr/>
          <p:nvPr/>
        </p:nvSpPr>
        <p:spPr>
          <a:xfrm>
            <a:off x="6373368" y="4206240"/>
            <a:ext cx="128016" cy="128016"/>
          </a:xfrm>
          <a:prstGeom prst="ellipse">
            <a:avLst/>
          </a:prstGeom>
          <a:solidFill>
            <a:srgbClr val="D03B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592824" y="4160520"/>
            <a:ext cx="3200400" cy="274320"/>
          </a:xfrm>
          <a:prstGeom prst="rect">
            <a:avLst/>
          </a:prstGeom>
          <a:noFill/>
        </p:spPr>
        <p:txBody>
          <a:bodyPr wrap="square" lIns="0" rIns="0" tIns="0" bIns="0">
            <a:spAutoFit/>
          </a:bodyPr>
          <a:lstStyle/>
          <a:p>
            <a:pPr algn="l"/>
            <a:r>
              <a:rPr sz="1200" b="0" i="0">
                <a:solidFill>
                  <a:srgbClr val="37332C"/>
                </a:solidFill>
                <a:latin typeface="Segoe UI"/>
              </a:rPr>
              <a:t>194 High Risk</a:t>
            </a:r>
          </a:p>
        </p:txBody>
      </p:sp>
      <p:sp>
        <p:nvSpPr>
          <p:cNvPr id="36" name="Oval 35"/>
          <p:cNvSpPr/>
          <p:nvPr/>
        </p:nvSpPr>
        <p:spPr>
          <a:xfrm>
            <a:off x="6373368" y="4572000"/>
            <a:ext cx="128016" cy="128016"/>
          </a:xfrm>
          <a:prstGeom prst="ellipse">
            <a:avLst/>
          </a:prstGeom>
          <a:solidFill>
            <a:srgbClr val="D98C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6592824" y="4526280"/>
            <a:ext cx="3200400" cy="274320"/>
          </a:xfrm>
          <a:prstGeom prst="rect">
            <a:avLst/>
          </a:prstGeom>
          <a:noFill/>
        </p:spPr>
        <p:txBody>
          <a:bodyPr wrap="square" lIns="0" rIns="0" tIns="0" bIns="0">
            <a:spAutoFit/>
          </a:bodyPr>
          <a:lstStyle/>
          <a:p>
            <a:pPr algn="l"/>
            <a:r>
              <a:rPr sz="1200" b="0" i="0">
                <a:solidFill>
                  <a:srgbClr val="37332C"/>
                </a:solidFill>
                <a:latin typeface="Segoe UI"/>
              </a:rPr>
              <a:t>177 Medium Risk</a:t>
            </a:r>
          </a:p>
        </p:txBody>
      </p:sp>
      <p:sp>
        <p:nvSpPr>
          <p:cNvPr id="38" name="Oval 37"/>
          <p:cNvSpPr/>
          <p:nvPr/>
        </p:nvSpPr>
        <p:spPr>
          <a:xfrm>
            <a:off x="6373368" y="4937760"/>
            <a:ext cx="128016" cy="128016"/>
          </a:xfrm>
          <a:prstGeom prst="ellipse">
            <a:avLst/>
          </a:prstGeom>
          <a:solidFill>
            <a:srgbClr val="0CA3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6592824" y="4892040"/>
            <a:ext cx="3200400" cy="274320"/>
          </a:xfrm>
          <a:prstGeom prst="rect">
            <a:avLst/>
          </a:prstGeom>
          <a:noFill/>
        </p:spPr>
        <p:txBody>
          <a:bodyPr wrap="square" lIns="0" rIns="0" tIns="0" bIns="0">
            <a:spAutoFit/>
          </a:bodyPr>
          <a:lstStyle/>
          <a:p>
            <a:pPr algn="l"/>
            <a:r>
              <a:rPr sz="1200" b="0" i="0">
                <a:solidFill>
                  <a:srgbClr val="37332C"/>
                </a:solidFill>
                <a:latin typeface="Segoe UI"/>
              </a:rPr>
              <a:t>129 Low Risk</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7F4EE"/>
        </a:solidFill>
        <a:effectLst/>
      </p:bgPr>
    </p:bg>
    <p:spTree>
      <p:nvGrpSpPr>
        <p:cNvPr id="1" name=""/>
        <p:cNvGrpSpPr/>
        <p:nvPr/>
      </p:nvGrpSpPr>
      <p:grpSpPr/>
      <p:sp>
        <p:nvSpPr>
          <p:cNvPr id="2" name="Rectangle 1"/>
          <p:cNvSpPr/>
          <p:nvPr/>
        </p:nvSpPr>
        <p:spPr>
          <a:xfrm>
            <a:off x="548640" y="384048"/>
            <a:ext cx="384048" cy="274320"/>
          </a:xfrm>
          <a:prstGeom prst="rect">
            <a:avLst/>
          </a:prstGeom>
          <a:solidFill>
            <a:srgbClr val="C96A1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wrap="none"/>
          <a:lstStyle/>
          <a:p>
            <a:pPr algn="ctr"/>
            <a:r>
              <a:rPr sz="1200" b="1">
                <a:solidFill>
                  <a:srgbClr val="FFFFFF"/>
                </a:solidFill>
                <a:latin typeface="Segoe UI"/>
              </a:rPr>
              <a:t>03</a:t>
            </a:r>
          </a:p>
        </p:txBody>
      </p:sp>
      <p:sp>
        <p:nvSpPr>
          <p:cNvPr id="3" name="TextBox 2"/>
          <p:cNvSpPr txBox="1"/>
          <p:nvPr/>
        </p:nvSpPr>
        <p:spPr>
          <a:xfrm>
            <a:off x="1051560" y="384048"/>
            <a:ext cx="7315200" cy="292608"/>
          </a:xfrm>
          <a:prstGeom prst="rect">
            <a:avLst/>
          </a:prstGeom>
          <a:noFill/>
        </p:spPr>
        <p:txBody>
          <a:bodyPr wrap="square" anchor="ctr" lIns="0" rIns="0" tIns="0" bIns="0">
            <a:spAutoFit/>
          </a:bodyPr>
          <a:lstStyle/>
          <a:p>
            <a:pPr algn="l"/>
            <a:r>
              <a:rPr sz="1150" b="1" i="0">
                <a:solidFill>
                  <a:srgbClr val="C96A17"/>
                </a:solidFill>
                <a:latin typeface="Segoe UI"/>
              </a:rPr>
              <a:t>THE SEMANTIC MODEL</a:t>
            </a:r>
          </a:p>
        </p:txBody>
      </p:sp>
      <p:sp>
        <p:nvSpPr>
          <p:cNvPr id="4" name="TextBox 3"/>
          <p:cNvSpPr txBox="1"/>
          <p:nvPr/>
        </p:nvSpPr>
        <p:spPr>
          <a:xfrm>
            <a:off x="548640" y="749808"/>
            <a:ext cx="10789920" cy="1005840"/>
          </a:xfrm>
          <a:prstGeom prst="rect">
            <a:avLst/>
          </a:prstGeom>
          <a:noFill/>
        </p:spPr>
        <p:txBody>
          <a:bodyPr wrap="square" lIns="0" rIns="0" tIns="0" bIns="0">
            <a:spAutoFit/>
          </a:bodyPr>
          <a:lstStyle/>
          <a:p>
            <a:pPr algn="l">
              <a:lnSpc>
                <a:spcPct val="102000"/>
              </a:lnSpc>
            </a:pPr>
            <a:r>
              <a:rPr sz="2800" b="1" i="0">
                <a:solidFill>
                  <a:srgbClr val="171512"/>
                </a:solidFill>
                <a:latin typeface="Segoe UI"/>
              </a:rPr>
              <a:t>23 DAX measures, one calculated column.</a:t>
            </a:r>
          </a:p>
        </p:txBody>
      </p:sp>
      <p:sp>
        <p:nvSpPr>
          <p:cNvPr id="5" name="TextBox 4"/>
          <p:cNvSpPr txBox="1"/>
          <p:nvPr/>
        </p:nvSpPr>
        <p:spPr>
          <a:xfrm>
            <a:off x="548640" y="1417320"/>
            <a:ext cx="10515600" cy="548640"/>
          </a:xfrm>
          <a:prstGeom prst="rect">
            <a:avLst/>
          </a:prstGeom>
          <a:noFill/>
        </p:spPr>
        <p:txBody>
          <a:bodyPr wrap="square" lIns="0" rIns="0" tIns="0" bIns="0">
            <a:spAutoFit/>
          </a:bodyPr>
          <a:lstStyle/>
          <a:p>
            <a:pPr algn="l">
              <a:lnSpc>
                <a:spcPct val="120000"/>
              </a:lnSpc>
            </a:pPr>
            <a:r>
              <a:rPr sz="1350" b="0" i="0">
                <a:solidFill>
                  <a:srgbClr val="37332C"/>
                </a:solidFill>
                <a:latin typeface="Segoe UI"/>
              </a:rPr>
              <a:t>Power BI measures are reusable formulas: write the calculation once, and every chart, card, and slicer recalculates it instantly. Three families cover everything the dashboard shows.</a:t>
            </a:r>
          </a:p>
        </p:txBody>
      </p:sp>
      <p:sp>
        <p:nvSpPr>
          <p:cNvPr id="6" name="Rectangle 5"/>
          <p:cNvSpPr/>
          <p:nvPr/>
        </p:nvSpPr>
        <p:spPr>
          <a:xfrm>
            <a:off x="548640" y="2103120"/>
            <a:ext cx="3520440" cy="3383280"/>
          </a:xfrm>
          <a:prstGeom prst="rect">
            <a:avLst/>
          </a:prstGeom>
          <a:solidFill>
            <a:srgbClr val="FFFDF9"/>
          </a:solidFill>
          <a:ln w="9525">
            <a:solidFill>
              <a:srgbClr val="E4DDD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48640" y="2103120"/>
            <a:ext cx="41148" cy="3383280"/>
          </a:xfrm>
          <a:prstGeom prst="rect">
            <a:avLst/>
          </a:prstGeom>
          <a:solidFill>
            <a:srgbClr val="D03B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68096" y="2286000"/>
            <a:ext cx="3154680" cy="365760"/>
          </a:xfrm>
          <a:prstGeom prst="rect">
            <a:avLst/>
          </a:prstGeom>
          <a:noFill/>
        </p:spPr>
        <p:txBody>
          <a:bodyPr wrap="square" lIns="0" rIns="0" tIns="0" bIns="0">
            <a:spAutoFit/>
          </a:bodyPr>
          <a:lstStyle/>
          <a:p>
            <a:pPr algn="l"/>
            <a:r>
              <a:rPr sz="1400" b="1" i="0">
                <a:solidFill>
                  <a:srgbClr val="D03B3B"/>
                </a:solidFill>
                <a:latin typeface="Segoe UI"/>
              </a:rPr>
              <a:t>Risk &amp; Action</a:t>
            </a:r>
          </a:p>
        </p:txBody>
      </p:sp>
      <p:sp>
        <p:nvSpPr>
          <p:cNvPr id="9" name="TextBox 8"/>
          <p:cNvSpPr txBox="1"/>
          <p:nvPr/>
        </p:nvSpPr>
        <p:spPr>
          <a:xfrm>
            <a:off x="768096" y="2743200"/>
            <a:ext cx="3118104" cy="2560320"/>
          </a:xfrm>
          <a:prstGeom prst="rect">
            <a:avLst/>
          </a:prstGeom>
          <a:noFill/>
        </p:spPr>
        <p:txBody>
          <a:bodyPr wrap="square" lIns="0" rIns="0" tIns="0" bIns="0">
            <a:spAutoFit/>
          </a:bodyPr>
          <a:lstStyle/>
          <a:p>
            <a:pPr algn="l">
              <a:lnSpc>
                <a:spcPct val="120000"/>
              </a:lnSpc>
            </a:pPr>
            <a:r>
              <a:rPr sz="1150" b="0" i="0">
                <a:solidFill>
                  <a:srgbClr val="37332C"/>
                </a:solidFill>
                <a:latin typeface="Segoe UI"/>
              </a:rPr>
              <a:t>High / Medium / Low Risk SKUs – count of products in each tier.</a:t>
            </a:r>
          </a:p>
          <a:p>
            <a:pPr algn="l">
              <a:lnSpc>
                <a:spcPct val="120000"/>
              </a:lnSpc>
            </a:pPr>
            <a:r>
              <a:rPr sz="1150" b="0" i="0">
                <a:solidFill>
                  <a:srgbClr val="37332C"/>
                </a:solidFill>
                <a:latin typeface="Segoe UI"/>
              </a:rPr>
              <a:t/>
            </a:r>
          </a:p>
          <a:p>
            <a:pPr algn="l">
              <a:lnSpc>
                <a:spcPct val="120000"/>
              </a:lnSpc>
            </a:pPr>
            <a:r>
              <a:rPr sz="1150" b="0" i="0">
                <a:solidFill>
                  <a:srgbClr val="37332C"/>
                </a:solidFill>
                <a:latin typeface="Segoe UI"/>
              </a:rPr>
              <a:t>Top Priority Escalations = High Risk AND top-value (ABC “A”) products.</a:t>
            </a:r>
          </a:p>
          <a:p>
            <a:pPr algn="l">
              <a:lnSpc>
                <a:spcPct val="120000"/>
              </a:lnSpc>
            </a:pPr>
            <a:r>
              <a:rPr sz="1150" b="0" i="0">
                <a:solidFill>
                  <a:srgbClr val="37332C"/>
                </a:solidFill>
                <a:latin typeface="Segoe UI"/>
              </a:rPr>
              <a:t/>
            </a:r>
          </a:p>
          <a:p>
            <a:pPr algn="l">
              <a:lnSpc>
                <a:spcPct val="120000"/>
              </a:lnSpc>
            </a:pPr>
            <a:r>
              <a:rPr sz="1150" b="0" i="0">
                <a:solidFill>
                  <a:srgbClr val="37332C"/>
                </a:solidFill>
                <a:latin typeface="Segoe UI"/>
              </a:rPr>
              <a:t>Below Reorder Point = CALCULATE(COUNTROWS, Stock &lt; Reorder Point).</a:t>
            </a:r>
          </a:p>
        </p:txBody>
      </p:sp>
      <p:sp>
        <p:nvSpPr>
          <p:cNvPr id="10" name="Rectangle 9"/>
          <p:cNvSpPr/>
          <p:nvPr/>
        </p:nvSpPr>
        <p:spPr>
          <a:xfrm>
            <a:off x="4251959" y="2103120"/>
            <a:ext cx="3520440" cy="3383280"/>
          </a:xfrm>
          <a:prstGeom prst="rect">
            <a:avLst/>
          </a:prstGeom>
          <a:solidFill>
            <a:srgbClr val="FFFDF9"/>
          </a:solidFill>
          <a:ln w="9525">
            <a:solidFill>
              <a:srgbClr val="E4DDD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4251959" y="2103120"/>
            <a:ext cx="41148" cy="3383280"/>
          </a:xfrm>
          <a:prstGeom prst="rect">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471416" y="2286000"/>
            <a:ext cx="3154680" cy="365760"/>
          </a:xfrm>
          <a:prstGeom prst="rect">
            <a:avLst/>
          </a:prstGeom>
          <a:noFill/>
        </p:spPr>
        <p:txBody>
          <a:bodyPr wrap="square" lIns="0" rIns="0" tIns="0" bIns="0">
            <a:spAutoFit/>
          </a:bodyPr>
          <a:lstStyle/>
          <a:p>
            <a:pPr algn="l"/>
            <a:r>
              <a:rPr sz="1400" b="1" i="0">
                <a:solidFill>
                  <a:srgbClr val="2A78D6"/>
                </a:solidFill>
                <a:latin typeface="Segoe UI"/>
              </a:rPr>
              <a:t>Financial &amp; Operational</a:t>
            </a:r>
          </a:p>
        </p:txBody>
      </p:sp>
      <p:sp>
        <p:nvSpPr>
          <p:cNvPr id="13" name="TextBox 12"/>
          <p:cNvSpPr txBox="1"/>
          <p:nvPr/>
        </p:nvSpPr>
        <p:spPr>
          <a:xfrm>
            <a:off x="4471416" y="2743200"/>
            <a:ext cx="3118104" cy="2560320"/>
          </a:xfrm>
          <a:prstGeom prst="rect">
            <a:avLst/>
          </a:prstGeom>
          <a:noFill/>
        </p:spPr>
        <p:txBody>
          <a:bodyPr wrap="square" lIns="0" rIns="0" tIns="0" bIns="0">
            <a:spAutoFit/>
          </a:bodyPr>
          <a:lstStyle/>
          <a:p>
            <a:pPr algn="l">
              <a:lnSpc>
                <a:spcPct val="120000"/>
              </a:lnSpc>
            </a:pPr>
            <a:r>
              <a:rPr sz="1150" b="0" i="0">
                <a:solidFill>
                  <a:srgbClr val="37332C"/>
                </a:solidFill>
                <a:latin typeface="Segoe UI"/>
              </a:rPr>
              <a:t>Total Stock Value = SUMX(stock × unit cost) across all 500 SKUs.</a:t>
            </a:r>
          </a:p>
          <a:p>
            <a:pPr algn="l">
              <a:lnSpc>
                <a:spcPct val="120000"/>
              </a:lnSpc>
            </a:pPr>
            <a:r>
              <a:rPr sz="1150" b="0" i="0">
                <a:solidFill>
                  <a:srgbClr val="37332C"/>
                </a:solidFill>
                <a:latin typeface="Segoe UI"/>
              </a:rPr>
              <a:t/>
            </a:r>
          </a:p>
          <a:p>
            <a:pPr algn="l">
              <a:lnSpc>
                <a:spcPct val="120000"/>
              </a:lnSpc>
            </a:pPr>
            <a:r>
              <a:rPr sz="1150" b="0" i="0">
                <a:solidFill>
                  <a:srgbClr val="37332C"/>
                </a:solidFill>
                <a:latin typeface="Segoe UI"/>
              </a:rPr>
              <a:t>Total Storage Space, Avg Holding Cost %, Avg Turnover Rate – the cost side of carrying inventory.</a:t>
            </a:r>
          </a:p>
        </p:txBody>
      </p:sp>
      <p:sp>
        <p:nvSpPr>
          <p:cNvPr id="14" name="Rectangle 13"/>
          <p:cNvSpPr/>
          <p:nvPr/>
        </p:nvSpPr>
        <p:spPr>
          <a:xfrm>
            <a:off x="7955279" y="2103120"/>
            <a:ext cx="3520440" cy="3383280"/>
          </a:xfrm>
          <a:prstGeom prst="rect">
            <a:avLst/>
          </a:prstGeom>
          <a:solidFill>
            <a:srgbClr val="FFFDF9"/>
          </a:solidFill>
          <a:ln w="9525">
            <a:solidFill>
              <a:srgbClr val="E4DDD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955279" y="2103120"/>
            <a:ext cx="41148" cy="3383280"/>
          </a:xfrm>
          <a:prstGeom prst="rect">
            <a:avLst/>
          </a:prstGeom>
          <a:solidFill>
            <a:srgbClr val="1BAF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174736" y="2286000"/>
            <a:ext cx="3154680" cy="365760"/>
          </a:xfrm>
          <a:prstGeom prst="rect">
            <a:avLst/>
          </a:prstGeom>
          <a:noFill/>
        </p:spPr>
        <p:txBody>
          <a:bodyPr wrap="square" lIns="0" rIns="0" tIns="0" bIns="0">
            <a:spAutoFit/>
          </a:bodyPr>
          <a:lstStyle/>
          <a:p>
            <a:pPr algn="l"/>
            <a:r>
              <a:rPr sz="1400" b="1" i="0">
                <a:solidFill>
                  <a:srgbClr val="1BAF7A"/>
                </a:solidFill>
                <a:latin typeface="Segoe UI"/>
              </a:rPr>
              <a:t>Supplier &amp; Demand</a:t>
            </a:r>
          </a:p>
        </p:txBody>
      </p:sp>
      <p:sp>
        <p:nvSpPr>
          <p:cNvPr id="17" name="TextBox 16"/>
          <p:cNvSpPr txBox="1"/>
          <p:nvPr/>
        </p:nvSpPr>
        <p:spPr>
          <a:xfrm>
            <a:off x="8174736" y="2743200"/>
            <a:ext cx="3118104" cy="2560320"/>
          </a:xfrm>
          <a:prstGeom prst="rect">
            <a:avLst/>
          </a:prstGeom>
          <a:noFill/>
        </p:spPr>
        <p:txBody>
          <a:bodyPr wrap="square" lIns="0" rIns="0" tIns="0" bIns="0">
            <a:spAutoFit/>
          </a:bodyPr>
          <a:lstStyle/>
          <a:p>
            <a:pPr algn="l">
              <a:lnSpc>
                <a:spcPct val="120000"/>
              </a:lnSpc>
            </a:pPr>
            <a:r>
              <a:rPr sz="1150" b="0" i="0">
                <a:solidFill>
                  <a:srgbClr val="37332C"/>
                </a:solidFill>
                <a:latin typeface="Segoe UI"/>
              </a:rPr>
              <a:t>Root Cause Review SKUs = more than 5 stockouts last year.</a:t>
            </a:r>
          </a:p>
          <a:p>
            <a:pPr algn="l">
              <a:lnSpc>
                <a:spcPct val="120000"/>
              </a:lnSpc>
            </a:pPr>
            <a:r>
              <a:rPr sz="1150" b="0" i="0">
                <a:solidFill>
                  <a:srgbClr val="37332C"/>
                </a:solidFill>
                <a:latin typeface="Segoe UI"/>
              </a:rPr>
              <a:t/>
            </a:r>
          </a:p>
          <a:p>
            <a:pPr algn="l">
              <a:lnSpc>
                <a:spcPct val="120000"/>
              </a:lnSpc>
            </a:pPr>
            <a:r>
              <a:rPr sz="1150" b="0" i="0">
                <a:solidFill>
                  <a:srgbClr val="37332C"/>
                </a:solidFill>
                <a:latin typeface="Segoe UI"/>
              </a:rPr>
              <a:t>Secondary Supplier Candidates = lead time &gt; 30 days AND above-average demand.</a:t>
            </a:r>
          </a:p>
          <a:p>
            <a:pPr algn="l">
              <a:lnSpc>
                <a:spcPct val="120000"/>
              </a:lnSpc>
            </a:pPr>
            <a:r>
              <a:rPr sz="1150" b="0" i="0">
                <a:solidFill>
                  <a:srgbClr val="37332C"/>
                </a:solidFill>
                <a:latin typeface="Segoe UI"/>
              </a:rPr>
              <a:t/>
            </a:r>
          </a:p>
          <a:p>
            <a:pPr algn="l">
              <a:lnSpc>
                <a:spcPct val="120000"/>
              </a:lnSpc>
            </a:pPr>
            <a:r>
              <a:rPr sz="1150" b="0" i="0">
                <a:solidFill>
                  <a:srgbClr val="37332C"/>
                </a:solidFill>
                <a:latin typeface="Segoe UI"/>
              </a:rPr>
              <a:t>Reorder_Gap (column) = Reorder Point minus Current Stock.</a:t>
            </a:r>
          </a:p>
        </p:txBody>
      </p:sp>
      <p:sp>
        <p:nvSpPr>
          <p:cNvPr id="18" name="TextBox 17"/>
          <p:cNvSpPr txBox="1"/>
          <p:nvPr/>
        </p:nvSpPr>
        <p:spPr>
          <a:xfrm>
            <a:off x="548640" y="6355080"/>
            <a:ext cx="11064240" cy="365760"/>
          </a:xfrm>
          <a:prstGeom prst="rect">
            <a:avLst/>
          </a:prstGeom>
          <a:noFill/>
        </p:spPr>
        <p:txBody>
          <a:bodyPr wrap="square" lIns="0" rIns="0" tIns="0" bIns="0">
            <a:spAutoFit/>
          </a:bodyPr>
          <a:lstStyle/>
          <a:p>
            <a:pPr algn="l"/>
            <a:r>
              <a:rPr sz="1000" b="0" i="1">
                <a:solidFill>
                  <a:srgbClr val="6B6459"/>
                </a:solidFill>
                <a:latin typeface="Segoe UI"/>
              </a:rPr>
              <a:t>Deliberate exclusion: the pre-computed Risk_Score and Current_Stock_Coverage_Days columns were kept out of anything that predicts risk, since the documentation implies Risk_Score already encodes the answer.</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7F4EE"/>
        </a:solidFill>
        <a:effectLst/>
      </p:bgPr>
    </p:bg>
    <p:spTree>
      <p:nvGrpSpPr>
        <p:cNvPr id="1" name=""/>
        <p:cNvGrpSpPr/>
        <p:nvPr/>
      </p:nvGrpSpPr>
      <p:grpSpPr/>
      <p:sp>
        <p:nvSpPr>
          <p:cNvPr id="2" name="Rectangle 1"/>
          <p:cNvSpPr/>
          <p:nvPr/>
        </p:nvSpPr>
        <p:spPr>
          <a:xfrm>
            <a:off x="548640" y="384048"/>
            <a:ext cx="384048" cy="274320"/>
          </a:xfrm>
          <a:prstGeom prst="rect">
            <a:avLst/>
          </a:prstGeom>
          <a:solidFill>
            <a:srgbClr val="C96A1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wrap="none"/>
          <a:lstStyle/>
          <a:p>
            <a:pPr algn="ctr"/>
            <a:r>
              <a:rPr sz="1200" b="1">
                <a:solidFill>
                  <a:srgbClr val="FFFFFF"/>
                </a:solidFill>
                <a:latin typeface="Segoe UI"/>
              </a:rPr>
              <a:t>04</a:t>
            </a:r>
          </a:p>
        </p:txBody>
      </p:sp>
      <p:sp>
        <p:nvSpPr>
          <p:cNvPr id="3" name="TextBox 2"/>
          <p:cNvSpPr txBox="1"/>
          <p:nvPr/>
        </p:nvSpPr>
        <p:spPr>
          <a:xfrm>
            <a:off x="1051560" y="384048"/>
            <a:ext cx="7315200" cy="292608"/>
          </a:xfrm>
          <a:prstGeom prst="rect">
            <a:avLst/>
          </a:prstGeom>
          <a:noFill/>
        </p:spPr>
        <p:txBody>
          <a:bodyPr wrap="square" anchor="ctr" lIns="0" rIns="0" tIns="0" bIns="0">
            <a:spAutoFit/>
          </a:bodyPr>
          <a:lstStyle/>
          <a:p>
            <a:pPr algn="l"/>
            <a:r>
              <a:rPr sz="1150" b="1" i="0">
                <a:solidFill>
                  <a:srgbClr val="C96A17"/>
                </a:solidFill>
                <a:latin typeface="Segoe UI"/>
              </a:rPr>
              <a:t>REPORT PAGE 1 · OVERVIEW</a:t>
            </a:r>
          </a:p>
        </p:txBody>
      </p:sp>
      <p:sp>
        <p:nvSpPr>
          <p:cNvPr id="4" name="TextBox 3"/>
          <p:cNvSpPr txBox="1"/>
          <p:nvPr/>
        </p:nvSpPr>
        <p:spPr>
          <a:xfrm>
            <a:off x="548640" y="749808"/>
            <a:ext cx="10881360" cy="1005840"/>
          </a:xfrm>
          <a:prstGeom prst="rect">
            <a:avLst/>
          </a:prstGeom>
          <a:noFill/>
        </p:spPr>
        <p:txBody>
          <a:bodyPr wrap="square" lIns="0" rIns="0" tIns="0" bIns="0">
            <a:spAutoFit/>
          </a:bodyPr>
          <a:lstStyle/>
          <a:p>
            <a:pPr algn="l">
              <a:lnSpc>
                <a:spcPct val="102000"/>
              </a:lnSpc>
            </a:pPr>
            <a:r>
              <a:rPr sz="2500" b="1" i="0">
                <a:solidFill>
                  <a:srgbClr val="171512"/>
                </a:solidFill>
                <a:latin typeface="Segoe UI"/>
              </a:rPr>
              <a:t>The five-second answer: how healthy is the catalog right now.</a:t>
            </a:r>
          </a:p>
        </p:txBody>
      </p:sp>
      <p:sp>
        <p:nvSpPr>
          <p:cNvPr id="5" name="Rectangle 4"/>
          <p:cNvSpPr/>
          <p:nvPr/>
        </p:nvSpPr>
        <p:spPr>
          <a:xfrm>
            <a:off x="548640" y="1600200"/>
            <a:ext cx="2670048" cy="777240"/>
          </a:xfrm>
          <a:prstGeom prst="rect">
            <a:avLst/>
          </a:prstGeom>
          <a:solidFill>
            <a:srgbClr val="FFFDF9"/>
          </a:solidFill>
          <a:ln w="9525">
            <a:solidFill>
              <a:srgbClr val="E4DDD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48640" y="1600200"/>
            <a:ext cx="41148" cy="777240"/>
          </a:xfrm>
          <a:prstGeom prst="rect">
            <a:avLst/>
          </a:prstGeom>
          <a:solidFill>
            <a:srgbClr val="C96A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94944" y="1691640"/>
            <a:ext cx="2414015" cy="427482"/>
          </a:xfrm>
          <a:prstGeom prst="rect">
            <a:avLst/>
          </a:prstGeom>
          <a:noFill/>
        </p:spPr>
        <p:txBody>
          <a:bodyPr wrap="square" lIns="0" rIns="0" tIns="0" bIns="0">
            <a:spAutoFit/>
          </a:bodyPr>
          <a:lstStyle/>
          <a:p>
            <a:pPr algn="l"/>
            <a:r>
              <a:rPr sz="2200" b="1" i="0">
                <a:solidFill>
                  <a:srgbClr val="171512"/>
                </a:solidFill>
                <a:latin typeface="Segoe UI"/>
              </a:rPr>
              <a:t>500</a:t>
            </a:r>
          </a:p>
        </p:txBody>
      </p:sp>
      <p:sp>
        <p:nvSpPr>
          <p:cNvPr id="8" name="TextBox 7"/>
          <p:cNvSpPr txBox="1"/>
          <p:nvPr/>
        </p:nvSpPr>
        <p:spPr>
          <a:xfrm>
            <a:off x="694944" y="2066543"/>
            <a:ext cx="2414015" cy="272034"/>
          </a:xfrm>
          <a:prstGeom prst="rect">
            <a:avLst/>
          </a:prstGeom>
          <a:noFill/>
        </p:spPr>
        <p:txBody>
          <a:bodyPr wrap="square" lIns="0" rIns="0" tIns="0" bIns="0">
            <a:spAutoFit/>
          </a:bodyPr>
          <a:lstStyle/>
          <a:p>
            <a:pPr algn="l"/>
            <a:r>
              <a:rPr sz="1000" b="0" i="0">
                <a:solidFill>
                  <a:srgbClr val="6B6459"/>
                </a:solidFill>
                <a:latin typeface="Segoe UI"/>
              </a:rPr>
              <a:t>Total SKUs</a:t>
            </a:r>
          </a:p>
        </p:txBody>
      </p:sp>
      <p:sp>
        <p:nvSpPr>
          <p:cNvPr id="9" name="Rectangle 8"/>
          <p:cNvSpPr/>
          <p:nvPr/>
        </p:nvSpPr>
        <p:spPr>
          <a:xfrm>
            <a:off x="3346704" y="1600200"/>
            <a:ext cx="2670048" cy="777240"/>
          </a:xfrm>
          <a:prstGeom prst="rect">
            <a:avLst/>
          </a:prstGeom>
          <a:solidFill>
            <a:srgbClr val="FFFDF9"/>
          </a:solidFill>
          <a:ln w="9525">
            <a:solidFill>
              <a:srgbClr val="E4DDD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3346704" y="1600200"/>
            <a:ext cx="41148" cy="777240"/>
          </a:xfrm>
          <a:prstGeom prst="rect">
            <a:avLst/>
          </a:prstGeom>
          <a:solidFill>
            <a:srgbClr val="C96A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493008" y="1691640"/>
            <a:ext cx="2414015" cy="427482"/>
          </a:xfrm>
          <a:prstGeom prst="rect">
            <a:avLst/>
          </a:prstGeom>
          <a:noFill/>
        </p:spPr>
        <p:txBody>
          <a:bodyPr wrap="square" lIns="0" rIns="0" tIns="0" bIns="0">
            <a:spAutoFit/>
          </a:bodyPr>
          <a:lstStyle/>
          <a:p>
            <a:pPr algn="l"/>
            <a:r>
              <a:rPr sz="2200" b="1" i="0">
                <a:solidFill>
                  <a:srgbClr val="171512"/>
                </a:solidFill>
                <a:latin typeface="Segoe UI"/>
              </a:rPr>
              <a:t>85.2</a:t>
            </a:r>
          </a:p>
        </p:txBody>
      </p:sp>
      <p:sp>
        <p:nvSpPr>
          <p:cNvPr id="12" name="TextBox 11"/>
          <p:cNvSpPr txBox="1"/>
          <p:nvPr/>
        </p:nvSpPr>
        <p:spPr>
          <a:xfrm>
            <a:off x="3493008" y="2066543"/>
            <a:ext cx="2414015" cy="272034"/>
          </a:xfrm>
          <a:prstGeom prst="rect">
            <a:avLst/>
          </a:prstGeom>
          <a:noFill/>
        </p:spPr>
        <p:txBody>
          <a:bodyPr wrap="square" lIns="0" rIns="0" tIns="0" bIns="0">
            <a:spAutoFit/>
          </a:bodyPr>
          <a:lstStyle/>
          <a:p>
            <a:pPr algn="l"/>
            <a:r>
              <a:rPr sz="1000" b="0" i="0">
                <a:solidFill>
                  <a:srgbClr val="6B6459"/>
                </a:solidFill>
                <a:latin typeface="Segoe UI"/>
              </a:rPr>
              <a:t>Avg Service Level %</a:t>
            </a:r>
          </a:p>
        </p:txBody>
      </p:sp>
      <p:sp>
        <p:nvSpPr>
          <p:cNvPr id="13" name="Rectangle 12"/>
          <p:cNvSpPr/>
          <p:nvPr/>
        </p:nvSpPr>
        <p:spPr>
          <a:xfrm>
            <a:off x="6144768" y="1600200"/>
            <a:ext cx="2670048" cy="777240"/>
          </a:xfrm>
          <a:prstGeom prst="rect">
            <a:avLst/>
          </a:prstGeom>
          <a:solidFill>
            <a:srgbClr val="FFFDF9"/>
          </a:solidFill>
          <a:ln w="9525">
            <a:solidFill>
              <a:srgbClr val="E4DDD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6144768" y="1600200"/>
            <a:ext cx="41148" cy="777240"/>
          </a:xfrm>
          <a:prstGeom prst="rect">
            <a:avLst/>
          </a:prstGeom>
          <a:solidFill>
            <a:srgbClr val="C96A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291072" y="1691640"/>
            <a:ext cx="2414015" cy="427482"/>
          </a:xfrm>
          <a:prstGeom prst="rect">
            <a:avLst/>
          </a:prstGeom>
          <a:noFill/>
        </p:spPr>
        <p:txBody>
          <a:bodyPr wrap="square" lIns="0" rIns="0" tIns="0" bIns="0">
            <a:spAutoFit/>
          </a:bodyPr>
          <a:lstStyle/>
          <a:p>
            <a:pPr algn="l"/>
            <a:r>
              <a:rPr sz="2200" b="1" i="0">
                <a:solidFill>
                  <a:srgbClr val="171512"/>
                </a:solidFill>
                <a:latin typeface="Segoe UI"/>
              </a:rPr>
              <a:t>49.4</a:t>
            </a:r>
          </a:p>
        </p:txBody>
      </p:sp>
      <p:sp>
        <p:nvSpPr>
          <p:cNvPr id="16" name="TextBox 15"/>
          <p:cNvSpPr txBox="1"/>
          <p:nvPr/>
        </p:nvSpPr>
        <p:spPr>
          <a:xfrm>
            <a:off x="6291072" y="2066543"/>
            <a:ext cx="2414015" cy="272034"/>
          </a:xfrm>
          <a:prstGeom prst="rect">
            <a:avLst/>
          </a:prstGeom>
          <a:noFill/>
        </p:spPr>
        <p:txBody>
          <a:bodyPr wrap="square" lIns="0" rIns="0" tIns="0" bIns="0">
            <a:spAutoFit/>
          </a:bodyPr>
          <a:lstStyle/>
          <a:p>
            <a:pPr algn="l"/>
            <a:r>
              <a:rPr sz="1000" b="0" i="0">
                <a:solidFill>
                  <a:srgbClr val="6B6459"/>
                </a:solidFill>
                <a:latin typeface="Segoe UI"/>
              </a:rPr>
              <a:t>Avg Risk Score</a:t>
            </a:r>
          </a:p>
        </p:txBody>
      </p:sp>
      <p:sp>
        <p:nvSpPr>
          <p:cNvPr id="17" name="Rectangle 16"/>
          <p:cNvSpPr/>
          <p:nvPr/>
        </p:nvSpPr>
        <p:spPr>
          <a:xfrm>
            <a:off x="8942832" y="1600200"/>
            <a:ext cx="2670048" cy="777240"/>
          </a:xfrm>
          <a:prstGeom prst="rect">
            <a:avLst/>
          </a:prstGeom>
          <a:solidFill>
            <a:srgbClr val="FFFDF9"/>
          </a:solidFill>
          <a:ln w="9525">
            <a:solidFill>
              <a:srgbClr val="E4DDD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942832" y="1600200"/>
            <a:ext cx="41148" cy="777240"/>
          </a:xfrm>
          <a:prstGeom prst="rect">
            <a:avLst/>
          </a:prstGeom>
          <a:solidFill>
            <a:srgbClr val="D03B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089136" y="1691640"/>
            <a:ext cx="2414015" cy="427482"/>
          </a:xfrm>
          <a:prstGeom prst="rect">
            <a:avLst/>
          </a:prstGeom>
          <a:noFill/>
        </p:spPr>
        <p:txBody>
          <a:bodyPr wrap="square" lIns="0" rIns="0" tIns="0" bIns="0">
            <a:spAutoFit/>
          </a:bodyPr>
          <a:lstStyle/>
          <a:p>
            <a:pPr algn="l"/>
            <a:r>
              <a:rPr sz="2200" b="1" i="0">
                <a:solidFill>
                  <a:srgbClr val="171512"/>
                </a:solidFill>
                <a:latin typeface="Segoe UI"/>
              </a:rPr>
              <a:t>204</a:t>
            </a:r>
          </a:p>
        </p:txBody>
      </p:sp>
      <p:sp>
        <p:nvSpPr>
          <p:cNvPr id="20" name="TextBox 19"/>
          <p:cNvSpPr txBox="1"/>
          <p:nvPr/>
        </p:nvSpPr>
        <p:spPr>
          <a:xfrm>
            <a:off x="9089136" y="2066543"/>
            <a:ext cx="2414015" cy="272034"/>
          </a:xfrm>
          <a:prstGeom prst="rect">
            <a:avLst/>
          </a:prstGeom>
          <a:noFill/>
        </p:spPr>
        <p:txBody>
          <a:bodyPr wrap="square" lIns="0" rIns="0" tIns="0" bIns="0">
            <a:spAutoFit/>
          </a:bodyPr>
          <a:lstStyle/>
          <a:p>
            <a:pPr algn="l"/>
            <a:r>
              <a:rPr sz="1000" b="0" i="0">
                <a:solidFill>
                  <a:srgbClr val="6B6459"/>
                </a:solidFill>
                <a:latin typeface="Segoe UI"/>
              </a:rPr>
              <a:t>Below Reorder Point</a:t>
            </a:r>
          </a:p>
        </p:txBody>
      </p:sp>
      <p:sp>
        <p:nvSpPr>
          <p:cNvPr id="21" name="Rectangle 20"/>
          <p:cNvSpPr/>
          <p:nvPr/>
        </p:nvSpPr>
        <p:spPr>
          <a:xfrm>
            <a:off x="548640" y="2560320"/>
            <a:ext cx="5394960" cy="3794760"/>
          </a:xfrm>
          <a:prstGeom prst="rect">
            <a:avLst/>
          </a:prstGeom>
          <a:solidFill>
            <a:srgbClr val="FFFDF9"/>
          </a:solidFill>
          <a:ln w="9525">
            <a:solidFill>
              <a:srgbClr val="E4DDD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49808" y="2688336"/>
            <a:ext cx="5029200" cy="320040"/>
          </a:xfrm>
          <a:prstGeom prst="rect">
            <a:avLst/>
          </a:prstGeom>
          <a:noFill/>
        </p:spPr>
        <p:txBody>
          <a:bodyPr wrap="square" lIns="0" rIns="0" tIns="0" bIns="0">
            <a:spAutoFit/>
          </a:bodyPr>
          <a:lstStyle/>
          <a:p>
            <a:pPr algn="l"/>
            <a:r>
              <a:rPr sz="1300" b="1" i="0">
                <a:solidFill>
                  <a:srgbClr val="171512"/>
                </a:solidFill>
                <a:latin typeface="Segoe UI"/>
              </a:rPr>
              <a:t>SKUs by Stockout Risk Category</a:t>
            </a:r>
          </a:p>
        </p:txBody>
      </p:sp>
      <p:graphicFrame>
        <p:nvGraphicFramePr>
          <p:cNvPr id="23" name="Chart 22"/>
          <p:cNvGraphicFramePr>
            <a:graphicFrameLocks noGrp="1"/>
          </p:cNvGraphicFramePr>
          <p:nvPr/>
        </p:nvGraphicFramePr>
        <p:xfrm>
          <a:off x="822959" y="3063239"/>
          <a:ext cx="4754880" cy="3017520"/>
        </p:xfrm>
        <a:graphic>
          <a:graphicData uri="http://schemas.openxmlformats.org/drawingml/2006/chart">
            <c:chart xmlns:c="http://schemas.openxmlformats.org/drawingml/2006/chart" r:id="rId2"/>
          </a:graphicData>
        </a:graphic>
      </p:graphicFrame>
      <p:sp>
        <p:nvSpPr>
          <p:cNvPr id="24" name="Rectangle 23"/>
          <p:cNvSpPr/>
          <p:nvPr/>
        </p:nvSpPr>
        <p:spPr>
          <a:xfrm>
            <a:off x="6172200" y="2560320"/>
            <a:ext cx="5440680" cy="3794760"/>
          </a:xfrm>
          <a:prstGeom prst="rect">
            <a:avLst/>
          </a:prstGeom>
          <a:solidFill>
            <a:srgbClr val="FFFDF9"/>
          </a:solidFill>
          <a:ln w="9525">
            <a:solidFill>
              <a:srgbClr val="E4DDD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373368" y="2688336"/>
            <a:ext cx="5074920" cy="320040"/>
          </a:xfrm>
          <a:prstGeom prst="rect">
            <a:avLst/>
          </a:prstGeom>
          <a:noFill/>
        </p:spPr>
        <p:txBody>
          <a:bodyPr wrap="square" lIns="0" rIns="0" tIns="0" bIns="0">
            <a:spAutoFit/>
          </a:bodyPr>
          <a:lstStyle/>
          <a:p>
            <a:pPr algn="l"/>
            <a:r>
              <a:rPr sz="1300" b="1" i="0">
                <a:solidFill>
                  <a:srgbClr val="171512"/>
                </a:solidFill>
                <a:latin typeface="Segoe UI"/>
              </a:rPr>
              <a:t>Avg Risk Score by Product Category</a:t>
            </a:r>
          </a:p>
        </p:txBody>
      </p:sp>
      <p:graphicFrame>
        <p:nvGraphicFramePr>
          <p:cNvPr id="26" name="Chart 25"/>
          <p:cNvGraphicFramePr>
            <a:graphicFrameLocks noGrp="1"/>
          </p:cNvGraphicFramePr>
          <p:nvPr/>
        </p:nvGraphicFramePr>
        <p:xfrm>
          <a:off x="6263640" y="3017520"/>
          <a:ext cx="5166360" cy="3108960"/>
        </p:xfrm>
        <a:graphic>
          <a:graphicData uri="http://schemas.openxmlformats.org/drawingml/2006/chart">
            <c:chart xmlns:c="http://schemas.openxmlformats.org/drawingml/2006/chart" r:id="rId3"/>
          </a:graphicData>
        </a:graphic>
      </p:graphicFrame>
      <p:sp>
        <p:nvSpPr>
          <p:cNvPr id="27" name="TextBox 26"/>
          <p:cNvSpPr txBox="1"/>
          <p:nvPr/>
        </p:nvSpPr>
        <p:spPr>
          <a:xfrm>
            <a:off x="548640" y="6355080"/>
            <a:ext cx="11064240" cy="365760"/>
          </a:xfrm>
          <a:prstGeom prst="rect">
            <a:avLst/>
          </a:prstGeom>
          <a:noFill/>
        </p:spPr>
        <p:txBody>
          <a:bodyPr wrap="square" lIns="0" rIns="0" tIns="0" bIns="0">
            <a:spAutoFit/>
          </a:bodyPr>
          <a:lstStyle/>
          <a:p>
            <a:pPr algn="l"/>
            <a:r>
              <a:rPr sz="1000" b="0" i="1">
                <a:solidFill>
                  <a:srgbClr val="6B6459"/>
                </a:solidFill>
                <a:latin typeface="Segoe UI"/>
              </a:rPr>
              <a:t>Also on this page: SKU count by ABC tier, average coverage days by warehouse zone, and Product Category / Warehouse Zone slicers that cross-filter every chart.</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7F4EE"/>
        </a:solidFill>
        <a:effectLst/>
      </p:bgPr>
    </p:bg>
    <p:spTree>
      <p:nvGrpSpPr>
        <p:cNvPr id="1" name=""/>
        <p:cNvGrpSpPr/>
        <p:nvPr/>
      </p:nvGrpSpPr>
      <p:grpSpPr/>
      <p:sp>
        <p:nvSpPr>
          <p:cNvPr id="2" name="Rectangle 1"/>
          <p:cNvSpPr/>
          <p:nvPr/>
        </p:nvSpPr>
        <p:spPr>
          <a:xfrm>
            <a:off x="548640" y="384048"/>
            <a:ext cx="384048" cy="274320"/>
          </a:xfrm>
          <a:prstGeom prst="rect">
            <a:avLst/>
          </a:prstGeom>
          <a:solidFill>
            <a:srgbClr val="C96A1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wrap="none"/>
          <a:lstStyle/>
          <a:p>
            <a:pPr algn="ctr"/>
            <a:r>
              <a:rPr sz="1200" b="1">
                <a:solidFill>
                  <a:srgbClr val="FFFFFF"/>
                </a:solidFill>
                <a:latin typeface="Segoe UI"/>
              </a:rPr>
              <a:t>05</a:t>
            </a:r>
          </a:p>
        </p:txBody>
      </p:sp>
      <p:sp>
        <p:nvSpPr>
          <p:cNvPr id="3" name="TextBox 2"/>
          <p:cNvSpPr txBox="1"/>
          <p:nvPr/>
        </p:nvSpPr>
        <p:spPr>
          <a:xfrm>
            <a:off x="1051560" y="384048"/>
            <a:ext cx="7315200" cy="292608"/>
          </a:xfrm>
          <a:prstGeom prst="rect">
            <a:avLst/>
          </a:prstGeom>
          <a:noFill/>
        </p:spPr>
        <p:txBody>
          <a:bodyPr wrap="square" anchor="ctr" lIns="0" rIns="0" tIns="0" bIns="0">
            <a:spAutoFit/>
          </a:bodyPr>
          <a:lstStyle/>
          <a:p>
            <a:pPr algn="l"/>
            <a:r>
              <a:rPr sz="1150" b="1" i="0">
                <a:solidFill>
                  <a:srgbClr val="C96A17"/>
                </a:solidFill>
                <a:latin typeface="Segoe UI"/>
              </a:rPr>
              <a:t>REPORT PAGE 2 · RISK &amp; ACTION CENTER</a:t>
            </a:r>
          </a:p>
        </p:txBody>
      </p:sp>
      <p:sp>
        <p:nvSpPr>
          <p:cNvPr id="4" name="TextBox 3"/>
          <p:cNvSpPr txBox="1"/>
          <p:nvPr/>
        </p:nvSpPr>
        <p:spPr>
          <a:xfrm>
            <a:off x="548640" y="749808"/>
            <a:ext cx="10881360" cy="1005840"/>
          </a:xfrm>
          <a:prstGeom prst="rect">
            <a:avLst/>
          </a:prstGeom>
          <a:noFill/>
        </p:spPr>
        <p:txBody>
          <a:bodyPr wrap="square" lIns="0" rIns="0" tIns="0" bIns="0">
            <a:spAutoFit/>
          </a:bodyPr>
          <a:lstStyle/>
          <a:p>
            <a:pPr algn="l">
              <a:lnSpc>
                <a:spcPct val="102000"/>
              </a:lnSpc>
            </a:pPr>
            <a:r>
              <a:rPr sz="2700" b="1" i="0">
                <a:solidFill>
                  <a:srgbClr val="171512"/>
                </a:solidFill>
                <a:latin typeface="Segoe UI"/>
              </a:rPr>
              <a:t>From “who is at risk” to “who do I call first.”</a:t>
            </a:r>
          </a:p>
        </p:txBody>
      </p:sp>
      <p:sp>
        <p:nvSpPr>
          <p:cNvPr id="5" name="Rectangle 4"/>
          <p:cNvSpPr/>
          <p:nvPr/>
        </p:nvSpPr>
        <p:spPr>
          <a:xfrm>
            <a:off x="548640" y="1600200"/>
            <a:ext cx="2110435" cy="777240"/>
          </a:xfrm>
          <a:prstGeom prst="rect">
            <a:avLst/>
          </a:prstGeom>
          <a:solidFill>
            <a:srgbClr val="FFFDF9"/>
          </a:solidFill>
          <a:ln w="9525">
            <a:solidFill>
              <a:srgbClr val="E4DDD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48640" y="1600200"/>
            <a:ext cx="41148" cy="777240"/>
          </a:xfrm>
          <a:prstGeom prst="rect">
            <a:avLst/>
          </a:prstGeom>
          <a:solidFill>
            <a:srgbClr val="D03B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94944" y="1691640"/>
            <a:ext cx="1854403" cy="427482"/>
          </a:xfrm>
          <a:prstGeom prst="rect">
            <a:avLst/>
          </a:prstGeom>
          <a:noFill/>
        </p:spPr>
        <p:txBody>
          <a:bodyPr wrap="square" lIns="0" rIns="0" tIns="0" bIns="0">
            <a:spAutoFit/>
          </a:bodyPr>
          <a:lstStyle/>
          <a:p>
            <a:pPr algn="l"/>
            <a:r>
              <a:rPr sz="2200" b="1" i="0">
                <a:solidFill>
                  <a:srgbClr val="171512"/>
                </a:solidFill>
                <a:latin typeface="Segoe UI"/>
              </a:rPr>
              <a:t>194</a:t>
            </a:r>
          </a:p>
        </p:txBody>
      </p:sp>
      <p:sp>
        <p:nvSpPr>
          <p:cNvPr id="8" name="TextBox 7"/>
          <p:cNvSpPr txBox="1"/>
          <p:nvPr/>
        </p:nvSpPr>
        <p:spPr>
          <a:xfrm>
            <a:off x="694944" y="2066543"/>
            <a:ext cx="1854403" cy="272034"/>
          </a:xfrm>
          <a:prstGeom prst="rect">
            <a:avLst/>
          </a:prstGeom>
          <a:noFill/>
        </p:spPr>
        <p:txBody>
          <a:bodyPr wrap="square" lIns="0" rIns="0" tIns="0" bIns="0">
            <a:spAutoFit/>
          </a:bodyPr>
          <a:lstStyle/>
          <a:p>
            <a:pPr algn="l"/>
            <a:r>
              <a:rPr sz="1000" b="0" i="0">
                <a:solidFill>
                  <a:srgbClr val="6B6459"/>
                </a:solidFill>
                <a:latin typeface="Segoe UI"/>
              </a:rPr>
              <a:t>High Risk SKUs</a:t>
            </a:r>
          </a:p>
        </p:txBody>
      </p:sp>
      <p:sp>
        <p:nvSpPr>
          <p:cNvPr id="9" name="Rectangle 8"/>
          <p:cNvSpPr/>
          <p:nvPr/>
        </p:nvSpPr>
        <p:spPr>
          <a:xfrm>
            <a:off x="2787091" y="1600200"/>
            <a:ext cx="2110435" cy="777240"/>
          </a:xfrm>
          <a:prstGeom prst="rect">
            <a:avLst/>
          </a:prstGeom>
          <a:solidFill>
            <a:srgbClr val="FFFDF9"/>
          </a:solidFill>
          <a:ln w="9525">
            <a:solidFill>
              <a:srgbClr val="E4DDD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2787091" y="1600200"/>
            <a:ext cx="41148" cy="777240"/>
          </a:xfrm>
          <a:prstGeom prst="rect">
            <a:avLst/>
          </a:prstGeom>
          <a:solidFill>
            <a:srgbClr val="D03B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933395" y="1691640"/>
            <a:ext cx="1854403" cy="427482"/>
          </a:xfrm>
          <a:prstGeom prst="rect">
            <a:avLst/>
          </a:prstGeom>
          <a:noFill/>
        </p:spPr>
        <p:txBody>
          <a:bodyPr wrap="square" lIns="0" rIns="0" tIns="0" bIns="0">
            <a:spAutoFit/>
          </a:bodyPr>
          <a:lstStyle/>
          <a:p>
            <a:pPr algn="l"/>
            <a:r>
              <a:rPr sz="2200" b="1" i="0">
                <a:solidFill>
                  <a:srgbClr val="171512"/>
                </a:solidFill>
                <a:latin typeface="Segoe UI"/>
              </a:rPr>
              <a:t>30</a:t>
            </a:r>
          </a:p>
        </p:txBody>
      </p:sp>
      <p:sp>
        <p:nvSpPr>
          <p:cNvPr id="12" name="TextBox 11"/>
          <p:cNvSpPr txBox="1"/>
          <p:nvPr/>
        </p:nvSpPr>
        <p:spPr>
          <a:xfrm>
            <a:off x="2933395" y="2066543"/>
            <a:ext cx="1854403" cy="272034"/>
          </a:xfrm>
          <a:prstGeom prst="rect">
            <a:avLst/>
          </a:prstGeom>
          <a:noFill/>
        </p:spPr>
        <p:txBody>
          <a:bodyPr wrap="square" lIns="0" rIns="0" tIns="0" bIns="0">
            <a:spAutoFit/>
          </a:bodyPr>
          <a:lstStyle/>
          <a:p>
            <a:pPr algn="l"/>
            <a:r>
              <a:rPr sz="1000" b="0" i="0">
                <a:solidFill>
                  <a:srgbClr val="6B6459"/>
                </a:solidFill>
                <a:latin typeface="Segoe UI"/>
              </a:rPr>
              <a:t>Top Priority Escalations</a:t>
            </a:r>
          </a:p>
        </p:txBody>
      </p:sp>
      <p:sp>
        <p:nvSpPr>
          <p:cNvPr id="13" name="Rectangle 12"/>
          <p:cNvSpPr/>
          <p:nvPr/>
        </p:nvSpPr>
        <p:spPr>
          <a:xfrm>
            <a:off x="5025542" y="1600200"/>
            <a:ext cx="2110435" cy="777240"/>
          </a:xfrm>
          <a:prstGeom prst="rect">
            <a:avLst/>
          </a:prstGeom>
          <a:solidFill>
            <a:srgbClr val="FFFDF9"/>
          </a:solidFill>
          <a:ln w="9525">
            <a:solidFill>
              <a:srgbClr val="E4DDD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5025542" y="1600200"/>
            <a:ext cx="41148" cy="777240"/>
          </a:xfrm>
          <a:prstGeom prst="rect">
            <a:avLst/>
          </a:prstGeom>
          <a:solidFill>
            <a:srgbClr val="0CA3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171846" y="1691640"/>
            <a:ext cx="1854403" cy="427482"/>
          </a:xfrm>
          <a:prstGeom prst="rect">
            <a:avLst/>
          </a:prstGeom>
          <a:noFill/>
        </p:spPr>
        <p:txBody>
          <a:bodyPr wrap="square" lIns="0" rIns="0" tIns="0" bIns="0">
            <a:spAutoFit/>
          </a:bodyPr>
          <a:lstStyle/>
          <a:p>
            <a:pPr algn="l"/>
            <a:r>
              <a:rPr sz="2200" b="1" i="0">
                <a:solidFill>
                  <a:srgbClr val="171512"/>
                </a:solidFill>
                <a:latin typeface="Segoe UI"/>
              </a:rPr>
              <a:t>0</a:t>
            </a:r>
          </a:p>
        </p:txBody>
      </p:sp>
      <p:sp>
        <p:nvSpPr>
          <p:cNvPr id="16" name="TextBox 15"/>
          <p:cNvSpPr txBox="1"/>
          <p:nvPr/>
        </p:nvSpPr>
        <p:spPr>
          <a:xfrm>
            <a:off x="5171846" y="2066543"/>
            <a:ext cx="1854403" cy="272034"/>
          </a:xfrm>
          <a:prstGeom prst="rect">
            <a:avLst/>
          </a:prstGeom>
          <a:noFill/>
        </p:spPr>
        <p:txBody>
          <a:bodyPr wrap="square" lIns="0" rIns="0" tIns="0" bIns="0">
            <a:spAutoFit/>
          </a:bodyPr>
          <a:lstStyle/>
          <a:p>
            <a:pPr algn="l"/>
            <a:r>
              <a:rPr sz="1000" b="0" i="0">
                <a:solidFill>
                  <a:srgbClr val="6B6459"/>
                </a:solidFill>
                <a:latin typeface="Segoe UI"/>
              </a:rPr>
              <a:t>Excess Inventory SKUs</a:t>
            </a:r>
          </a:p>
        </p:txBody>
      </p:sp>
      <p:sp>
        <p:nvSpPr>
          <p:cNvPr id="17" name="Rectangle 16"/>
          <p:cNvSpPr/>
          <p:nvPr/>
        </p:nvSpPr>
        <p:spPr>
          <a:xfrm>
            <a:off x="7263993" y="1600200"/>
            <a:ext cx="2110435" cy="777240"/>
          </a:xfrm>
          <a:prstGeom prst="rect">
            <a:avLst/>
          </a:prstGeom>
          <a:solidFill>
            <a:srgbClr val="FFFDF9"/>
          </a:solidFill>
          <a:ln w="9525">
            <a:solidFill>
              <a:srgbClr val="E4DDD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263993" y="1600200"/>
            <a:ext cx="41148" cy="777240"/>
          </a:xfrm>
          <a:prstGeom prst="rect">
            <a:avLst/>
          </a:prstGeom>
          <a:solidFill>
            <a:srgbClr val="C96A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410297" y="1691640"/>
            <a:ext cx="1854403" cy="427482"/>
          </a:xfrm>
          <a:prstGeom prst="rect">
            <a:avLst/>
          </a:prstGeom>
          <a:noFill/>
        </p:spPr>
        <p:txBody>
          <a:bodyPr wrap="square" lIns="0" rIns="0" tIns="0" bIns="0">
            <a:spAutoFit/>
          </a:bodyPr>
          <a:lstStyle/>
          <a:p>
            <a:pPr algn="l"/>
            <a:r>
              <a:rPr sz="2200" b="1" i="0">
                <a:solidFill>
                  <a:srgbClr val="171512"/>
                </a:solidFill>
                <a:latin typeface="Segoe UI"/>
              </a:rPr>
              <a:t>26.7</a:t>
            </a:r>
          </a:p>
        </p:txBody>
      </p:sp>
      <p:sp>
        <p:nvSpPr>
          <p:cNvPr id="20" name="TextBox 19"/>
          <p:cNvSpPr txBox="1"/>
          <p:nvPr/>
        </p:nvSpPr>
        <p:spPr>
          <a:xfrm>
            <a:off x="7410297" y="2066543"/>
            <a:ext cx="1854403" cy="272034"/>
          </a:xfrm>
          <a:prstGeom prst="rect">
            <a:avLst/>
          </a:prstGeom>
          <a:noFill/>
        </p:spPr>
        <p:txBody>
          <a:bodyPr wrap="square" lIns="0" rIns="0" tIns="0" bIns="0">
            <a:spAutoFit/>
          </a:bodyPr>
          <a:lstStyle/>
          <a:p>
            <a:pPr algn="l"/>
            <a:r>
              <a:rPr sz="1000" b="0" i="0">
                <a:solidFill>
                  <a:srgbClr val="6B6459"/>
                </a:solidFill>
                <a:latin typeface="Segoe UI"/>
              </a:rPr>
              <a:t>Avg Coverage Days</a:t>
            </a:r>
          </a:p>
        </p:txBody>
      </p:sp>
      <p:sp>
        <p:nvSpPr>
          <p:cNvPr id="21" name="Rectangle 20"/>
          <p:cNvSpPr/>
          <p:nvPr/>
        </p:nvSpPr>
        <p:spPr>
          <a:xfrm>
            <a:off x="9502444" y="1600200"/>
            <a:ext cx="2110435" cy="777240"/>
          </a:xfrm>
          <a:prstGeom prst="rect">
            <a:avLst/>
          </a:prstGeom>
          <a:solidFill>
            <a:srgbClr val="FFFDF9"/>
          </a:solidFill>
          <a:ln w="9525">
            <a:solidFill>
              <a:srgbClr val="E4DDD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9502444" y="1600200"/>
            <a:ext cx="41148" cy="777240"/>
          </a:xfrm>
          <a:prstGeom prst="rect">
            <a:avLst/>
          </a:prstGeom>
          <a:solidFill>
            <a:srgbClr val="D98C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9648748" y="1691640"/>
            <a:ext cx="1854403" cy="427482"/>
          </a:xfrm>
          <a:prstGeom prst="rect">
            <a:avLst/>
          </a:prstGeom>
          <a:noFill/>
        </p:spPr>
        <p:txBody>
          <a:bodyPr wrap="square" lIns="0" rIns="0" tIns="0" bIns="0">
            <a:spAutoFit/>
          </a:bodyPr>
          <a:lstStyle/>
          <a:p>
            <a:pPr algn="l"/>
            <a:r>
              <a:rPr sz="2200" b="1" i="0">
                <a:solidFill>
                  <a:srgbClr val="171512"/>
                </a:solidFill>
                <a:latin typeface="Segoe UI"/>
              </a:rPr>
              <a:t>6.6</a:t>
            </a:r>
          </a:p>
        </p:txBody>
      </p:sp>
      <p:sp>
        <p:nvSpPr>
          <p:cNvPr id="24" name="TextBox 23"/>
          <p:cNvSpPr txBox="1"/>
          <p:nvPr/>
        </p:nvSpPr>
        <p:spPr>
          <a:xfrm>
            <a:off x="9648748" y="2066543"/>
            <a:ext cx="1854403" cy="272034"/>
          </a:xfrm>
          <a:prstGeom prst="rect">
            <a:avLst/>
          </a:prstGeom>
          <a:noFill/>
        </p:spPr>
        <p:txBody>
          <a:bodyPr wrap="square" lIns="0" rIns="0" tIns="0" bIns="0">
            <a:spAutoFit/>
          </a:bodyPr>
          <a:lstStyle/>
          <a:p>
            <a:pPr algn="l"/>
            <a:r>
              <a:rPr sz="1000" b="0" i="0">
                <a:solidFill>
                  <a:srgbClr val="6B6459"/>
                </a:solidFill>
                <a:latin typeface="Segoe UI"/>
              </a:rPr>
              <a:t>Avg Stockout Incidents</a:t>
            </a:r>
          </a:p>
        </p:txBody>
      </p:sp>
      <p:sp>
        <p:nvSpPr>
          <p:cNvPr id="25" name="Rectangle 24"/>
          <p:cNvSpPr/>
          <p:nvPr/>
        </p:nvSpPr>
        <p:spPr>
          <a:xfrm>
            <a:off x="548640" y="2606040"/>
            <a:ext cx="11064240" cy="3703320"/>
          </a:xfrm>
          <a:prstGeom prst="rect">
            <a:avLst/>
          </a:prstGeom>
          <a:solidFill>
            <a:srgbClr val="FFFDF9"/>
          </a:solidFill>
          <a:ln w="9525">
            <a:solidFill>
              <a:srgbClr val="E4DDD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49808" y="2734056"/>
            <a:ext cx="10698480" cy="320040"/>
          </a:xfrm>
          <a:prstGeom prst="rect">
            <a:avLst/>
          </a:prstGeom>
          <a:noFill/>
        </p:spPr>
        <p:txBody>
          <a:bodyPr wrap="square" lIns="0" rIns="0" tIns="0" bIns="0">
            <a:spAutoFit/>
          </a:bodyPr>
          <a:lstStyle/>
          <a:p>
            <a:pPr algn="l"/>
            <a:r>
              <a:rPr sz="1300" b="1" i="0">
                <a:solidFill>
                  <a:srgbClr val="171512"/>
                </a:solidFill>
                <a:latin typeface="Segoe UI"/>
              </a:rPr>
              <a:t>Action list – every SKU, sorted by Risk Score (highest first)</a:t>
            </a:r>
          </a:p>
        </p:txBody>
      </p:sp>
      <p:graphicFrame>
        <p:nvGraphicFramePr>
          <p:cNvPr id="27" name="Table 26"/>
          <p:cNvGraphicFramePr>
            <a:graphicFrameLocks noGrp="1"/>
          </p:cNvGraphicFramePr>
          <p:nvPr/>
        </p:nvGraphicFramePr>
        <p:xfrm>
          <a:off x="749808" y="3200400"/>
          <a:ext cx="10661900" cy="2834640"/>
        </p:xfrm>
        <a:graphic>
          <a:graphicData uri="http://schemas.openxmlformats.org/drawingml/2006/table">
            <a:tbl>
              <a:tblPr firstRow="1" bandRow="0">
                <a:tableStyleId>{5C22544A-7EE6-4342-B048-85BDC9FD1C3A}</a:tableStyleId>
              </a:tblPr>
              <a:tblGrid>
                <a:gridCol w="1197966"/>
                <a:gridCol w="2635526"/>
                <a:gridCol w="958373"/>
                <a:gridCol w="958373"/>
                <a:gridCol w="958373"/>
                <a:gridCol w="1317763"/>
                <a:gridCol w="1197966"/>
                <a:gridCol w="1437560"/>
              </a:tblGrid>
              <a:tr h="472440">
                <a:tc>
                  <a:txBody>
                    <a:bodyPr/>
                    <a:lstStyle/>
                    <a:p>
                      <a:pPr algn="l">
                        <a:defRPr sz="1050" b="1">
                          <a:solidFill>
                            <a:srgbClr val="6B6459"/>
                          </a:solidFill>
                          <a:latin typeface="Segoe UI"/>
                        </a:defRPr>
                      </a:pPr>
                      <a:r>
                        <a:t>SKU</a:t>
                      </a:r>
                    </a:p>
                  </a:txBody>
                  <a:tcPr marT="38100" marB="38100">
                    <a:solidFill>
                      <a:srgbClr val="FFFDF9"/>
                    </a:solidFill>
                  </a:tcPr>
                </a:tc>
                <a:tc>
                  <a:txBody>
                    <a:bodyPr/>
                    <a:lstStyle/>
                    <a:p>
                      <a:pPr algn="r">
                        <a:defRPr sz="1050" b="1">
                          <a:solidFill>
                            <a:srgbClr val="6B6459"/>
                          </a:solidFill>
                          <a:latin typeface="Segoe UI"/>
                        </a:defRPr>
                      </a:pPr>
                      <a:r>
                        <a:t>Category</a:t>
                      </a:r>
                    </a:p>
                  </a:txBody>
                  <a:tcPr marT="38100" marB="38100">
                    <a:solidFill>
                      <a:srgbClr val="FFFDF9"/>
                    </a:solidFill>
                  </a:tcPr>
                </a:tc>
                <a:tc>
                  <a:txBody>
                    <a:bodyPr/>
                    <a:lstStyle/>
                    <a:p>
                      <a:pPr algn="r">
                        <a:defRPr sz="1050" b="1">
                          <a:solidFill>
                            <a:srgbClr val="6B6459"/>
                          </a:solidFill>
                          <a:latin typeface="Segoe UI"/>
                        </a:defRPr>
                      </a:pPr>
                      <a:r>
                        <a:t>ABC</a:t>
                      </a:r>
                    </a:p>
                  </a:txBody>
                  <a:tcPr marT="38100" marB="38100">
                    <a:solidFill>
                      <a:srgbClr val="FFFDF9"/>
                    </a:solidFill>
                  </a:tcPr>
                </a:tc>
                <a:tc>
                  <a:txBody>
                    <a:bodyPr/>
                    <a:lstStyle/>
                    <a:p>
                      <a:pPr algn="r">
                        <a:defRPr sz="1050" b="1">
                          <a:solidFill>
                            <a:srgbClr val="6B6459"/>
                          </a:solidFill>
                          <a:latin typeface="Segoe UI"/>
                        </a:defRPr>
                      </a:pPr>
                      <a:r>
                        <a:t>Zone</a:t>
                      </a:r>
                    </a:p>
                  </a:txBody>
                  <a:tcPr marT="38100" marB="38100">
                    <a:solidFill>
                      <a:srgbClr val="FFFDF9"/>
                    </a:solidFill>
                  </a:tcPr>
                </a:tc>
                <a:tc>
                  <a:txBody>
                    <a:bodyPr/>
                    <a:lstStyle/>
                    <a:p>
                      <a:pPr algn="r">
                        <a:defRPr sz="1050" b="1">
                          <a:solidFill>
                            <a:srgbClr val="6B6459"/>
                          </a:solidFill>
                          <a:latin typeface="Segoe UI"/>
                        </a:defRPr>
                      </a:pPr>
                      <a:r>
                        <a:t>Risk</a:t>
                      </a:r>
                    </a:p>
                  </a:txBody>
                  <a:tcPr marT="38100" marB="38100">
                    <a:solidFill>
                      <a:srgbClr val="FFFDF9"/>
                    </a:solidFill>
                  </a:tcPr>
                </a:tc>
                <a:tc>
                  <a:txBody>
                    <a:bodyPr/>
                    <a:lstStyle/>
                    <a:p>
                      <a:pPr algn="r">
                        <a:defRPr sz="1050" b="1">
                          <a:solidFill>
                            <a:srgbClr val="6B6459"/>
                          </a:solidFill>
                          <a:latin typeface="Segoe UI"/>
                        </a:defRPr>
                      </a:pPr>
                      <a:r>
                        <a:t>Coverage (d)</a:t>
                      </a:r>
                    </a:p>
                  </a:txBody>
                  <a:tcPr marT="38100" marB="38100">
                    <a:solidFill>
                      <a:srgbClr val="FFFDF9"/>
                    </a:solidFill>
                  </a:tcPr>
                </a:tc>
                <a:tc>
                  <a:txBody>
                    <a:bodyPr/>
                    <a:lstStyle/>
                    <a:p>
                      <a:pPr algn="r">
                        <a:defRPr sz="1050" b="1">
                          <a:solidFill>
                            <a:srgbClr val="6B6459"/>
                          </a:solidFill>
                          <a:latin typeface="Segoe UI"/>
                        </a:defRPr>
                      </a:pPr>
                      <a:r>
                        <a:t>Lead time</a:t>
                      </a:r>
                    </a:p>
                  </a:txBody>
                  <a:tcPr marT="38100" marB="38100">
                    <a:solidFill>
                      <a:srgbClr val="FFFDF9"/>
                    </a:solidFill>
                  </a:tcPr>
                </a:tc>
                <a:tc>
                  <a:txBody>
                    <a:bodyPr/>
                    <a:lstStyle/>
                    <a:p>
                      <a:pPr algn="r">
                        <a:defRPr sz="1050" b="1">
                          <a:solidFill>
                            <a:srgbClr val="6B6459"/>
                          </a:solidFill>
                          <a:latin typeface="Segoe UI"/>
                        </a:defRPr>
                      </a:pPr>
                      <a:r>
                        <a:t>Status</a:t>
                      </a:r>
                    </a:p>
                  </a:txBody>
                  <a:tcPr marT="38100" marB="38100">
                    <a:solidFill>
                      <a:srgbClr val="FFFDF9"/>
                    </a:solidFill>
                  </a:tcPr>
                </a:tc>
              </a:tr>
              <a:tr h="472440">
                <a:tc>
                  <a:txBody>
                    <a:bodyPr/>
                    <a:lstStyle/>
                    <a:p>
                      <a:pPr algn="l">
                        <a:defRPr sz="1050" b="0">
                          <a:solidFill>
                            <a:srgbClr val="37332C"/>
                          </a:solidFill>
                          <a:latin typeface="Segoe UI"/>
                        </a:defRPr>
                      </a:pPr>
                      <a:r>
                        <a:t>P0279</a:t>
                      </a:r>
                    </a:p>
                  </a:txBody>
                  <a:tcPr marT="38100" marB="38100">
                    <a:solidFill>
                      <a:srgbClr val="FFFDF9"/>
                    </a:solidFill>
                  </a:tcPr>
                </a:tc>
                <a:tc>
                  <a:txBody>
                    <a:bodyPr/>
                    <a:lstStyle/>
                    <a:p>
                      <a:pPr algn="r">
                        <a:defRPr sz="1050" b="0">
                          <a:solidFill>
                            <a:srgbClr val="37332C"/>
                          </a:solidFill>
                          <a:latin typeface="Segoe UI"/>
                        </a:defRPr>
                      </a:pPr>
                      <a:r>
                        <a:t>Electronics</a:t>
                      </a:r>
                    </a:p>
                  </a:txBody>
                  <a:tcPr marT="38100" marB="38100">
                    <a:solidFill>
                      <a:srgbClr val="FFFDF9"/>
                    </a:solidFill>
                  </a:tcPr>
                </a:tc>
                <a:tc>
                  <a:txBody>
                    <a:bodyPr/>
                    <a:lstStyle/>
                    <a:p>
                      <a:pPr algn="r">
                        <a:defRPr sz="1050" b="0">
                          <a:solidFill>
                            <a:srgbClr val="37332C"/>
                          </a:solidFill>
                          <a:latin typeface="Segoe UI"/>
                        </a:defRPr>
                      </a:pPr>
                      <a:r>
                        <a:t>C</a:t>
                      </a:r>
                    </a:p>
                  </a:txBody>
                  <a:tcPr marT="38100" marB="38100">
                    <a:solidFill>
                      <a:srgbClr val="FFFDF9"/>
                    </a:solidFill>
                  </a:tcPr>
                </a:tc>
                <a:tc>
                  <a:txBody>
                    <a:bodyPr/>
                    <a:lstStyle/>
                    <a:p>
                      <a:pPr algn="r">
                        <a:defRPr sz="1050" b="0">
                          <a:solidFill>
                            <a:srgbClr val="37332C"/>
                          </a:solidFill>
                          <a:latin typeface="Segoe UI"/>
                        </a:defRPr>
                      </a:pPr>
                      <a:r>
                        <a:t>C</a:t>
                      </a:r>
                    </a:p>
                  </a:txBody>
                  <a:tcPr marT="38100" marB="38100">
                    <a:solidFill>
                      <a:srgbClr val="FFFDF9"/>
                    </a:solidFill>
                  </a:tcPr>
                </a:tc>
                <a:tc>
                  <a:txBody>
                    <a:bodyPr/>
                    <a:lstStyle/>
                    <a:p>
                      <a:pPr algn="r">
                        <a:defRPr sz="1050" b="0">
                          <a:solidFill>
                            <a:srgbClr val="37332C"/>
                          </a:solidFill>
                          <a:latin typeface="Segoe UI"/>
                        </a:defRPr>
                      </a:pPr>
                      <a:r>
                        <a:t>95</a:t>
                      </a:r>
                    </a:p>
                  </a:txBody>
                  <a:tcPr marT="38100" marB="38100">
                    <a:solidFill>
                      <a:srgbClr val="FFFDF9"/>
                    </a:solidFill>
                  </a:tcPr>
                </a:tc>
                <a:tc>
                  <a:txBody>
                    <a:bodyPr/>
                    <a:lstStyle/>
                    <a:p>
                      <a:pPr algn="r">
                        <a:defRPr sz="1050" b="0">
                          <a:solidFill>
                            <a:srgbClr val="37332C"/>
                          </a:solidFill>
                          <a:latin typeface="Segoe UI"/>
                        </a:defRPr>
                      </a:pPr>
                      <a:r>
                        <a:t>2.97</a:t>
                      </a:r>
                    </a:p>
                  </a:txBody>
                  <a:tcPr marT="38100" marB="38100">
                    <a:solidFill>
                      <a:srgbClr val="FFFDF9"/>
                    </a:solidFill>
                  </a:tcPr>
                </a:tc>
                <a:tc>
                  <a:txBody>
                    <a:bodyPr/>
                    <a:lstStyle/>
                    <a:p>
                      <a:pPr algn="r">
                        <a:defRPr sz="1050" b="0">
                          <a:solidFill>
                            <a:srgbClr val="37332C"/>
                          </a:solidFill>
                          <a:latin typeface="Segoe UI"/>
                        </a:defRPr>
                      </a:pPr>
                      <a:r>
                        <a:t>43</a:t>
                      </a:r>
                    </a:p>
                  </a:txBody>
                  <a:tcPr marT="38100" marB="38100">
                    <a:solidFill>
                      <a:srgbClr val="FFFDF9"/>
                    </a:solidFill>
                  </a:tcPr>
                </a:tc>
                <a:tc>
                  <a:txBody>
                    <a:bodyPr/>
                    <a:lstStyle/>
                    <a:p>
                      <a:pPr algn="r">
                        <a:defRPr sz="1050" b="0">
                          <a:solidFill>
                            <a:srgbClr val="37332C"/>
                          </a:solidFill>
                          <a:latin typeface="Segoe UI"/>
                        </a:defRPr>
                      </a:pPr>
                      <a:r>
                        <a:t>High Risk</a:t>
                      </a:r>
                    </a:p>
                  </a:txBody>
                  <a:tcPr marT="38100" marB="38100">
                    <a:solidFill>
                      <a:srgbClr val="FFFDF9"/>
                    </a:solidFill>
                  </a:tcPr>
                </a:tc>
              </a:tr>
              <a:tr h="472440">
                <a:tc>
                  <a:txBody>
                    <a:bodyPr/>
                    <a:lstStyle/>
                    <a:p>
                      <a:pPr algn="l">
                        <a:defRPr sz="1050" b="0">
                          <a:solidFill>
                            <a:srgbClr val="37332C"/>
                          </a:solidFill>
                          <a:latin typeface="Segoe UI"/>
                        </a:defRPr>
                      </a:pPr>
                      <a:r>
                        <a:t>P0139</a:t>
                      </a:r>
                    </a:p>
                  </a:txBody>
                  <a:tcPr marT="38100" marB="38100">
                    <a:solidFill>
                      <a:srgbClr val="FFFDF9"/>
                    </a:solidFill>
                  </a:tcPr>
                </a:tc>
                <a:tc>
                  <a:txBody>
                    <a:bodyPr/>
                    <a:lstStyle/>
                    <a:p>
                      <a:pPr algn="r">
                        <a:defRPr sz="1050" b="0">
                          <a:solidFill>
                            <a:srgbClr val="37332C"/>
                          </a:solidFill>
                          <a:latin typeface="Segoe UI"/>
                        </a:defRPr>
                      </a:pPr>
                      <a:r>
                        <a:t>Health &amp; Beauty</a:t>
                      </a:r>
                    </a:p>
                  </a:txBody>
                  <a:tcPr marT="38100" marB="38100">
                    <a:solidFill>
                      <a:srgbClr val="FFFDF9"/>
                    </a:solidFill>
                  </a:tcPr>
                </a:tc>
                <a:tc>
                  <a:txBody>
                    <a:bodyPr/>
                    <a:lstStyle/>
                    <a:p>
                      <a:pPr algn="r">
                        <a:defRPr sz="1050" b="0">
                          <a:solidFill>
                            <a:srgbClr val="37332C"/>
                          </a:solidFill>
                          <a:latin typeface="Segoe UI"/>
                        </a:defRPr>
                      </a:pPr>
                      <a:r>
                        <a:t>C</a:t>
                      </a:r>
                    </a:p>
                  </a:txBody>
                  <a:tcPr marT="38100" marB="38100">
                    <a:solidFill>
                      <a:srgbClr val="FFFDF9"/>
                    </a:solidFill>
                  </a:tcPr>
                </a:tc>
                <a:tc>
                  <a:txBody>
                    <a:bodyPr/>
                    <a:lstStyle/>
                    <a:p>
                      <a:pPr algn="r">
                        <a:defRPr sz="1050" b="0">
                          <a:solidFill>
                            <a:srgbClr val="37332C"/>
                          </a:solidFill>
                          <a:latin typeface="Segoe UI"/>
                        </a:defRPr>
                      </a:pPr>
                      <a:r>
                        <a:t>C</a:t>
                      </a:r>
                    </a:p>
                  </a:txBody>
                  <a:tcPr marT="38100" marB="38100">
                    <a:solidFill>
                      <a:srgbClr val="FFFDF9"/>
                    </a:solidFill>
                  </a:tcPr>
                </a:tc>
                <a:tc>
                  <a:txBody>
                    <a:bodyPr/>
                    <a:lstStyle/>
                    <a:p>
                      <a:pPr algn="r">
                        <a:defRPr sz="1050" b="0">
                          <a:solidFill>
                            <a:srgbClr val="37332C"/>
                          </a:solidFill>
                          <a:latin typeface="Segoe UI"/>
                        </a:defRPr>
                      </a:pPr>
                      <a:r>
                        <a:t>90</a:t>
                      </a:r>
                    </a:p>
                  </a:txBody>
                  <a:tcPr marT="38100" marB="38100">
                    <a:solidFill>
                      <a:srgbClr val="FFFDF9"/>
                    </a:solidFill>
                  </a:tcPr>
                </a:tc>
                <a:tc>
                  <a:txBody>
                    <a:bodyPr/>
                    <a:lstStyle/>
                    <a:p>
                      <a:pPr algn="r">
                        <a:defRPr sz="1050" b="0">
                          <a:solidFill>
                            <a:srgbClr val="37332C"/>
                          </a:solidFill>
                          <a:latin typeface="Segoe UI"/>
                        </a:defRPr>
                      </a:pPr>
                      <a:r>
                        <a:t>9.93</a:t>
                      </a:r>
                    </a:p>
                  </a:txBody>
                  <a:tcPr marT="38100" marB="38100">
                    <a:solidFill>
                      <a:srgbClr val="FFFDF9"/>
                    </a:solidFill>
                  </a:tcPr>
                </a:tc>
                <a:tc>
                  <a:txBody>
                    <a:bodyPr/>
                    <a:lstStyle/>
                    <a:p>
                      <a:pPr algn="r">
                        <a:defRPr sz="1050" b="0">
                          <a:solidFill>
                            <a:srgbClr val="37332C"/>
                          </a:solidFill>
                          <a:latin typeface="Segoe UI"/>
                        </a:defRPr>
                      </a:pPr>
                      <a:r>
                        <a:t>45</a:t>
                      </a:r>
                    </a:p>
                  </a:txBody>
                  <a:tcPr marT="38100" marB="38100">
                    <a:solidFill>
                      <a:srgbClr val="FFFDF9"/>
                    </a:solidFill>
                  </a:tcPr>
                </a:tc>
                <a:tc>
                  <a:txBody>
                    <a:bodyPr/>
                    <a:lstStyle/>
                    <a:p>
                      <a:pPr algn="r">
                        <a:defRPr sz="1050" b="0">
                          <a:solidFill>
                            <a:srgbClr val="37332C"/>
                          </a:solidFill>
                          <a:latin typeface="Segoe UI"/>
                        </a:defRPr>
                      </a:pPr>
                      <a:r>
                        <a:t>High Risk</a:t>
                      </a:r>
                    </a:p>
                  </a:txBody>
                  <a:tcPr marT="38100" marB="38100">
                    <a:solidFill>
                      <a:srgbClr val="FFFDF9"/>
                    </a:solidFill>
                  </a:tcPr>
                </a:tc>
              </a:tr>
              <a:tr h="472440">
                <a:tc>
                  <a:txBody>
                    <a:bodyPr/>
                    <a:lstStyle/>
                    <a:p>
                      <a:pPr algn="l">
                        <a:defRPr sz="1050" b="0">
                          <a:solidFill>
                            <a:srgbClr val="37332C"/>
                          </a:solidFill>
                          <a:latin typeface="Segoe UI"/>
                        </a:defRPr>
                      </a:pPr>
                      <a:r>
                        <a:t>P0150</a:t>
                      </a:r>
                    </a:p>
                  </a:txBody>
                  <a:tcPr marT="38100" marB="38100">
                    <a:solidFill>
                      <a:srgbClr val="FFFDF9"/>
                    </a:solidFill>
                  </a:tcPr>
                </a:tc>
                <a:tc>
                  <a:txBody>
                    <a:bodyPr/>
                    <a:lstStyle/>
                    <a:p>
                      <a:pPr algn="r">
                        <a:defRPr sz="1050" b="0">
                          <a:solidFill>
                            <a:srgbClr val="37332C"/>
                          </a:solidFill>
                          <a:latin typeface="Segoe UI"/>
                        </a:defRPr>
                      </a:pPr>
                      <a:r>
                        <a:t>Books &amp; Media</a:t>
                      </a:r>
                    </a:p>
                  </a:txBody>
                  <a:tcPr marT="38100" marB="38100">
                    <a:solidFill>
                      <a:srgbClr val="FFFDF9"/>
                    </a:solidFill>
                  </a:tcPr>
                </a:tc>
                <a:tc>
                  <a:txBody>
                    <a:bodyPr/>
                    <a:lstStyle/>
                    <a:p>
                      <a:pPr algn="r">
                        <a:defRPr sz="1050" b="0">
                          <a:solidFill>
                            <a:srgbClr val="37332C"/>
                          </a:solidFill>
                          <a:latin typeface="Segoe UI"/>
                        </a:defRPr>
                      </a:pPr>
                      <a:r>
                        <a:t>C</a:t>
                      </a:r>
                    </a:p>
                  </a:txBody>
                  <a:tcPr marT="38100" marB="38100">
                    <a:solidFill>
                      <a:srgbClr val="FFFDF9"/>
                    </a:solidFill>
                  </a:tcPr>
                </a:tc>
                <a:tc>
                  <a:txBody>
                    <a:bodyPr/>
                    <a:lstStyle/>
                    <a:p>
                      <a:pPr algn="r">
                        <a:defRPr sz="1050" b="0">
                          <a:solidFill>
                            <a:srgbClr val="37332C"/>
                          </a:solidFill>
                          <a:latin typeface="Segoe UI"/>
                        </a:defRPr>
                      </a:pPr>
                      <a:r>
                        <a:t>C</a:t>
                      </a:r>
                    </a:p>
                  </a:txBody>
                  <a:tcPr marT="38100" marB="38100">
                    <a:solidFill>
                      <a:srgbClr val="FFFDF9"/>
                    </a:solidFill>
                  </a:tcPr>
                </a:tc>
                <a:tc>
                  <a:txBody>
                    <a:bodyPr/>
                    <a:lstStyle/>
                    <a:p>
                      <a:pPr algn="r">
                        <a:defRPr sz="1050" b="0">
                          <a:solidFill>
                            <a:srgbClr val="37332C"/>
                          </a:solidFill>
                          <a:latin typeface="Segoe UI"/>
                        </a:defRPr>
                      </a:pPr>
                      <a:r>
                        <a:t>90</a:t>
                      </a:r>
                    </a:p>
                  </a:txBody>
                  <a:tcPr marT="38100" marB="38100">
                    <a:solidFill>
                      <a:srgbClr val="FFFDF9"/>
                    </a:solidFill>
                  </a:tcPr>
                </a:tc>
                <a:tc>
                  <a:txBody>
                    <a:bodyPr/>
                    <a:lstStyle/>
                    <a:p>
                      <a:pPr algn="r">
                        <a:defRPr sz="1050" b="0">
                          <a:solidFill>
                            <a:srgbClr val="37332C"/>
                          </a:solidFill>
                          <a:latin typeface="Segoe UI"/>
                        </a:defRPr>
                      </a:pPr>
                      <a:r>
                        <a:t>22.68</a:t>
                      </a:r>
                    </a:p>
                  </a:txBody>
                  <a:tcPr marT="38100" marB="38100">
                    <a:solidFill>
                      <a:srgbClr val="FFFDF9"/>
                    </a:solidFill>
                  </a:tcPr>
                </a:tc>
                <a:tc>
                  <a:txBody>
                    <a:bodyPr/>
                    <a:lstStyle/>
                    <a:p>
                      <a:pPr algn="r">
                        <a:defRPr sz="1050" b="0">
                          <a:solidFill>
                            <a:srgbClr val="37332C"/>
                          </a:solidFill>
                          <a:latin typeface="Segoe UI"/>
                        </a:defRPr>
                      </a:pPr>
                      <a:r>
                        <a:t>45</a:t>
                      </a:r>
                    </a:p>
                  </a:txBody>
                  <a:tcPr marT="38100" marB="38100">
                    <a:solidFill>
                      <a:srgbClr val="FFFDF9"/>
                    </a:solidFill>
                  </a:tcPr>
                </a:tc>
                <a:tc>
                  <a:txBody>
                    <a:bodyPr/>
                    <a:lstStyle/>
                    <a:p>
                      <a:pPr algn="r">
                        <a:defRPr sz="1050" b="0">
                          <a:solidFill>
                            <a:srgbClr val="37332C"/>
                          </a:solidFill>
                          <a:latin typeface="Segoe UI"/>
                        </a:defRPr>
                      </a:pPr>
                      <a:r>
                        <a:t>High Risk</a:t>
                      </a:r>
                    </a:p>
                  </a:txBody>
                  <a:tcPr marT="38100" marB="38100">
                    <a:solidFill>
                      <a:srgbClr val="FFFDF9"/>
                    </a:solidFill>
                  </a:tcPr>
                </a:tc>
              </a:tr>
              <a:tr h="472440">
                <a:tc>
                  <a:txBody>
                    <a:bodyPr/>
                    <a:lstStyle/>
                    <a:p>
                      <a:pPr algn="l">
                        <a:defRPr sz="1050" b="0">
                          <a:solidFill>
                            <a:srgbClr val="37332C"/>
                          </a:solidFill>
                          <a:latin typeface="Segoe UI"/>
                        </a:defRPr>
                      </a:pPr>
                      <a:r>
                        <a:t>P0230</a:t>
                      </a:r>
                    </a:p>
                  </a:txBody>
                  <a:tcPr marT="38100" marB="38100">
                    <a:solidFill>
                      <a:srgbClr val="FFFDF9"/>
                    </a:solidFill>
                  </a:tcPr>
                </a:tc>
                <a:tc>
                  <a:txBody>
                    <a:bodyPr/>
                    <a:lstStyle/>
                    <a:p>
                      <a:pPr algn="r">
                        <a:defRPr sz="1050" b="0">
                          <a:solidFill>
                            <a:srgbClr val="37332C"/>
                          </a:solidFill>
                          <a:latin typeface="Segoe UI"/>
                        </a:defRPr>
                      </a:pPr>
                      <a:r>
                        <a:t>Automotive</a:t>
                      </a:r>
                    </a:p>
                  </a:txBody>
                  <a:tcPr marT="38100" marB="38100">
                    <a:solidFill>
                      <a:srgbClr val="FFFDF9"/>
                    </a:solidFill>
                  </a:tcPr>
                </a:tc>
                <a:tc>
                  <a:txBody>
                    <a:bodyPr/>
                    <a:lstStyle/>
                    <a:p>
                      <a:pPr algn="r">
                        <a:defRPr sz="1050" b="0">
                          <a:solidFill>
                            <a:srgbClr val="37332C"/>
                          </a:solidFill>
                          <a:latin typeface="Segoe UI"/>
                        </a:defRPr>
                      </a:pPr>
                      <a:r>
                        <a:t>C</a:t>
                      </a:r>
                    </a:p>
                  </a:txBody>
                  <a:tcPr marT="38100" marB="38100">
                    <a:solidFill>
                      <a:srgbClr val="FFFDF9"/>
                    </a:solidFill>
                  </a:tcPr>
                </a:tc>
                <a:tc>
                  <a:txBody>
                    <a:bodyPr/>
                    <a:lstStyle/>
                    <a:p>
                      <a:pPr algn="r">
                        <a:defRPr sz="1050" b="0">
                          <a:solidFill>
                            <a:srgbClr val="37332C"/>
                          </a:solidFill>
                          <a:latin typeface="Segoe UI"/>
                        </a:defRPr>
                      </a:pPr>
                      <a:r>
                        <a:t>C</a:t>
                      </a:r>
                    </a:p>
                  </a:txBody>
                  <a:tcPr marT="38100" marB="38100">
                    <a:solidFill>
                      <a:srgbClr val="FFFDF9"/>
                    </a:solidFill>
                  </a:tcPr>
                </a:tc>
                <a:tc>
                  <a:txBody>
                    <a:bodyPr/>
                    <a:lstStyle/>
                    <a:p>
                      <a:pPr algn="r">
                        <a:defRPr sz="1050" b="0">
                          <a:solidFill>
                            <a:srgbClr val="37332C"/>
                          </a:solidFill>
                          <a:latin typeface="Segoe UI"/>
                        </a:defRPr>
                      </a:pPr>
                      <a:r>
                        <a:t>90</a:t>
                      </a:r>
                    </a:p>
                  </a:txBody>
                  <a:tcPr marT="38100" marB="38100">
                    <a:solidFill>
                      <a:srgbClr val="FFFDF9"/>
                    </a:solidFill>
                  </a:tcPr>
                </a:tc>
                <a:tc>
                  <a:txBody>
                    <a:bodyPr/>
                    <a:lstStyle/>
                    <a:p>
                      <a:pPr algn="r">
                        <a:defRPr sz="1050" b="0">
                          <a:solidFill>
                            <a:srgbClr val="37332C"/>
                          </a:solidFill>
                          <a:latin typeface="Segoe UI"/>
                        </a:defRPr>
                      </a:pPr>
                      <a:r>
                        <a:t>20.29</a:t>
                      </a:r>
                    </a:p>
                  </a:txBody>
                  <a:tcPr marT="38100" marB="38100">
                    <a:solidFill>
                      <a:srgbClr val="FFFDF9"/>
                    </a:solidFill>
                  </a:tcPr>
                </a:tc>
                <a:tc>
                  <a:txBody>
                    <a:bodyPr/>
                    <a:lstStyle/>
                    <a:p>
                      <a:pPr algn="r">
                        <a:defRPr sz="1050" b="0">
                          <a:solidFill>
                            <a:srgbClr val="37332C"/>
                          </a:solidFill>
                          <a:latin typeface="Segoe UI"/>
                        </a:defRPr>
                      </a:pPr>
                      <a:r>
                        <a:t>45</a:t>
                      </a:r>
                    </a:p>
                  </a:txBody>
                  <a:tcPr marT="38100" marB="38100">
                    <a:solidFill>
                      <a:srgbClr val="FFFDF9"/>
                    </a:solidFill>
                  </a:tcPr>
                </a:tc>
                <a:tc>
                  <a:txBody>
                    <a:bodyPr/>
                    <a:lstStyle/>
                    <a:p>
                      <a:pPr algn="r">
                        <a:defRPr sz="1050" b="0">
                          <a:solidFill>
                            <a:srgbClr val="37332C"/>
                          </a:solidFill>
                          <a:latin typeface="Segoe UI"/>
                        </a:defRPr>
                      </a:pPr>
                      <a:r>
                        <a:t>High Risk</a:t>
                      </a:r>
                    </a:p>
                  </a:txBody>
                  <a:tcPr marT="38100" marB="38100">
                    <a:solidFill>
                      <a:srgbClr val="FFFDF9"/>
                    </a:solidFill>
                  </a:tcPr>
                </a:tc>
              </a:tr>
              <a:tr h="472440">
                <a:tc>
                  <a:txBody>
                    <a:bodyPr/>
                    <a:lstStyle/>
                    <a:p>
                      <a:pPr algn="l">
                        <a:defRPr sz="1050" b="0">
                          <a:solidFill>
                            <a:srgbClr val="37332C"/>
                          </a:solidFill>
                          <a:latin typeface="Segoe UI"/>
                        </a:defRPr>
                      </a:pPr>
                      <a:r>
                        <a:t>…</a:t>
                      </a:r>
                    </a:p>
                  </a:txBody>
                  <a:tcPr marT="38100" marB="38100">
                    <a:solidFill>
                      <a:srgbClr val="FFFDF9"/>
                    </a:solidFill>
                  </a:tcPr>
                </a:tc>
                <a:tc>
                  <a:txBody>
                    <a:bodyPr/>
                    <a:lstStyle/>
                    <a:p>
                      <a:pPr algn="r">
                        <a:defRPr sz="1050" b="0">
                          <a:solidFill>
                            <a:srgbClr val="37332C"/>
                          </a:solidFill>
                          <a:latin typeface="Segoe UI"/>
                        </a:defRPr>
                      </a:pPr>
                      <a:r>
                        <a:t>all 500 rows, live-sorted, filterable by Risk Category and ABC Class</a:t>
                      </a:r>
                    </a:p>
                  </a:txBody>
                  <a:tcPr marT="38100" marB="38100">
                    <a:solidFill>
                      <a:srgbClr val="FFFDF9"/>
                    </a:solidFill>
                  </a:tcPr>
                </a:tc>
                <a:tc>
                  <a:txBody>
                    <a:bodyPr/>
                    <a:lstStyle/>
                    <a:p>
                      <a:pPr algn="r">
                        <a:defRPr sz="1050" b="0">
                          <a:solidFill>
                            <a:srgbClr val="37332C"/>
                          </a:solidFill>
                          <a:latin typeface="Segoe UI"/>
                        </a:defRPr>
                      </a:pPr>
                    </a:p>
                  </a:txBody>
                  <a:tcPr marT="38100" marB="38100">
                    <a:solidFill>
                      <a:srgbClr val="FFFDF9"/>
                    </a:solidFill>
                  </a:tcPr>
                </a:tc>
                <a:tc>
                  <a:txBody>
                    <a:bodyPr/>
                    <a:lstStyle/>
                    <a:p>
                      <a:pPr algn="r">
                        <a:defRPr sz="1050" b="0">
                          <a:solidFill>
                            <a:srgbClr val="37332C"/>
                          </a:solidFill>
                          <a:latin typeface="Segoe UI"/>
                        </a:defRPr>
                      </a:pPr>
                    </a:p>
                  </a:txBody>
                  <a:tcPr marT="38100" marB="38100">
                    <a:solidFill>
                      <a:srgbClr val="FFFDF9"/>
                    </a:solidFill>
                  </a:tcPr>
                </a:tc>
                <a:tc>
                  <a:txBody>
                    <a:bodyPr/>
                    <a:lstStyle/>
                    <a:p>
                      <a:pPr algn="r">
                        <a:defRPr sz="1050" b="0">
                          <a:solidFill>
                            <a:srgbClr val="37332C"/>
                          </a:solidFill>
                          <a:latin typeface="Segoe UI"/>
                        </a:defRPr>
                      </a:pPr>
                    </a:p>
                  </a:txBody>
                  <a:tcPr marT="38100" marB="38100">
                    <a:solidFill>
                      <a:srgbClr val="FFFDF9"/>
                    </a:solidFill>
                  </a:tcPr>
                </a:tc>
                <a:tc>
                  <a:txBody>
                    <a:bodyPr/>
                    <a:lstStyle/>
                    <a:p>
                      <a:pPr algn="r">
                        <a:defRPr sz="1050" b="0">
                          <a:solidFill>
                            <a:srgbClr val="37332C"/>
                          </a:solidFill>
                          <a:latin typeface="Segoe UI"/>
                        </a:defRPr>
                      </a:pPr>
                    </a:p>
                  </a:txBody>
                  <a:tcPr marT="38100" marB="38100">
                    <a:solidFill>
                      <a:srgbClr val="FFFDF9"/>
                    </a:solidFill>
                  </a:tcPr>
                </a:tc>
                <a:tc>
                  <a:txBody>
                    <a:bodyPr/>
                    <a:lstStyle/>
                    <a:p>
                      <a:pPr algn="r">
                        <a:defRPr sz="1050" b="0">
                          <a:solidFill>
                            <a:srgbClr val="37332C"/>
                          </a:solidFill>
                          <a:latin typeface="Segoe UI"/>
                        </a:defRPr>
                      </a:pPr>
                    </a:p>
                  </a:txBody>
                  <a:tcPr marT="38100" marB="38100">
                    <a:solidFill>
                      <a:srgbClr val="FFFDF9"/>
                    </a:solidFill>
                  </a:tcPr>
                </a:tc>
                <a:tc>
                  <a:txBody>
                    <a:bodyPr/>
                    <a:lstStyle/>
                    <a:p>
                      <a:pPr algn="r">
                        <a:defRPr sz="1050" b="0">
                          <a:solidFill>
                            <a:srgbClr val="37332C"/>
                          </a:solidFill>
                          <a:latin typeface="Segoe UI"/>
                        </a:defRPr>
                      </a:pPr>
                    </a:p>
                  </a:txBody>
                  <a:tcPr marT="38100" marB="38100">
                    <a:solidFill>
                      <a:srgbClr val="FFFDF9"/>
                    </a:solidFill>
                  </a:tcPr>
                </a:tc>
              </a:tr>
            </a:tbl>
          </a:graphicData>
        </a:graphic>
      </p:graphicFrame>
      <p:sp>
        <p:nvSpPr>
          <p:cNvPr id="28" name="TextBox 27"/>
          <p:cNvSpPr txBox="1"/>
          <p:nvPr/>
        </p:nvSpPr>
        <p:spPr>
          <a:xfrm>
            <a:off x="548640" y="6355080"/>
            <a:ext cx="11064240" cy="365760"/>
          </a:xfrm>
          <a:prstGeom prst="rect">
            <a:avLst/>
          </a:prstGeom>
          <a:noFill/>
        </p:spPr>
        <p:txBody>
          <a:bodyPr wrap="square" lIns="0" rIns="0" tIns="0" bIns="0">
            <a:spAutoFit/>
          </a:bodyPr>
          <a:lstStyle/>
          <a:p>
            <a:pPr algn="l"/>
            <a:r>
              <a:rPr sz="1000" b="0" i="1">
                <a:solidFill>
                  <a:srgbClr val="6B6459"/>
                </a:solidFill>
                <a:latin typeface="Segoe UI"/>
              </a:rPr>
              <a:t>Design choice: the table is sorted, not filtered to “High Risk only”, so the slicers stay in charge and dropping the threshold to Medium never hides a row that matters.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7F4EE"/>
        </a:solidFill>
        <a:effectLst/>
      </p:bgPr>
    </p:bg>
    <p:spTree>
      <p:nvGrpSpPr>
        <p:cNvPr id="1" name=""/>
        <p:cNvGrpSpPr/>
        <p:nvPr/>
      </p:nvGrpSpPr>
      <p:grpSpPr/>
      <p:sp>
        <p:nvSpPr>
          <p:cNvPr id="2" name="Rectangle 1"/>
          <p:cNvSpPr/>
          <p:nvPr/>
        </p:nvSpPr>
        <p:spPr>
          <a:xfrm>
            <a:off x="548640" y="384048"/>
            <a:ext cx="384048" cy="274320"/>
          </a:xfrm>
          <a:prstGeom prst="rect">
            <a:avLst/>
          </a:prstGeom>
          <a:solidFill>
            <a:srgbClr val="C96A1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wrap="none"/>
          <a:lstStyle/>
          <a:p>
            <a:pPr algn="ctr"/>
            <a:r>
              <a:rPr sz="1200" b="1">
                <a:solidFill>
                  <a:srgbClr val="FFFFFF"/>
                </a:solidFill>
                <a:latin typeface="Segoe UI"/>
              </a:rPr>
              <a:t>06</a:t>
            </a:r>
          </a:p>
        </p:txBody>
      </p:sp>
      <p:sp>
        <p:nvSpPr>
          <p:cNvPr id="3" name="TextBox 2"/>
          <p:cNvSpPr txBox="1"/>
          <p:nvPr/>
        </p:nvSpPr>
        <p:spPr>
          <a:xfrm>
            <a:off x="1051560" y="384048"/>
            <a:ext cx="7315200" cy="292608"/>
          </a:xfrm>
          <a:prstGeom prst="rect">
            <a:avLst/>
          </a:prstGeom>
          <a:noFill/>
        </p:spPr>
        <p:txBody>
          <a:bodyPr wrap="square" anchor="ctr" lIns="0" rIns="0" tIns="0" bIns="0">
            <a:spAutoFit/>
          </a:bodyPr>
          <a:lstStyle/>
          <a:p>
            <a:pPr algn="l"/>
            <a:r>
              <a:rPr sz="1150" b="1" i="0">
                <a:solidFill>
                  <a:srgbClr val="C96A17"/>
                </a:solidFill>
                <a:latin typeface="Segoe UI"/>
              </a:rPr>
              <a:t>REPORT PAGE 3 · INVENTORY HEALTH</a:t>
            </a:r>
          </a:p>
        </p:txBody>
      </p:sp>
      <p:sp>
        <p:nvSpPr>
          <p:cNvPr id="4" name="TextBox 3"/>
          <p:cNvSpPr txBox="1"/>
          <p:nvPr/>
        </p:nvSpPr>
        <p:spPr>
          <a:xfrm>
            <a:off x="548640" y="749808"/>
            <a:ext cx="10881360" cy="1005840"/>
          </a:xfrm>
          <a:prstGeom prst="rect">
            <a:avLst/>
          </a:prstGeom>
          <a:noFill/>
        </p:spPr>
        <p:txBody>
          <a:bodyPr wrap="square" lIns="0" rIns="0" tIns="0" bIns="0">
            <a:spAutoFit/>
          </a:bodyPr>
          <a:lstStyle/>
          <a:p>
            <a:pPr algn="l">
              <a:lnSpc>
                <a:spcPct val="102000"/>
              </a:lnSpc>
            </a:pPr>
            <a:r>
              <a:rPr sz="2700" b="1" i="0">
                <a:solidFill>
                  <a:srgbClr val="171512"/>
                </a:solidFill>
                <a:latin typeface="Segoe UI"/>
              </a:rPr>
              <a:t>What the risk is actually costing, and where the gaps sit.</a:t>
            </a:r>
          </a:p>
        </p:txBody>
      </p:sp>
      <p:sp>
        <p:nvSpPr>
          <p:cNvPr id="5" name="Rectangle 4"/>
          <p:cNvSpPr/>
          <p:nvPr/>
        </p:nvSpPr>
        <p:spPr>
          <a:xfrm>
            <a:off x="548640" y="1691640"/>
            <a:ext cx="4114800" cy="4114800"/>
          </a:xfrm>
          <a:prstGeom prst="rect">
            <a:avLst/>
          </a:prstGeom>
          <a:solidFill>
            <a:srgbClr val="FFFDF9"/>
          </a:solidFill>
          <a:ln w="9525">
            <a:solidFill>
              <a:srgbClr val="E4DDD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49808" y="1819656"/>
            <a:ext cx="3749039" cy="320040"/>
          </a:xfrm>
          <a:prstGeom prst="rect">
            <a:avLst/>
          </a:prstGeom>
          <a:noFill/>
        </p:spPr>
        <p:txBody>
          <a:bodyPr wrap="square" lIns="0" rIns="0" tIns="0" bIns="0">
            <a:spAutoFit/>
          </a:bodyPr>
          <a:lstStyle/>
          <a:p>
            <a:pPr algn="l"/>
            <a:r>
              <a:rPr sz="1300" b="1" i="0">
                <a:solidFill>
                  <a:srgbClr val="171512"/>
                </a:solidFill>
                <a:latin typeface="Segoe UI"/>
              </a:rPr>
              <a:t>Service Level vs. Target</a:t>
            </a:r>
          </a:p>
        </p:txBody>
      </p:sp>
      <p:graphicFrame>
        <p:nvGraphicFramePr>
          <p:cNvPr id="7" name="Chart 6"/>
          <p:cNvGraphicFramePr>
            <a:graphicFrameLocks noGrp="1"/>
          </p:cNvGraphicFramePr>
          <p:nvPr/>
        </p:nvGraphicFramePr>
        <p:xfrm>
          <a:off x="1554480" y="2377440"/>
          <a:ext cx="2103120" cy="2103120"/>
        </p:xfrm>
        <a:graphic>
          <a:graphicData uri="http://schemas.openxmlformats.org/drawingml/2006/chart">
            <c:chart xmlns:c="http://schemas.openxmlformats.org/drawingml/2006/chart" r:id="rId2"/>
          </a:graphicData>
        </a:graphic>
      </p:graphicFrame>
      <p:sp>
        <p:nvSpPr>
          <p:cNvPr id="8" name="TextBox 7"/>
          <p:cNvSpPr txBox="1"/>
          <p:nvPr/>
        </p:nvSpPr>
        <p:spPr>
          <a:xfrm>
            <a:off x="1554480" y="3134563"/>
            <a:ext cx="2103120" cy="630936"/>
          </a:xfrm>
          <a:prstGeom prst="rect">
            <a:avLst/>
          </a:prstGeom>
          <a:noFill/>
        </p:spPr>
        <p:txBody>
          <a:bodyPr wrap="square" lIns="0" rIns="0" tIns="0" bIns="0">
            <a:spAutoFit/>
          </a:bodyPr>
          <a:lstStyle/>
          <a:p>
            <a:pPr algn="ctr"/>
            <a:r>
              <a:rPr sz="2600" b="1" i="0">
                <a:solidFill>
                  <a:srgbClr val="171512"/>
                </a:solidFill>
                <a:latin typeface="Segoe UI"/>
              </a:rPr>
              <a:t>85.2</a:t>
            </a:r>
          </a:p>
        </p:txBody>
      </p:sp>
      <p:sp>
        <p:nvSpPr>
          <p:cNvPr id="9" name="TextBox 8"/>
          <p:cNvSpPr txBox="1"/>
          <p:nvPr/>
        </p:nvSpPr>
        <p:spPr>
          <a:xfrm>
            <a:off x="1554480" y="4480560"/>
            <a:ext cx="2103120" cy="274320"/>
          </a:xfrm>
          <a:prstGeom prst="rect">
            <a:avLst/>
          </a:prstGeom>
          <a:noFill/>
        </p:spPr>
        <p:txBody>
          <a:bodyPr wrap="square" lIns="0" rIns="0" tIns="0" bIns="0">
            <a:spAutoFit/>
          </a:bodyPr>
          <a:lstStyle/>
          <a:p>
            <a:pPr algn="ctr"/>
            <a:r>
              <a:rPr sz="1000" b="0" i="0">
                <a:solidFill>
                  <a:srgbClr val="6B6459"/>
                </a:solidFill>
                <a:latin typeface="Segoe UI"/>
              </a:rPr>
              <a:t>against a target of 98.0</a:t>
            </a:r>
          </a:p>
        </p:txBody>
      </p:sp>
      <p:sp>
        <p:nvSpPr>
          <p:cNvPr id="10" name="Rectangle 9"/>
          <p:cNvSpPr/>
          <p:nvPr/>
        </p:nvSpPr>
        <p:spPr>
          <a:xfrm>
            <a:off x="4892040" y="1691640"/>
            <a:ext cx="3296412" cy="868680"/>
          </a:xfrm>
          <a:prstGeom prst="rect">
            <a:avLst/>
          </a:prstGeom>
          <a:solidFill>
            <a:srgbClr val="FFFDF9"/>
          </a:solidFill>
          <a:ln w="9525">
            <a:solidFill>
              <a:srgbClr val="E4DDD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4892040" y="1691640"/>
            <a:ext cx="41148" cy="868680"/>
          </a:xfrm>
          <a:prstGeom prst="rect">
            <a:avLst/>
          </a:prstGeom>
          <a:solidFill>
            <a:srgbClr val="C96A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038344" y="1783080"/>
            <a:ext cx="3040380" cy="477773"/>
          </a:xfrm>
          <a:prstGeom prst="rect">
            <a:avLst/>
          </a:prstGeom>
          <a:noFill/>
        </p:spPr>
        <p:txBody>
          <a:bodyPr wrap="square" lIns="0" rIns="0" tIns="0" bIns="0">
            <a:spAutoFit/>
          </a:bodyPr>
          <a:lstStyle/>
          <a:p>
            <a:pPr algn="l"/>
            <a:r>
              <a:rPr sz="2200" b="1" i="0">
                <a:solidFill>
                  <a:srgbClr val="171512"/>
                </a:solidFill>
                <a:latin typeface="Segoe UI"/>
              </a:rPr>
              <a:t>$78M</a:t>
            </a:r>
          </a:p>
        </p:txBody>
      </p:sp>
      <p:sp>
        <p:nvSpPr>
          <p:cNvPr id="13" name="TextBox 12"/>
          <p:cNvSpPr txBox="1"/>
          <p:nvPr/>
        </p:nvSpPr>
        <p:spPr>
          <a:xfrm>
            <a:off x="5038344" y="2212848"/>
            <a:ext cx="3040380" cy="304037"/>
          </a:xfrm>
          <a:prstGeom prst="rect">
            <a:avLst/>
          </a:prstGeom>
          <a:noFill/>
        </p:spPr>
        <p:txBody>
          <a:bodyPr wrap="square" lIns="0" rIns="0" tIns="0" bIns="0">
            <a:spAutoFit/>
          </a:bodyPr>
          <a:lstStyle/>
          <a:p>
            <a:pPr algn="l"/>
            <a:r>
              <a:rPr sz="1000" b="0" i="0">
                <a:solidFill>
                  <a:srgbClr val="6B6459"/>
                </a:solidFill>
                <a:latin typeface="Segoe UI"/>
              </a:rPr>
              <a:t>Total Stock Value</a:t>
            </a:r>
          </a:p>
        </p:txBody>
      </p:sp>
      <p:sp>
        <p:nvSpPr>
          <p:cNvPr id="14" name="Rectangle 13"/>
          <p:cNvSpPr/>
          <p:nvPr/>
        </p:nvSpPr>
        <p:spPr>
          <a:xfrm>
            <a:off x="8316467" y="1691640"/>
            <a:ext cx="3296412" cy="868680"/>
          </a:xfrm>
          <a:prstGeom prst="rect">
            <a:avLst/>
          </a:prstGeom>
          <a:solidFill>
            <a:srgbClr val="FFFDF9"/>
          </a:solidFill>
          <a:ln w="9525">
            <a:solidFill>
              <a:srgbClr val="E4DDD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8316467" y="1691640"/>
            <a:ext cx="41148" cy="868680"/>
          </a:xfrm>
          <a:prstGeom prst="rect">
            <a:avLst/>
          </a:prstGeom>
          <a:solidFill>
            <a:srgbClr val="C96A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462772" y="1783080"/>
            <a:ext cx="3040380" cy="477773"/>
          </a:xfrm>
          <a:prstGeom prst="rect">
            <a:avLst/>
          </a:prstGeom>
          <a:noFill/>
        </p:spPr>
        <p:txBody>
          <a:bodyPr wrap="square" lIns="0" rIns="0" tIns="0" bIns="0">
            <a:spAutoFit/>
          </a:bodyPr>
          <a:lstStyle/>
          <a:p>
            <a:pPr algn="l"/>
            <a:r>
              <a:rPr sz="2200" b="1" i="0">
                <a:solidFill>
                  <a:srgbClr val="171512"/>
                </a:solidFill>
                <a:latin typeface="Segoe UI"/>
              </a:rPr>
              <a:t>16.5</a:t>
            </a:r>
          </a:p>
        </p:txBody>
      </p:sp>
      <p:sp>
        <p:nvSpPr>
          <p:cNvPr id="17" name="TextBox 16"/>
          <p:cNvSpPr txBox="1"/>
          <p:nvPr/>
        </p:nvSpPr>
        <p:spPr>
          <a:xfrm>
            <a:off x="8462772" y="2212848"/>
            <a:ext cx="3040380" cy="304037"/>
          </a:xfrm>
          <a:prstGeom prst="rect">
            <a:avLst/>
          </a:prstGeom>
          <a:noFill/>
        </p:spPr>
        <p:txBody>
          <a:bodyPr wrap="square" lIns="0" rIns="0" tIns="0" bIns="0">
            <a:spAutoFit/>
          </a:bodyPr>
          <a:lstStyle/>
          <a:p>
            <a:pPr algn="l"/>
            <a:r>
              <a:rPr sz="1000" b="0" i="0">
                <a:solidFill>
                  <a:srgbClr val="6B6459"/>
                </a:solidFill>
                <a:latin typeface="Segoe UI"/>
              </a:rPr>
              <a:t>Avg Turnover Rate</a:t>
            </a:r>
          </a:p>
        </p:txBody>
      </p:sp>
      <p:sp>
        <p:nvSpPr>
          <p:cNvPr id="18" name="Rectangle 17"/>
          <p:cNvSpPr/>
          <p:nvPr/>
        </p:nvSpPr>
        <p:spPr>
          <a:xfrm>
            <a:off x="4892040" y="2697480"/>
            <a:ext cx="3296412" cy="868680"/>
          </a:xfrm>
          <a:prstGeom prst="rect">
            <a:avLst/>
          </a:prstGeom>
          <a:solidFill>
            <a:srgbClr val="FFFDF9"/>
          </a:solidFill>
          <a:ln w="9525">
            <a:solidFill>
              <a:srgbClr val="E4DDD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4892040" y="2697480"/>
            <a:ext cx="41148" cy="868680"/>
          </a:xfrm>
          <a:prstGeom prst="rect">
            <a:avLst/>
          </a:prstGeom>
          <a:solidFill>
            <a:srgbClr val="C96A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038344" y="2788920"/>
            <a:ext cx="3040380" cy="477773"/>
          </a:xfrm>
          <a:prstGeom prst="rect">
            <a:avLst/>
          </a:prstGeom>
          <a:noFill/>
        </p:spPr>
        <p:txBody>
          <a:bodyPr wrap="square" lIns="0" rIns="0" tIns="0" bIns="0">
            <a:spAutoFit/>
          </a:bodyPr>
          <a:lstStyle/>
          <a:p>
            <a:pPr algn="l"/>
            <a:r>
              <a:rPr sz="2200" b="1" i="0">
                <a:solidFill>
                  <a:srgbClr val="171512"/>
                </a:solidFill>
                <a:latin typeface="Segoe UI"/>
              </a:rPr>
              <a:t>8,345</a:t>
            </a:r>
          </a:p>
        </p:txBody>
      </p:sp>
      <p:sp>
        <p:nvSpPr>
          <p:cNvPr id="21" name="TextBox 20"/>
          <p:cNvSpPr txBox="1"/>
          <p:nvPr/>
        </p:nvSpPr>
        <p:spPr>
          <a:xfrm>
            <a:off x="5038344" y="3218688"/>
            <a:ext cx="3040380" cy="304037"/>
          </a:xfrm>
          <a:prstGeom prst="rect">
            <a:avLst/>
          </a:prstGeom>
          <a:noFill/>
        </p:spPr>
        <p:txBody>
          <a:bodyPr wrap="square" lIns="0" rIns="0" tIns="0" bIns="0">
            <a:spAutoFit/>
          </a:bodyPr>
          <a:lstStyle/>
          <a:p>
            <a:pPr algn="l"/>
            <a:r>
              <a:rPr sz="1000" b="0" i="0">
                <a:solidFill>
                  <a:srgbClr val="6B6459"/>
                </a:solidFill>
                <a:latin typeface="Segoe UI"/>
              </a:rPr>
              <a:t>Storage Space (sq ft)</a:t>
            </a:r>
          </a:p>
        </p:txBody>
      </p:sp>
      <p:sp>
        <p:nvSpPr>
          <p:cNvPr id="22" name="Rectangle 21"/>
          <p:cNvSpPr/>
          <p:nvPr/>
        </p:nvSpPr>
        <p:spPr>
          <a:xfrm>
            <a:off x="8316467" y="2697480"/>
            <a:ext cx="3296412" cy="868680"/>
          </a:xfrm>
          <a:prstGeom prst="rect">
            <a:avLst/>
          </a:prstGeom>
          <a:solidFill>
            <a:srgbClr val="FFFDF9"/>
          </a:solidFill>
          <a:ln w="9525">
            <a:solidFill>
              <a:srgbClr val="E4DDD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8316467" y="2697480"/>
            <a:ext cx="41148" cy="868680"/>
          </a:xfrm>
          <a:prstGeom prst="rect">
            <a:avLst/>
          </a:prstGeom>
          <a:solidFill>
            <a:srgbClr val="C96A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8462772" y="2788920"/>
            <a:ext cx="3040380" cy="477773"/>
          </a:xfrm>
          <a:prstGeom prst="rect">
            <a:avLst/>
          </a:prstGeom>
          <a:noFill/>
        </p:spPr>
        <p:txBody>
          <a:bodyPr wrap="square" lIns="0" rIns="0" tIns="0" bIns="0">
            <a:spAutoFit/>
          </a:bodyPr>
          <a:lstStyle/>
          <a:p>
            <a:pPr algn="l"/>
            <a:r>
              <a:rPr sz="2200" b="1" i="0">
                <a:solidFill>
                  <a:srgbClr val="171512"/>
                </a:solidFill>
                <a:latin typeface="Segoe UI"/>
              </a:rPr>
              <a:t>25.1</a:t>
            </a:r>
          </a:p>
        </p:txBody>
      </p:sp>
      <p:sp>
        <p:nvSpPr>
          <p:cNvPr id="25" name="TextBox 24"/>
          <p:cNvSpPr txBox="1"/>
          <p:nvPr/>
        </p:nvSpPr>
        <p:spPr>
          <a:xfrm>
            <a:off x="8462772" y="3218688"/>
            <a:ext cx="3040380" cy="304037"/>
          </a:xfrm>
          <a:prstGeom prst="rect">
            <a:avLst/>
          </a:prstGeom>
          <a:noFill/>
        </p:spPr>
        <p:txBody>
          <a:bodyPr wrap="square" lIns="0" rIns="0" tIns="0" bIns="0">
            <a:spAutoFit/>
          </a:bodyPr>
          <a:lstStyle/>
          <a:p>
            <a:pPr algn="l"/>
            <a:r>
              <a:rPr sz="1000" b="0" i="0">
                <a:solidFill>
                  <a:srgbClr val="6B6459"/>
                </a:solidFill>
                <a:latin typeface="Segoe UI"/>
              </a:rPr>
              <a:t>Avg Holding Cost %</a:t>
            </a:r>
          </a:p>
        </p:txBody>
      </p:sp>
      <p:sp>
        <p:nvSpPr>
          <p:cNvPr id="26" name="TextBox 25"/>
          <p:cNvSpPr txBox="1"/>
          <p:nvPr/>
        </p:nvSpPr>
        <p:spPr>
          <a:xfrm>
            <a:off x="4892040" y="3840480"/>
            <a:ext cx="6720840" cy="1828800"/>
          </a:xfrm>
          <a:prstGeom prst="rect">
            <a:avLst/>
          </a:prstGeom>
          <a:noFill/>
        </p:spPr>
        <p:txBody>
          <a:bodyPr wrap="square" lIns="0" rIns="0" tIns="0" bIns="0">
            <a:spAutoFit/>
          </a:bodyPr>
          <a:lstStyle/>
          <a:p>
            <a:pPr algn="l">
              <a:lnSpc>
                <a:spcPct val="125000"/>
              </a:lnSpc>
            </a:pPr>
            <a:r>
              <a:rPr sz="1350" b="0" i="0">
                <a:solidFill>
                  <a:srgbClr val="37332C"/>
                </a:solidFill>
                <a:latin typeface="Segoe UI"/>
              </a:rPr>
              <a:t>Two drill-down tables sit below these cards: Below Reorder Point, sorted by how far under the trigger a product is, and Excess Inventory, sorted by stock coverage days – the two ends of the same problem, one page apart.</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7F4EE"/>
        </a:solidFill>
        <a:effectLst/>
      </p:bgPr>
    </p:bg>
    <p:spTree>
      <p:nvGrpSpPr>
        <p:cNvPr id="1" name=""/>
        <p:cNvGrpSpPr/>
        <p:nvPr/>
      </p:nvGrpSpPr>
      <p:grpSpPr/>
      <p:sp>
        <p:nvSpPr>
          <p:cNvPr id="2" name="Rectangle 1"/>
          <p:cNvSpPr/>
          <p:nvPr/>
        </p:nvSpPr>
        <p:spPr>
          <a:xfrm>
            <a:off x="548640" y="384048"/>
            <a:ext cx="384048" cy="274320"/>
          </a:xfrm>
          <a:prstGeom prst="rect">
            <a:avLst/>
          </a:prstGeom>
          <a:solidFill>
            <a:srgbClr val="C96A1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wrap="none"/>
          <a:lstStyle/>
          <a:p>
            <a:pPr algn="ctr"/>
            <a:r>
              <a:rPr sz="1200" b="1">
                <a:solidFill>
                  <a:srgbClr val="FFFFFF"/>
                </a:solidFill>
                <a:latin typeface="Segoe UI"/>
              </a:rPr>
              <a:t>07</a:t>
            </a:r>
          </a:p>
        </p:txBody>
      </p:sp>
      <p:sp>
        <p:nvSpPr>
          <p:cNvPr id="3" name="TextBox 2"/>
          <p:cNvSpPr txBox="1"/>
          <p:nvPr/>
        </p:nvSpPr>
        <p:spPr>
          <a:xfrm>
            <a:off x="1051560" y="384048"/>
            <a:ext cx="7315200" cy="292608"/>
          </a:xfrm>
          <a:prstGeom prst="rect">
            <a:avLst/>
          </a:prstGeom>
          <a:noFill/>
        </p:spPr>
        <p:txBody>
          <a:bodyPr wrap="square" anchor="ctr" lIns="0" rIns="0" tIns="0" bIns="0">
            <a:spAutoFit/>
          </a:bodyPr>
          <a:lstStyle/>
          <a:p>
            <a:pPr algn="l"/>
            <a:r>
              <a:rPr sz="1150" b="1" i="0">
                <a:solidFill>
                  <a:srgbClr val="C96A17"/>
                </a:solidFill>
                <a:latin typeface="Segoe UI"/>
              </a:rPr>
              <a:t>REPORT PAGE 4 · SUPPLIER &amp; DEMAND INSIGHTS</a:t>
            </a:r>
          </a:p>
        </p:txBody>
      </p:sp>
      <p:sp>
        <p:nvSpPr>
          <p:cNvPr id="4" name="TextBox 3"/>
          <p:cNvSpPr txBox="1"/>
          <p:nvPr/>
        </p:nvSpPr>
        <p:spPr>
          <a:xfrm>
            <a:off x="548640" y="749808"/>
            <a:ext cx="10881360" cy="1005840"/>
          </a:xfrm>
          <a:prstGeom prst="rect">
            <a:avLst/>
          </a:prstGeom>
          <a:noFill/>
        </p:spPr>
        <p:txBody>
          <a:bodyPr wrap="square" lIns="0" rIns="0" tIns="0" bIns="0">
            <a:spAutoFit/>
          </a:bodyPr>
          <a:lstStyle/>
          <a:p>
            <a:pPr algn="l">
              <a:lnSpc>
                <a:spcPct val="102000"/>
              </a:lnSpc>
            </a:pPr>
            <a:r>
              <a:rPr sz="2400" b="1" i="0">
                <a:solidFill>
                  <a:srgbClr val="171512"/>
                </a:solidFill>
                <a:latin typeface="Segoe UI"/>
              </a:rPr>
              <a:t>Tracing risk back to its source: demand, and the supplier behind it.</a:t>
            </a:r>
          </a:p>
        </p:txBody>
      </p:sp>
      <p:sp>
        <p:nvSpPr>
          <p:cNvPr id="5" name="Rectangle 4"/>
          <p:cNvSpPr/>
          <p:nvPr/>
        </p:nvSpPr>
        <p:spPr>
          <a:xfrm>
            <a:off x="548640" y="1600200"/>
            <a:ext cx="3602736" cy="777240"/>
          </a:xfrm>
          <a:prstGeom prst="rect">
            <a:avLst/>
          </a:prstGeom>
          <a:solidFill>
            <a:srgbClr val="FFFDF9"/>
          </a:solidFill>
          <a:ln w="9525">
            <a:solidFill>
              <a:srgbClr val="E4DDD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48640" y="1600200"/>
            <a:ext cx="41148" cy="777240"/>
          </a:xfrm>
          <a:prstGeom prst="rect">
            <a:avLst/>
          </a:prstGeom>
          <a:solidFill>
            <a:srgbClr val="D03B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94944" y="1691640"/>
            <a:ext cx="3346704" cy="427482"/>
          </a:xfrm>
          <a:prstGeom prst="rect">
            <a:avLst/>
          </a:prstGeom>
          <a:noFill/>
        </p:spPr>
        <p:txBody>
          <a:bodyPr wrap="square" lIns="0" rIns="0" tIns="0" bIns="0">
            <a:spAutoFit/>
          </a:bodyPr>
          <a:lstStyle/>
          <a:p>
            <a:pPr algn="l"/>
            <a:r>
              <a:rPr sz="2200" b="1" i="0">
                <a:solidFill>
                  <a:srgbClr val="171512"/>
                </a:solidFill>
                <a:latin typeface="Segoe UI"/>
              </a:rPr>
              <a:t>245</a:t>
            </a:r>
          </a:p>
        </p:txBody>
      </p:sp>
      <p:sp>
        <p:nvSpPr>
          <p:cNvPr id="8" name="TextBox 7"/>
          <p:cNvSpPr txBox="1"/>
          <p:nvPr/>
        </p:nvSpPr>
        <p:spPr>
          <a:xfrm>
            <a:off x="694944" y="2066543"/>
            <a:ext cx="3346704" cy="272034"/>
          </a:xfrm>
          <a:prstGeom prst="rect">
            <a:avLst/>
          </a:prstGeom>
          <a:noFill/>
        </p:spPr>
        <p:txBody>
          <a:bodyPr wrap="square" lIns="0" rIns="0" tIns="0" bIns="0">
            <a:spAutoFit/>
          </a:bodyPr>
          <a:lstStyle/>
          <a:p>
            <a:pPr algn="l"/>
            <a:r>
              <a:rPr sz="1000" b="0" i="0">
                <a:solidFill>
                  <a:srgbClr val="6B6459"/>
                </a:solidFill>
                <a:latin typeface="Segoe UI"/>
              </a:rPr>
              <a:t>Root Cause Review SKUs (&gt;5 stockouts/yr)</a:t>
            </a:r>
          </a:p>
        </p:txBody>
      </p:sp>
      <p:sp>
        <p:nvSpPr>
          <p:cNvPr id="9" name="Rectangle 8"/>
          <p:cNvSpPr/>
          <p:nvPr/>
        </p:nvSpPr>
        <p:spPr>
          <a:xfrm>
            <a:off x="4279392" y="1600200"/>
            <a:ext cx="3602736" cy="777240"/>
          </a:xfrm>
          <a:prstGeom prst="rect">
            <a:avLst/>
          </a:prstGeom>
          <a:solidFill>
            <a:srgbClr val="FFFDF9"/>
          </a:solidFill>
          <a:ln w="9525">
            <a:solidFill>
              <a:srgbClr val="E4DDD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279392" y="1600200"/>
            <a:ext cx="41148" cy="777240"/>
          </a:xfrm>
          <a:prstGeom prst="rect">
            <a:avLst/>
          </a:prstGeom>
          <a:solidFill>
            <a:srgbClr val="D98C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425696" y="1691640"/>
            <a:ext cx="3346704" cy="427482"/>
          </a:xfrm>
          <a:prstGeom prst="rect">
            <a:avLst/>
          </a:prstGeom>
          <a:noFill/>
        </p:spPr>
        <p:txBody>
          <a:bodyPr wrap="square" lIns="0" rIns="0" tIns="0" bIns="0">
            <a:spAutoFit/>
          </a:bodyPr>
          <a:lstStyle/>
          <a:p>
            <a:pPr algn="l"/>
            <a:r>
              <a:rPr sz="2200" b="1" i="0">
                <a:solidFill>
                  <a:srgbClr val="171512"/>
                </a:solidFill>
                <a:latin typeface="Segoe UI"/>
              </a:rPr>
              <a:t>54</a:t>
            </a:r>
          </a:p>
        </p:txBody>
      </p:sp>
      <p:sp>
        <p:nvSpPr>
          <p:cNvPr id="12" name="TextBox 11"/>
          <p:cNvSpPr txBox="1"/>
          <p:nvPr/>
        </p:nvSpPr>
        <p:spPr>
          <a:xfrm>
            <a:off x="4425696" y="2066543"/>
            <a:ext cx="3346704" cy="272034"/>
          </a:xfrm>
          <a:prstGeom prst="rect">
            <a:avLst/>
          </a:prstGeom>
          <a:noFill/>
        </p:spPr>
        <p:txBody>
          <a:bodyPr wrap="square" lIns="0" rIns="0" tIns="0" bIns="0">
            <a:spAutoFit/>
          </a:bodyPr>
          <a:lstStyle/>
          <a:p>
            <a:pPr algn="l"/>
            <a:r>
              <a:rPr sz="1000" b="0" i="0">
                <a:solidFill>
                  <a:srgbClr val="6B6459"/>
                </a:solidFill>
                <a:latin typeface="Segoe UI"/>
              </a:rPr>
              <a:t>Secondary Supplier Candidates</a:t>
            </a:r>
          </a:p>
        </p:txBody>
      </p:sp>
      <p:sp>
        <p:nvSpPr>
          <p:cNvPr id="13" name="Rectangle 12"/>
          <p:cNvSpPr/>
          <p:nvPr/>
        </p:nvSpPr>
        <p:spPr>
          <a:xfrm>
            <a:off x="8010144" y="1600200"/>
            <a:ext cx="3602736" cy="777240"/>
          </a:xfrm>
          <a:prstGeom prst="rect">
            <a:avLst/>
          </a:prstGeom>
          <a:solidFill>
            <a:srgbClr val="FFFDF9"/>
          </a:solidFill>
          <a:ln w="9525">
            <a:solidFill>
              <a:srgbClr val="E4DDD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8010144" y="1600200"/>
            <a:ext cx="41148" cy="777240"/>
          </a:xfrm>
          <a:prstGeom prst="rect">
            <a:avLst/>
          </a:prstGeom>
          <a:solidFill>
            <a:srgbClr val="C96A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156448" y="1691640"/>
            <a:ext cx="3346704" cy="427482"/>
          </a:xfrm>
          <a:prstGeom prst="rect">
            <a:avLst/>
          </a:prstGeom>
          <a:noFill/>
        </p:spPr>
        <p:txBody>
          <a:bodyPr wrap="square" lIns="0" rIns="0" tIns="0" bIns="0">
            <a:spAutoFit/>
          </a:bodyPr>
          <a:lstStyle/>
          <a:p>
            <a:pPr algn="l"/>
            <a:r>
              <a:rPr sz="2200" b="1" i="0">
                <a:solidFill>
                  <a:srgbClr val="171512"/>
                </a:solidFill>
                <a:latin typeface="Segoe UI"/>
              </a:rPr>
              <a:t>22.9</a:t>
            </a:r>
          </a:p>
        </p:txBody>
      </p:sp>
      <p:sp>
        <p:nvSpPr>
          <p:cNvPr id="16" name="TextBox 15"/>
          <p:cNvSpPr txBox="1"/>
          <p:nvPr/>
        </p:nvSpPr>
        <p:spPr>
          <a:xfrm>
            <a:off x="8156448" y="2066543"/>
            <a:ext cx="3346704" cy="272034"/>
          </a:xfrm>
          <a:prstGeom prst="rect">
            <a:avLst/>
          </a:prstGeom>
          <a:noFill/>
        </p:spPr>
        <p:txBody>
          <a:bodyPr wrap="square" lIns="0" rIns="0" tIns="0" bIns="0">
            <a:spAutoFit/>
          </a:bodyPr>
          <a:lstStyle/>
          <a:p>
            <a:pPr algn="l"/>
            <a:r>
              <a:rPr sz="1000" b="0" i="0">
                <a:solidFill>
                  <a:srgbClr val="6B6459"/>
                </a:solidFill>
                <a:latin typeface="Segoe UI"/>
              </a:rPr>
              <a:t>Avg Lead Time (days)</a:t>
            </a:r>
          </a:p>
        </p:txBody>
      </p:sp>
      <p:sp>
        <p:nvSpPr>
          <p:cNvPr id="17" name="Rectangle 16"/>
          <p:cNvSpPr/>
          <p:nvPr/>
        </p:nvSpPr>
        <p:spPr>
          <a:xfrm>
            <a:off x="548640" y="2606040"/>
            <a:ext cx="11064240" cy="3703320"/>
          </a:xfrm>
          <a:prstGeom prst="rect">
            <a:avLst/>
          </a:prstGeom>
          <a:solidFill>
            <a:srgbClr val="FFFDF9"/>
          </a:solidFill>
          <a:ln w="9525">
            <a:solidFill>
              <a:srgbClr val="E4DDD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49808" y="2734056"/>
            <a:ext cx="10698480" cy="320040"/>
          </a:xfrm>
          <a:prstGeom prst="rect">
            <a:avLst/>
          </a:prstGeom>
          <a:noFill/>
        </p:spPr>
        <p:txBody>
          <a:bodyPr wrap="square" lIns="0" rIns="0" tIns="0" bIns="0">
            <a:spAutoFit/>
          </a:bodyPr>
          <a:lstStyle/>
          <a:p>
            <a:pPr algn="l"/>
            <a:r>
              <a:rPr sz="1300" b="1" i="0">
                <a:solidFill>
                  <a:srgbClr val="171512"/>
                </a:solidFill>
                <a:latin typeface="Segoe UI"/>
              </a:rPr>
              <a:t>Demand &amp; risk by category</a:t>
            </a:r>
          </a:p>
        </p:txBody>
      </p:sp>
      <p:graphicFrame>
        <p:nvGraphicFramePr>
          <p:cNvPr id="19" name="Table 18"/>
          <p:cNvGraphicFramePr>
            <a:graphicFrameLocks noGrp="1"/>
          </p:cNvGraphicFramePr>
          <p:nvPr/>
        </p:nvGraphicFramePr>
        <p:xfrm>
          <a:off x="749808" y="3200400"/>
          <a:ext cx="10661901" cy="2880360"/>
        </p:xfrm>
        <a:graphic>
          <a:graphicData uri="http://schemas.openxmlformats.org/drawingml/2006/table">
            <a:tbl>
              <a:tblPr firstRow="1" bandRow="0">
                <a:tableStyleId>{5C22544A-7EE6-4342-B048-85BDC9FD1C3A}</a:tableStyleId>
              </a:tblPr>
              <a:tblGrid>
                <a:gridCol w="4264761"/>
                <a:gridCol w="2132380"/>
                <a:gridCol w="2132380"/>
                <a:gridCol w="2132380"/>
              </a:tblGrid>
              <a:tr h="288036">
                <a:tc>
                  <a:txBody>
                    <a:bodyPr/>
                    <a:lstStyle/>
                    <a:p>
                      <a:pPr algn="l">
                        <a:defRPr sz="1050" b="1">
                          <a:solidFill>
                            <a:srgbClr val="6B6459"/>
                          </a:solidFill>
                          <a:latin typeface="Segoe UI"/>
                        </a:defRPr>
                      </a:pPr>
                      <a:r>
                        <a:t>Category</a:t>
                      </a:r>
                    </a:p>
                  </a:txBody>
                  <a:tcPr marT="38100" marB="38100">
                    <a:solidFill>
                      <a:srgbClr val="FFFDF9"/>
                    </a:solidFill>
                  </a:tcPr>
                </a:tc>
                <a:tc>
                  <a:txBody>
                    <a:bodyPr/>
                    <a:lstStyle/>
                    <a:p>
                      <a:pPr algn="r">
                        <a:defRPr sz="1050" b="1">
                          <a:solidFill>
                            <a:srgbClr val="6B6459"/>
                          </a:solidFill>
                          <a:latin typeface="Segoe UI"/>
                        </a:defRPr>
                      </a:pPr>
                      <a:r>
                        <a:t>Avg Daily Demand</a:t>
                      </a:r>
                    </a:p>
                  </a:txBody>
                  <a:tcPr marT="38100" marB="38100">
                    <a:solidFill>
                      <a:srgbClr val="FFFDF9"/>
                    </a:solidFill>
                  </a:tcPr>
                </a:tc>
                <a:tc>
                  <a:txBody>
                    <a:bodyPr/>
                    <a:lstStyle/>
                    <a:p>
                      <a:pPr algn="r">
                        <a:defRPr sz="1050" b="1">
                          <a:solidFill>
                            <a:srgbClr val="6B6459"/>
                          </a:solidFill>
                          <a:latin typeface="Segoe UI"/>
                        </a:defRPr>
                      </a:pPr>
                      <a:r>
                        <a:t>Demand Volatility</a:t>
                      </a:r>
                    </a:p>
                  </a:txBody>
                  <a:tcPr marT="38100" marB="38100">
                    <a:solidFill>
                      <a:srgbClr val="FFFDF9"/>
                    </a:solidFill>
                  </a:tcPr>
                </a:tc>
                <a:tc>
                  <a:txBody>
                    <a:bodyPr/>
                    <a:lstStyle/>
                    <a:p>
                      <a:pPr algn="r">
                        <a:defRPr sz="1050" b="1">
                          <a:solidFill>
                            <a:srgbClr val="6B6459"/>
                          </a:solidFill>
                          <a:latin typeface="Segoe UI"/>
                        </a:defRPr>
                      </a:pPr>
                      <a:r>
                        <a:t>Avg Risk Score</a:t>
                      </a:r>
                    </a:p>
                  </a:txBody>
                  <a:tcPr marT="38100" marB="38100">
                    <a:solidFill>
                      <a:srgbClr val="FFFDF9"/>
                    </a:solidFill>
                  </a:tcPr>
                </a:tc>
              </a:tr>
              <a:tr h="288036">
                <a:tc>
                  <a:txBody>
                    <a:bodyPr/>
                    <a:lstStyle/>
                    <a:p>
                      <a:pPr algn="l">
                        <a:defRPr sz="1050" b="0">
                          <a:solidFill>
                            <a:srgbClr val="37332C"/>
                          </a:solidFill>
                          <a:latin typeface="Segoe UI"/>
                        </a:defRPr>
                      </a:pPr>
                      <a:r>
                        <a:t>Apparel</a:t>
                      </a:r>
                    </a:p>
                  </a:txBody>
                  <a:tcPr marT="38100" marB="38100">
                    <a:solidFill>
                      <a:srgbClr val="FFFDF9"/>
                    </a:solidFill>
                  </a:tcPr>
                </a:tc>
                <a:tc>
                  <a:txBody>
                    <a:bodyPr/>
                    <a:lstStyle/>
                    <a:p>
                      <a:pPr algn="r">
                        <a:defRPr sz="1050" b="0">
                          <a:solidFill>
                            <a:srgbClr val="37332C"/>
                          </a:solidFill>
                          <a:latin typeface="Segoe UI"/>
                        </a:defRPr>
                      </a:pPr>
                      <a:r>
                        <a:t>58.9</a:t>
                      </a:r>
                    </a:p>
                  </a:txBody>
                  <a:tcPr marT="38100" marB="38100">
                    <a:solidFill>
                      <a:srgbClr val="FFFDF9"/>
                    </a:solidFill>
                  </a:tcPr>
                </a:tc>
                <a:tc>
                  <a:txBody>
                    <a:bodyPr/>
                    <a:lstStyle/>
                    <a:p>
                      <a:pPr algn="r">
                        <a:defRPr sz="1050" b="0">
                          <a:solidFill>
                            <a:srgbClr val="37332C"/>
                          </a:solidFill>
                          <a:latin typeface="Segoe UI"/>
                        </a:defRPr>
                      </a:pPr>
                      <a:r>
                        <a:t>18.8</a:t>
                      </a:r>
                    </a:p>
                  </a:txBody>
                  <a:tcPr marT="38100" marB="38100">
                    <a:solidFill>
                      <a:srgbClr val="FFFDF9"/>
                    </a:solidFill>
                  </a:tcPr>
                </a:tc>
                <a:tc>
                  <a:txBody>
                    <a:bodyPr/>
                    <a:lstStyle/>
                    <a:p>
                      <a:pPr algn="r">
                        <a:defRPr sz="1050" b="0">
                          <a:solidFill>
                            <a:srgbClr val="37332C"/>
                          </a:solidFill>
                          <a:latin typeface="Segoe UI"/>
                        </a:defRPr>
                      </a:pPr>
                      <a:r>
                        <a:t>43.9</a:t>
                      </a:r>
                    </a:p>
                  </a:txBody>
                  <a:tcPr marT="38100" marB="38100">
                    <a:solidFill>
                      <a:srgbClr val="FFFDF9"/>
                    </a:solidFill>
                  </a:tcPr>
                </a:tc>
              </a:tr>
              <a:tr h="288036">
                <a:tc>
                  <a:txBody>
                    <a:bodyPr/>
                    <a:lstStyle/>
                    <a:p>
                      <a:pPr algn="l">
                        <a:defRPr sz="1050" b="0">
                          <a:solidFill>
                            <a:srgbClr val="37332C"/>
                          </a:solidFill>
                          <a:latin typeface="Segoe UI"/>
                        </a:defRPr>
                      </a:pPr>
                      <a:r>
                        <a:t>Automotive</a:t>
                      </a:r>
                    </a:p>
                  </a:txBody>
                  <a:tcPr marT="38100" marB="38100">
                    <a:solidFill>
                      <a:srgbClr val="FFFDF9"/>
                    </a:solidFill>
                  </a:tcPr>
                </a:tc>
                <a:tc>
                  <a:txBody>
                    <a:bodyPr/>
                    <a:lstStyle/>
                    <a:p>
                      <a:pPr algn="r">
                        <a:defRPr sz="1050" b="0">
                          <a:solidFill>
                            <a:srgbClr val="37332C"/>
                          </a:solidFill>
                          <a:latin typeface="Segoe UI"/>
                        </a:defRPr>
                      </a:pPr>
                      <a:r>
                        <a:t>66.6</a:t>
                      </a:r>
                    </a:p>
                  </a:txBody>
                  <a:tcPr marT="38100" marB="38100">
                    <a:solidFill>
                      <a:srgbClr val="FFFDF9"/>
                    </a:solidFill>
                  </a:tcPr>
                </a:tc>
                <a:tc>
                  <a:txBody>
                    <a:bodyPr/>
                    <a:lstStyle/>
                    <a:p>
                      <a:pPr algn="r">
                        <a:defRPr sz="1050" b="0">
                          <a:solidFill>
                            <a:srgbClr val="37332C"/>
                          </a:solidFill>
                          <a:latin typeface="Segoe UI"/>
                        </a:defRPr>
                      </a:pPr>
                      <a:r>
                        <a:t>20.9</a:t>
                      </a:r>
                    </a:p>
                  </a:txBody>
                  <a:tcPr marT="38100" marB="38100">
                    <a:solidFill>
                      <a:srgbClr val="FFFDF9"/>
                    </a:solidFill>
                  </a:tcPr>
                </a:tc>
                <a:tc>
                  <a:txBody>
                    <a:bodyPr/>
                    <a:lstStyle/>
                    <a:p>
                      <a:pPr algn="r">
                        <a:defRPr sz="1050" b="0">
                          <a:solidFill>
                            <a:srgbClr val="37332C"/>
                          </a:solidFill>
                          <a:latin typeface="Segoe UI"/>
                        </a:defRPr>
                      </a:pPr>
                      <a:r>
                        <a:t>50.5</a:t>
                      </a:r>
                    </a:p>
                  </a:txBody>
                  <a:tcPr marT="38100" marB="38100">
                    <a:solidFill>
                      <a:srgbClr val="FFFDF9"/>
                    </a:solidFill>
                  </a:tcPr>
                </a:tc>
              </a:tr>
              <a:tr h="288036">
                <a:tc>
                  <a:txBody>
                    <a:bodyPr/>
                    <a:lstStyle/>
                    <a:p>
                      <a:pPr algn="l">
                        <a:defRPr sz="1050" b="0">
                          <a:solidFill>
                            <a:srgbClr val="37332C"/>
                          </a:solidFill>
                          <a:latin typeface="Segoe UI"/>
                        </a:defRPr>
                      </a:pPr>
                      <a:r>
                        <a:t>Books &amp; Media</a:t>
                      </a:r>
                    </a:p>
                  </a:txBody>
                  <a:tcPr marT="38100" marB="38100">
                    <a:solidFill>
                      <a:srgbClr val="FFFDF9"/>
                    </a:solidFill>
                  </a:tcPr>
                </a:tc>
                <a:tc>
                  <a:txBody>
                    <a:bodyPr/>
                    <a:lstStyle/>
                    <a:p>
                      <a:pPr algn="r">
                        <a:defRPr sz="1050" b="0">
                          <a:solidFill>
                            <a:srgbClr val="37332C"/>
                          </a:solidFill>
                          <a:latin typeface="Segoe UI"/>
                        </a:defRPr>
                      </a:pPr>
                      <a:r>
                        <a:t>67.4</a:t>
                      </a:r>
                    </a:p>
                  </a:txBody>
                  <a:tcPr marT="38100" marB="38100">
                    <a:solidFill>
                      <a:srgbClr val="FFFDF9"/>
                    </a:solidFill>
                  </a:tcPr>
                </a:tc>
                <a:tc>
                  <a:txBody>
                    <a:bodyPr/>
                    <a:lstStyle/>
                    <a:p>
                      <a:pPr algn="r">
                        <a:defRPr sz="1050" b="0">
                          <a:solidFill>
                            <a:srgbClr val="37332C"/>
                          </a:solidFill>
                          <a:latin typeface="Segoe UI"/>
                        </a:defRPr>
                      </a:pPr>
                      <a:r>
                        <a:t>20.5</a:t>
                      </a:r>
                    </a:p>
                  </a:txBody>
                  <a:tcPr marT="38100" marB="38100">
                    <a:solidFill>
                      <a:srgbClr val="FFFDF9"/>
                    </a:solidFill>
                  </a:tcPr>
                </a:tc>
                <a:tc>
                  <a:txBody>
                    <a:bodyPr/>
                    <a:lstStyle/>
                    <a:p>
                      <a:pPr algn="r">
                        <a:defRPr sz="1050" b="0">
                          <a:solidFill>
                            <a:srgbClr val="37332C"/>
                          </a:solidFill>
                          <a:latin typeface="Segoe UI"/>
                        </a:defRPr>
                      </a:pPr>
                      <a:r>
                        <a:t>51.4</a:t>
                      </a:r>
                    </a:p>
                  </a:txBody>
                  <a:tcPr marT="38100" marB="38100">
                    <a:solidFill>
                      <a:srgbClr val="FFFDF9"/>
                    </a:solidFill>
                  </a:tcPr>
                </a:tc>
              </a:tr>
              <a:tr h="288036">
                <a:tc>
                  <a:txBody>
                    <a:bodyPr/>
                    <a:lstStyle/>
                    <a:p>
                      <a:pPr algn="l">
                        <a:defRPr sz="1050" b="0">
                          <a:solidFill>
                            <a:srgbClr val="37332C"/>
                          </a:solidFill>
                          <a:latin typeface="Segoe UI"/>
                        </a:defRPr>
                      </a:pPr>
                      <a:r>
                        <a:t>Electronics</a:t>
                      </a:r>
                    </a:p>
                  </a:txBody>
                  <a:tcPr marT="38100" marB="38100">
                    <a:solidFill>
                      <a:srgbClr val="FFFDF9"/>
                    </a:solidFill>
                  </a:tcPr>
                </a:tc>
                <a:tc>
                  <a:txBody>
                    <a:bodyPr/>
                    <a:lstStyle/>
                    <a:p>
                      <a:pPr algn="r">
                        <a:defRPr sz="1050" b="0">
                          <a:solidFill>
                            <a:srgbClr val="37332C"/>
                          </a:solidFill>
                          <a:latin typeface="Segoe UI"/>
                        </a:defRPr>
                      </a:pPr>
                      <a:r>
                        <a:t>49.2</a:t>
                      </a:r>
                    </a:p>
                  </a:txBody>
                  <a:tcPr marT="38100" marB="38100">
                    <a:solidFill>
                      <a:srgbClr val="FFFDF9"/>
                    </a:solidFill>
                  </a:tcPr>
                </a:tc>
                <a:tc>
                  <a:txBody>
                    <a:bodyPr/>
                    <a:lstStyle/>
                    <a:p>
                      <a:pPr algn="r">
                        <a:defRPr sz="1050" b="0">
                          <a:solidFill>
                            <a:srgbClr val="37332C"/>
                          </a:solidFill>
                          <a:latin typeface="Segoe UI"/>
                        </a:defRPr>
                      </a:pPr>
                      <a:r>
                        <a:t>15.3</a:t>
                      </a:r>
                    </a:p>
                  </a:txBody>
                  <a:tcPr marT="38100" marB="38100">
                    <a:solidFill>
                      <a:srgbClr val="FFFDF9"/>
                    </a:solidFill>
                  </a:tcPr>
                </a:tc>
                <a:tc>
                  <a:txBody>
                    <a:bodyPr/>
                    <a:lstStyle/>
                    <a:p>
                      <a:pPr algn="r">
                        <a:defRPr sz="1050" b="0">
                          <a:solidFill>
                            <a:srgbClr val="37332C"/>
                          </a:solidFill>
                          <a:latin typeface="Segoe UI"/>
                        </a:defRPr>
                      </a:pPr>
                      <a:r>
                        <a:t>51.9</a:t>
                      </a:r>
                    </a:p>
                  </a:txBody>
                  <a:tcPr marT="38100" marB="38100">
                    <a:solidFill>
                      <a:srgbClr val="FFFDF9"/>
                    </a:solidFill>
                  </a:tcPr>
                </a:tc>
              </a:tr>
              <a:tr h="288036">
                <a:tc>
                  <a:txBody>
                    <a:bodyPr/>
                    <a:lstStyle/>
                    <a:p>
                      <a:pPr algn="l">
                        <a:defRPr sz="1050" b="0">
                          <a:solidFill>
                            <a:srgbClr val="37332C"/>
                          </a:solidFill>
                          <a:latin typeface="Segoe UI"/>
                        </a:defRPr>
                      </a:pPr>
                      <a:r>
                        <a:t>Food &amp; Beverage</a:t>
                      </a:r>
                    </a:p>
                  </a:txBody>
                  <a:tcPr marT="38100" marB="38100">
                    <a:solidFill>
                      <a:srgbClr val="FFFDF9"/>
                    </a:solidFill>
                  </a:tcPr>
                </a:tc>
                <a:tc>
                  <a:txBody>
                    <a:bodyPr/>
                    <a:lstStyle/>
                    <a:p>
                      <a:pPr algn="r">
                        <a:defRPr sz="1050" b="0">
                          <a:solidFill>
                            <a:srgbClr val="37332C"/>
                          </a:solidFill>
                          <a:latin typeface="Segoe UI"/>
                        </a:defRPr>
                      </a:pPr>
                      <a:r>
                        <a:t>54.3</a:t>
                      </a:r>
                    </a:p>
                  </a:txBody>
                  <a:tcPr marT="38100" marB="38100">
                    <a:solidFill>
                      <a:srgbClr val="FFFDF9"/>
                    </a:solidFill>
                  </a:tcPr>
                </a:tc>
                <a:tc>
                  <a:txBody>
                    <a:bodyPr/>
                    <a:lstStyle/>
                    <a:p>
                      <a:pPr algn="r">
                        <a:defRPr sz="1050" b="0">
                          <a:solidFill>
                            <a:srgbClr val="37332C"/>
                          </a:solidFill>
                          <a:latin typeface="Segoe UI"/>
                        </a:defRPr>
                      </a:pPr>
                      <a:r>
                        <a:t>16.3</a:t>
                      </a:r>
                    </a:p>
                  </a:txBody>
                  <a:tcPr marT="38100" marB="38100">
                    <a:solidFill>
                      <a:srgbClr val="FFFDF9"/>
                    </a:solidFill>
                  </a:tcPr>
                </a:tc>
                <a:tc>
                  <a:txBody>
                    <a:bodyPr/>
                    <a:lstStyle/>
                    <a:p>
                      <a:pPr algn="r">
                        <a:defRPr sz="1050" b="0">
                          <a:solidFill>
                            <a:srgbClr val="37332C"/>
                          </a:solidFill>
                          <a:latin typeface="Segoe UI"/>
                        </a:defRPr>
                      </a:pPr>
                      <a:r>
                        <a:t>48.0</a:t>
                      </a:r>
                    </a:p>
                  </a:txBody>
                  <a:tcPr marT="38100" marB="38100">
                    <a:solidFill>
                      <a:srgbClr val="FFFDF9"/>
                    </a:solidFill>
                  </a:tcPr>
                </a:tc>
              </a:tr>
              <a:tr h="288036">
                <a:tc>
                  <a:txBody>
                    <a:bodyPr/>
                    <a:lstStyle/>
                    <a:p>
                      <a:pPr algn="l">
                        <a:defRPr sz="1050" b="0">
                          <a:solidFill>
                            <a:srgbClr val="37332C"/>
                          </a:solidFill>
                          <a:latin typeface="Segoe UI"/>
                        </a:defRPr>
                      </a:pPr>
                      <a:r>
                        <a:t>Health &amp; Beauty</a:t>
                      </a:r>
                    </a:p>
                  </a:txBody>
                  <a:tcPr marT="38100" marB="38100">
                    <a:solidFill>
                      <a:srgbClr val="FFFDF9"/>
                    </a:solidFill>
                  </a:tcPr>
                </a:tc>
                <a:tc>
                  <a:txBody>
                    <a:bodyPr/>
                    <a:lstStyle/>
                    <a:p>
                      <a:pPr algn="r">
                        <a:defRPr sz="1050" b="0">
                          <a:solidFill>
                            <a:srgbClr val="37332C"/>
                          </a:solidFill>
                          <a:latin typeface="Segoe UI"/>
                        </a:defRPr>
                      </a:pPr>
                      <a:r>
                        <a:t>57.2</a:t>
                      </a:r>
                    </a:p>
                  </a:txBody>
                  <a:tcPr marT="38100" marB="38100">
                    <a:solidFill>
                      <a:srgbClr val="FFFDF9"/>
                    </a:solidFill>
                  </a:tcPr>
                </a:tc>
                <a:tc>
                  <a:txBody>
                    <a:bodyPr/>
                    <a:lstStyle/>
                    <a:p>
                      <a:pPr algn="r">
                        <a:defRPr sz="1050" b="0">
                          <a:solidFill>
                            <a:srgbClr val="37332C"/>
                          </a:solidFill>
                          <a:latin typeface="Segoe UI"/>
                        </a:defRPr>
                      </a:pPr>
                      <a:r>
                        <a:t>17.7</a:t>
                      </a:r>
                    </a:p>
                  </a:txBody>
                  <a:tcPr marT="38100" marB="38100">
                    <a:solidFill>
                      <a:srgbClr val="FFFDF9"/>
                    </a:solidFill>
                  </a:tcPr>
                </a:tc>
                <a:tc>
                  <a:txBody>
                    <a:bodyPr/>
                    <a:lstStyle/>
                    <a:p>
                      <a:pPr algn="r">
                        <a:defRPr sz="1050" b="0">
                          <a:solidFill>
                            <a:srgbClr val="37332C"/>
                          </a:solidFill>
                          <a:latin typeface="Segoe UI"/>
                        </a:defRPr>
                      </a:pPr>
                      <a:r>
                        <a:t>50.3</a:t>
                      </a:r>
                    </a:p>
                  </a:txBody>
                  <a:tcPr marT="38100" marB="38100">
                    <a:solidFill>
                      <a:srgbClr val="FFFDF9"/>
                    </a:solidFill>
                  </a:tcPr>
                </a:tc>
              </a:tr>
              <a:tr h="288036">
                <a:tc>
                  <a:txBody>
                    <a:bodyPr/>
                    <a:lstStyle/>
                    <a:p>
                      <a:pPr algn="l">
                        <a:defRPr sz="1050" b="0">
                          <a:solidFill>
                            <a:srgbClr val="37332C"/>
                          </a:solidFill>
                          <a:latin typeface="Segoe UI"/>
                        </a:defRPr>
                      </a:pPr>
                      <a:r>
                        <a:t>Home &amp; Garden</a:t>
                      </a:r>
                    </a:p>
                  </a:txBody>
                  <a:tcPr marT="38100" marB="38100">
                    <a:solidFill>
                      <a:srgbClr val="FFFDF9"/>
                    </a:solidFill>
                  </a:tcPr>
                </a:tc>
                <a:tc>
                  <a:txBody>
                    <a:bodyPr/>
                    <a:lstStyle/>
                    <a:p>
                      <a:pPr algn="r">
                        <a:defRPr sz="1050" b="0">
                          <a:solidFill>
                            <a:srgbClr val="37332C"/>
                          </a:solidFill>
                          <a:latin typeface="Segoe UI"/>
                        </a:defRPr>
                      </a:pPr>
                      <a:r>
                        <a:t>56.0</a:t>
                      </a:r>
                    </a:p>
                  </a:txBody>
                  <a:tcPr marT="38100" marB="38100">
                    <a:solidFill>
                      <a:srgbClr val="FFFDF9"/>
                    </a:solidFill>
                  </a:tcPr>
                </a:tc>
                <a:tc>
                  <a:txBody>
                    <a:bodyPr/>
                    <a:lstStyle/>
                    <a:p>
                      <a:pPr algn="r">
                        <a:defRPr sz="1050" b="0">
                          <a:solidFill>
                            <a:srgbClr val="37332C"/>
                          </a:solidFill>
                          <a:latin typeface="Segoe UI"/>
                        </a:defRPr>
                      </a:pPr>
                      <a:r>
                        <a:t>15.8</a:t>
                      </a:r>
                    </a:p>
                  </a:txBody>
                  <a:tcPr marT="38100" marB="38100">
                    <a:solidFill>
                      <a:srgbClr val="FFFDF9"/>
                    </a:solidFill>
                  </a:tcPr>
                </a:tc>
                <a:tc>
                  <a:txBody>
                    <a:bodyPr/>
                    <a:lstStyle/>
                    <a:p>
                      <a:pPr algn="r">
                        <a:defRPr sz="1050" b="0">
                          <a:solidFill>
                            <a:srgbClr val="37332C"/>
                          </a:solidFill>
                          <a:latin typeface="Segoe UI"/>
                        </a:defRPr>
                      </a:pPr>
                      <a:r>
                        <a:t>48.3</a:t>
                      </a:r>
                    </a:p>
                  </a:txBody>
                  <a:tcPr marT="38100" marB="38100">
                    <a:solidFill>
                      <a:srgbClr val="FFFDF9"/>
                    </a:solidFill>
                  </a:tcPr>
                </a:tc>
              </a:tr>
              <a:tr h="288036">
                <a:tc>
                  <a:txBody>
                    <a:bodyPr/>
                    <a:lstStyle/>
                    <a:p>
                      <a:pPr algn="l">
                        <a:defRPr sz="1050" b="0">
                          <a:solidFill>
                            <a:srgbClr val="37332C"/>
                          </a:solidFill>
                          <a:latin typeface="Segoe UI"/>
                        </a:defRPr>
                      </a:pPr>
                      <a:r>
                        <a:t>Sports</a:t>
                      </a:r>
                    </a:p>
                  </a:txBody>
                  <a:tcPr marT="38100" marB="38100">
                    <a:solidFill>
                      <a:srgbClr val="FFFDF9"/>
                    </a:solidFill>
                  </a:tcPr>
                </a:tc>
                <a:tc>
                  <a:txBody>
                    <a:bodyPr/>
                    <a:lstStyle/>
                    <a:p>
                      <a:pPr algn="r">
                        <a:defRPr sz="1050" b="0">
                          <a:solidFill>
                            <a:srgbClr val="37332C"/>
                          </a:solidFill>
                          <a:latin typeface="Segoe UI"/>
                        </a:defRPr>
                      </a:pPr>
                      <a:r>
                        <a:t>63.8</a:t>
                      </a:r>
                    </a:p>
                  </a:txBody>
                  <a:tcPr marT="38100" marB="38100">
                    <a:solidFill>
                      <a:srgbClr val="FFFDF9"/>
                    </a:solidFill>
                  </a:tcPr>
                </a:tc>
                <a:tc>
                  <a:txBody>
                    <a:bodyPr/>
                    <a:lstStyle/>
                    <a:p>
                      <a:pPr algn="r">
                        <a:defRPr sz="1050" b="0">
                          <a:solidFill>
                            <a:srgbClr val="37332C"/>
                          </a:solidFill>
                          <a:latin typeface="Segoe UI"/>
                        </a:defRPr>
                      </a:pPr>
                      <a:r>
                        <a:t>19.5</a:t>
                      </a:r>
                    </a:p>
                  </a:txBody>
                  <a:tcPr marT="38100" marB="38100">
                    <a:solidFill>
                      <a:srgbClr val="FFFDF9"/>
                    </a:solidFill>
                  </a:tcPr>
                </a:tc>
                <a:tc>
                  <a:txBody>
                    <a:bodyPr/>
                    <a:lstStyle/>
                    <a:p>
                      <a:pPr algn="r">
                        <a:defRPr sz="1050" b="0">
                          <a:solidFill>
                            <a:srgbClr val="37332C"/>
                          </a:solidFill>
                          <a:latin typeface="Segoe UI"/>
                        </a:defRPr>
                      </a:pPr>
                      <a:r>
                        <a:t>49.4</a:t>
                      </a:r>
                    </a:p>
                  </a:txBody>
                  <a:tcPr marT="38100" marB="38100">
                    <a:solidFill>
                      <a:srgbClr val="FFFDF9"/>
                    </a:solidFill>
                  </a:tcPr>
                </a:tc>
              </a:tr>
              <a:tr h="288036">
                <a:tc>
                  <a:txBody>
                    <a:bodyPr/>
                    <a:lstStyle/>
                    <a:p>
                      <a:pPr algn="l">
                        <a:defRPr sz="1050" b="1">
                          <a:solidFill>
                            <a:srgbClr val="171512"/>
                          </a:solidFill>
                          <a:latin typeface="Segoe UI"/>
                        </a:defRPr>
                      </a:pPr>
                      <a:r>
                        <a:t>Total</a:t>
                      </a:r>
                    </a:p>
                  </a:txBody>
                  <a:tcPr marT="38100" marB="38100">
                    <a:solidFill>
                      <a:srgbClr val="FFFDF9"/>
                    </a:solidFill>
                  </a:tcPr>
                </a:tc>
                <a:tc>
                  <a:txBody>
                    <a:bodyPr/>
                    <a:lstStyle/>
                    <a:p>
                      <a:pPr algn="r">
                        <a:defRPr sz="1050" b="1">
                          <a:solidFill>
                            <a:srgbClr val="171512"/>
                          </a:solidFill>
                          <a:latin typeface="Segoe UI"/>
                        </a:defRPr>
                      </a:pPr>
                      <a:r>
                        <a:t>58.9</a:t>
                      </a:r>
                    </a:p>
                  </a:txBody>
                  <a:tcPr marT="38100" marB="38100">
                    <a:solidFill>
                      <a:srgbClr val="FFFDF9"/>
                    </a:solidFill>
                  </a:tcPr>
                </a:tc>
                <a:tc>
                  <a:txBody>
                    <a:bodyPr/>
                    <a:lstStyle/>
                    <a:p>
                      <a:pPr algn="r">
                        <a:defRPr sz="1050" b="1">
                          <a:solidFill>
                            <a:srgbClr val="171512"/>
                          </a:solidFill>
                          <a:latin typeface="Segoe UI"/>
                        </a:defRPr>
                      </a:pPr>
                      <a:r>
                        <a:t>17.9</a:t>
                      </a:r>
                    </a:p>
                  </a:txBody>
                  <a:tcPr marT="38100" marB="38100">
                    <a:solidFill>
                      <a:srgbClr val="FFFDF9"/>
                    </a:solidFill>
                  </a:tcPr>
                </a:tc>
                <a:tc>
                  <a:txBody>
                    <a:bodyPr/>
                    <a:lstStyle/>
                    <a:p>
                      <a:pPr algn="r">
                        <a:defRPr sz="1050" b="1">
                          <a:solidFill>
                            <a:srgbClr val="171512"/>
                          </a:solidFill>
                          <a:latin typeface="Segoe UI"/>
                        </a:defRPr>
                      </a:pPr>
                      <a:r>
                        <a:t>49.4</a:t>
                      </a:r>
                    </a:p>
                  </a:txBody>
                  <a:tcPr marT="38100" marB="38100">
                    <a:solidFill>
                      <a:srgbClr val="FFFDF9"/>
                    </a:solidFill>
                  </a:tcPr>
                </a:tc>
              </a:tr>
            </a:tbl>
          </a:graphicData>
        </a:graphic>
      </p:graphicFrame>
      <p:sp>
        <p:nvSpPr>
          <p:cNvPr id="20" name="TextBox 19"/>
          <p:cNvSpPr txBox="1"/>
          <p:nvPr/>
        </p:nvSpPr>
        <p:spPr>
          <a:xfrm>
            <a:off x="548640" y="6355080"/>
            <a:ext cx="11064240" cy="365760"/>
          </a:xfrm>
          <a:prstGeom prst="rect">
            <a:avLst/>
          </a:prstGeom>
          <a:noFill/>
        </p:spPr>
        <p:txBody>
          <a:bodyPr wrap="square" lIns="0" rIns="0" tIns="0" bIns="0">
            <a:spAutoFit/>
          </a:bodyPr>
          <a:lstStyle/>
          <a:p>
            <a:pPr algn="l"/>
            <a:r>
              <a:rPr sz="1000" b="0" i="1">
                <a:solidFill>
                  <a:srgbClr val="6B6459"/>
                </a:solidFill>
                <a:latin typeface="Segoe UI"/>
              </a:rPr>
              <a:t>A second matrix lists all 50 suppliers by SKU count, average risk, average lead time, and high-risk SKU count – the view that turns a demand problem into a named-supplier problem.</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7F4EE"/>
        </a:solidFill>
        <a:effectLst/>
      </p:bgPr>
    </p:bg>
    <p:spTree>
      <p:nvGrpSpPr>
        <p:cNvPr id="1" name=""/>
        <p:cNvGrpSpPr/>
        <p:nvPr/>
      </p:nvGrpSpPr>
      <p:grpSpPr/>
      <p:sp>
        <p:nvSpPr>
          <p:cNvPr id="2" name="Rectangle 1"/>
          <p:cNvSpPr/>
          <p:nvPr/>
        </p:nvSpPr>
        <p:spPr>
          <a:xfrm>
            <a:off x="548640" y="384048"/>
            <a:ext cx="384048" cy="274320"/>
          </a:xfrm>
          <a:prstGeom prst="rect">
            <a:avLst/>
          </a:prstGeom>
          <a:solidFill>
            <a:srgbClr val="C96A1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wrap="none"/>
          <a:lstStyle/>
          <a:p>
            <a:pPr algn="ctr"/>
            <a:r>
              <a:rPr sz="1200" b="1">
                <a:solidFill>
                  <a:srgbClr val="FFFFFF"/>
                </a:solidFill>
                <a:latin typeface="Segoe UI"/>
              </a:rPr>
              <a:t>08</a:t>
            </a:r>
          </a:p>
        </p:txBody>
      </p:sp>
      <p:sp>
        <p:nvSpPr>
          <p:cNvPr id="3" name="TextBox 2"/>
          <p:cNvSpPr txBox="1"/>
          <p:nvPr/>
        </p:nvSpPr>
        <p:spPr>
          <a:xfrm>
            <a:off x="1051560" y="384048"/>
            <a:ext cx="7315200" cy="292608"/>
          </a:xfrm>
          <a:prstGeom prst="rect">
            <a:avLst/>
          </a:prstGeom>
          <a:noFill/>
        </p:spPr>
        <p:txBody>
          <a:bodyPr wrap="square" anchor="ctr" lIns="0" rIns="0" tIns="0" bIns="0">
            <a:spAutoFit/>
          </a:bodyPr>
          <a:lstStyle/>
          <a:p>
            <a:pPr algn="l"/>
            <a:r>
              <a:rPr sz="1150" b="1" i="0">
                <a:solidFill>
                  <a:srgbClr val="C96A17"/>
                </a:solidFill>
                <a:latin typeface="Segoe UI"/>
              </a:rPr>
              <a:t>DECISION RULES WE ENCODED</a:t>
            </a:r>
          </a:p>
        </p:txBody>
      </p:sp>
      <p:sp>
        <p:nvSpPr>
          <p:cNvPr id="4" name="TextBox 3"/>
          <p:cNvSpPr txBox="1"/>
          <p:nvPr/>
        </p:nvSpPr>
        <p:spPr>
          <a:xfrm>
            <a:off x="548640" y="749808"/>
            <a:ext cx="10881360" cy="1005840"/>
          </a:xfrm>
          <a:prstGeom prst="rect">
            <a:avLst/>
          </a:prstGeom>
          <a:noFill/>
        </p:spPr>
        <p:txBody>
          <a:bodyPr wrap="square" lIns="0" rIns="0" tIns="0" bIns="0">
            <a:spAutoFit/>
          </a:bodyPr>
          <a:lstStyle/>
          <a:p>
            <a:pPr algn="l">
              <a:lnSpc>
                <a:spcPct val="102000"/>
              </a:lnSpc>
            </a:pPr>
            <a:r>
              <a:rPr sz="2500" b="1" i="0">
                <a:solidFill>
                  <a:srgbClr val="171512"/>
                </a:solidFill>
                <a:latin typeface="Segoe UI"/>
              </a:rPr>
              <a:t>Every threshold on the dashboard came from the brief, not a guess.</a:t>
            </a:r>
          </a:p>
        </p:txBody>
      </p:sp>
      <p:sp>
        <p:nvSpPr>
          <p:cNvPr id="5" name="Rectangle 4"/>
          <p:cNvSpPr/>
          <p:nvPr/>
        </p:nvSpPr>
        <p:spPr>
          <a:xfrm>
            <a:off x="548640" y="1691640"/>
            <a:ext cx="3520440" cy="1691640"/>
          </a:xfrm>
          <a:prstGeom prst="rect">
            <a:avLst/>
          </a:prstGeom>
          <a:solidFill>
            <a:srgbClr val="FFFDF9"/>
          </a:solidFill>
          <a:ln w="9525">
            <a:solidFill>
              <a:srgbClr val="E4DDD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749808" y="1874520"/>
            <a:ext cx="2377440" cy="292608"/>
          </a:xfrm>
          <a:prstGeom prst="rect">
            <a:avLst/>
          </a:prstGeom>
          <a:solidFill>
            <a:srgbClr val="F7E1E1"/>
          </a:solidFill>
          <a:ln>
            <a:noFill/>
          </a:ln>
          <a:effectLst/>
        </p:spPr>
        <p:style>
          <a:lnRef idx="1">
            <a:schemeClr val="accent1"/>
          </a:lnRef>
          <a:fillRef idx="3">
            <a:schemeClr val="accent1"/>
          </a:fillRef>
          <a:effectRef idx="2">
            <a:schemeClr val="accent1"/>
          </a:effectRef>
          <a:fontRef idx="minor">
            <a:schemeClr val="lt1"/>
          </a:fontRef>
        </p:style>
        <p:txBody>
          <a:bodyPr rtlCol="0" anchor="ctr" lIns="101600" rIns="101600" tIns="0" bIns="0"/>
          <a:lstStyle/>
          <a:p>
            <a:pPr algn="ctr"/>
            <a:r>
              <a:rPr sz="1050" b="1">
                <a:solidFill>
                  <a:srgbClr val="D03B3B"/>
                </a:solidFill>
                <a:latin typeface="Segoe UI"/>
              </a:rPr>
              <a:t>Risk Score ≥ 60</a:t>
            </a:r>
          </a:p>
        </p:txBody>
      </p:sp>
      <p:sp>
        <p:nvSpPr>
          <p:cNvPr id="7" name="TextBox 6"/>
          <p:cNvSpPr txBox="1"/>
          <p:nvPr/>
        </p:nvSpPr>
        <p:spPr>
          <a:xfrm>
            <a:off x="749808" y="2313432"/>
            <a:ext cx="3118104" cy="914400"/>
          </a:xfrm>
          <a:prstGeom prst="rect">
            <a:avLst/>
          </a:prstGeom>
          <a:noFill/>
        </p:spPr>
        <p:txBody>
          <a:bodyPr wrap="square" lIns="0" rIns="0" tIns="0" bIns="0">
            <a:spAutoFit/>
          </a:bodyPr>
          <a:lstStyle/>
          <a:p>
            <a:pPr algn="l">
              <a:lnSpc>
                <a:spcPct val="120000"/>
              </a:lnSpc>
            </a:pPr>
            <a:r>
              <a:rPr sz="1150" b="0" i="0">
                <a:solidFill>
                  <a:srgbClr val="37332C"/>
                </a:solidFill>
                <a:latin typeface="Segoe UI"/>
              </a:rPr>
              <a:t>Immediate action: emergency reorder, safety stock up 50%, monitored daily.</a:t>
            </a:r>
          </a:p>
        </p:txBody>
      </p:sp>
      <p:sp>
        <p:nvSpPr>
          <p:cNvPr id="8" name="Rectangle 7"/>
          <p:cNvSpPr/>
          <p:nvPr/>
        </p:nvSpPr>
        <p:spPr>
          <a:xfrm>
            <a:off x="4251959" y="1691640"/>
            <a:ext cx="3520440" cy="1691640"/>
          </a:xfrm>
          <a:prstGeom prst="rect">
            <a:avLst/>
          </a:prstGeom>
          <a:solidFill>
            <a:srgbClr val="FFFDF9"/>
          </a:solidFill>
          <a:ln w="9525">
            <a:solidFill>
              <a:srgbClr val="E4DDD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453127" y="1874520"/>
            <a:ext cx="2377440" cy="292608"/>
          </a:xfrm>
          <a:prstGeom prst="rect">
            <a:avLst/>
          </a:prstGeom>
          <a:solidFill>
            <a:srgbClr val="F9EDD8"/>
          </a:solidFill>
          <a:ln>
            <a:noFill/>
          </a:ln>
          <a:effectLst/>
        </p:spPr>
        <p:style>
          <a:lnRef idx="1">
            <a:schemeClr val="accent1"/>
          </a:lnRef>
          <a:fillRef idx="3">
            <a:schemeClr val="accent1"/>
          </a:fillRef>
          <a:effectRef idx="2">
            <a:schemeClr val="accent1"/>
          </a:effectRef>
          <a:fontRef idx="minor">
            <a:schemeClr val="lt1"/>
          </a:fontRef>
        </p:style>
        <p:txBody>
          <a:bodyPr rtlCol="0" anchor="ctr" lIns="101600" rIns="101600" tIns="0" bIns="0"/>
          <a:lstStyle/>
          <a:p>
            <a:pPr algn="ctr"/>
            <a:r>
              <a:rPr sz="1050" b="1">
                <a:solidFill>
                  <a:srgbClr val="D98C00"/>
                </a:solidFill>
                <a:latin typeface="Segoe UI"/>
              </a:rPr>
              <a:t>35 ≤ Risk Score &lt; 60</a:t>
            </a:r>
          </a:p>
        </p:txBody>
      </p:sp>
      <p:sp>
        <p:nvSpPr>
          <p:cNvPr id="10" name="TextBox 9"/>
          <p:cNvSpPr txBox="1"/>
          <p:nvPr/>
        </p:nvSpPr>
        <p:spPr>
          <a:xfrm>
            <a:off x="4453127" y="2313432"/>
            <a:ext cx="3118104" cy="914400"/>
          </a:xfrm>
          <a:prstGeom prst="rect">
            <a:avLst/>
          </a:prstGeom>
          <a:noFill/>
        </p:spPr>
        <p:txBody>
          <a:bodyPr wrap="square" lIns="0" rIns="0" tIns="0" bIns="0">
            <a:spAutoFit/>
          </a:bodyPr>
          <a:lstStyle/>
          <a:p>
            <a:pPr algn="l">
              <a:lnSpc>
                <a:spcPct val="120000"/>
              </a:lnSpc>
            </a:pPr>
            <a:r>
              <a:rPr sz="1150" b="0" i="0">
                <a:solidFill>
                  <a:srgbClr val="37332C"/>
                </a:solidFill>
                <a:latin typeface="Segoe UI"/>
              </a:rPr>
              <a:t>Proactive management: standard reorder schedule, reviewed weekly.</a:t>
            </a:r>
          </a:p>
        </p:txBody>
      </p:sp>
      <p:sp>
        <p:nvSpPr>
          <p:cNvPr id="11" name="Rectangle 10"/>
          <p:cNvSpPr/>
          <p:nvPr/>
        </p:nvSpPr>
        <p:spPr>
          <a:xfrm>
            <a:off x="7955279" y="1691640"/>
            <a:ext cx="3520440" cy="1691640"/>
          </a:xfrm>
          <a:prstGeom prst="rect">
            <a:avLst/>
          </a:prstGeom>
          <a:solidFill>
            <a:srgbClr val="FFFDF9"/>
          </a:solidFill>
          <a:ln w="9525">
            <a:solidFill>
              <a:srgbClr val="E4DDD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8156448" y="1874520"/>
            <a:ext cx="2377440" cy="292608"/>
          </a:xfrm>
          <a:prstGeom prst="rect">
            <a:avLst/>
          </a:prstGeom>
          <a:solidFill>
            <a:srgbClr val="DAF1DA"/>
          </a:solidFill>
          <a:ln>
            <a:noFill/>
          </a:ln>
          <a:effectLst/>
        </p:spPr>
        <p:style>
          <a:lnRef idx="1">
            <a:schemeClr val="accent1"/>
          </a:lnRef>
          <a:fillRef idx="3">
            <a:schemeClr val="accent1"/>
          </a:fillRef>
          <a:effectRef idx="2">
            <a:schemeClr val="accent1"/>
          </a:effectRef>
          <a:fontRef idx="minor">
            <a:schemeClr val="lt1"/>
          </a:fontRef>
        </p:style>
        <p:txBody>
          <a:bodyPr rtlCol="0" anchor="ctr" lIns="101600" rIns="101600" tIns="0" bIns="0"/>
          <a:lstStyle/>
          <a:p>
            <a:pPr algn="ctr"/>
            <a:r>
              <a:rPr sz="1050" b="1">
                <a:solidFill>
                  <a:srgbClr val="0CA30C"/>
                </a:solidFill>
                <a:latin typeface="Segoe UI"/>
              </a:rPr>
              <a:t>Risk Score &lt; 35</a:t>
            </a:r>
          </a:p>
        </p:txBody>
      </p:sp>
      <p:sp>
        <p:nvSpPr>
          <p:cNvPr id="13" name="TextBox 12"/>
          <p:cNvSpPr txBox="1"/>
          <p:nvPr/>
        </p:nvSpPr>
        <p:spPr>
          <a:xfrm>
            <a:off x="8156448" y="2313432"/>
            <a:ext cx="3118104" cy="914400"/>
          </a:xfrm>
          <a:prstGeom prst="rect">
            <a:avLst/>
          </a:prstGeom>
          <a:noFill/>
        </p:spPr>
        <p:txBody>
          <a:bodyPr wrap="square" lIns="0" rIns="0" tIns="0" bIns="0">
            <a:spAutoFit/>
          </a:bodyPr>
          <a:lstStyle/>
          <a:p>
            <a:pPr algn="l">
              <a:lnSpc>
                <a:spcPct val="120000"/>
              </a:lnSpc>
            </a:pPr>
            <a:r>
              <a:rPr sz="1150" b="0" i="0">
                <a:solidFill>
                  <a:srgbClr val="37332C"/>
                </a:solidFill>
                <a:latin typeface="Segoe UI"/>
              </a:rPr>
              <a:t>Routine operations: normal process, reviewed monthly.</a:t>
            </a:r>
          </a:p>
        </p:txBody>
      </p:sp>
      <p:sp>
        <p:nvSpPr>
          <p:cNvPr id="14" name="Rectangle 13"/>
          <p:cNvSpPr/>
          <p:nvPr/>
        </p:nvSpPr>
        <p:spPr>
          <a:xfrm>
            <a:off x="548640" y="3611880"/>
            <a:ext cx="3520440" cy="1737360"/>
          </a:xfrm>
          <a:prstGeom prst="rect">
            <a:avLst/>
          </a:prstGeom>
          <a:solidFill>
            <a:srgbClr val="FFFDF9"/>
          </a:solidFill>
          <a:ln w="9525">
            <a:solidFill>
              <a:srgbClr val="E4DDD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49808" y="3776472"/>
            <a:ext cx="3118104" cy="457200"/>
          </a:xfrm>
          <a:prstGeom prst="rect">
            <a:avLst/>
          </a:prstGeom>
          <a:noFill/>
        </p:spPr>
        <p:txBody>
          <a:bodyPr wrap="square" lIns="0" rIns="0" tIns="0" bIns="0">
            <a:spAutoFit/>
          </a:bodyPr>
          <a:lstStyle/>
          <a:p>
            <a:pPr algn="l"/>
            <a:r>
              <a:rPr sz="1300" b="1" i="0">
                <a:solidFill>
                  <a:srgbClr val="171512"/>
                </a:solidFill>
                <a:latin typeface="Segoe UI"/>
              </a:rPr>
              <a:t>High Risk + ABC “A”</a:t>
            </a:r>
          </a:p>
        </p:txBody>
      </p:sp>
      <p:sp>
        <p:nvSpPr>
          <p:cNvPr id="16" name="TextBox 15"/>
          <p:cNvSpPr txBox="1"/>
          <p:nvPr/>
        </p:nvSpPr>
        <p:spPr>
          <a:xfrm>
            <a:off x="749808" y="4297680"/>
            <a:ext cx="3118104" cy="914399"/>
          </a:xfrm>
          <a:prstGeom prst="rect">
            <a:avLst/>
          </a:prstGeom>
          <a:noFill/>
        </p:spPr>
        <p:txBody>
          <a:bodyPr wrap="square" lIns="0" rIns="0" tIns="0" bIns="0">
            <a:spAutoFit/>
          </a:bodyPr>
          <a:lstStyle/>
          <a:p>
            <a:pPr algn="l">
              <a:lnSpc>
                <a:spcPct val="120000"/>
              </a:lnSpc>
            </a:pPr>
            <a:r>
              <a:rPr sz="1150" b="0" i="0">
                <a:solidFill>
                  <a:srgbClr val="37332C"/>
                </a:solidFill>
                <a:latin typeface="Segoe UI"/>
              </a:rPr>
              <a:t>Escalated as top priority. 30 SKUs qualify today.</a:t>
            </a:r>
          </a:p>
        </p:txBody>
      </p:sp>
      <p:sp>
        <p:nvSpPr>
          <p:cNvPr id="17" name="Rectangle 16"/>
          <p:cNvSpPr/>
          <p:nvPr/>
        </p:nvSpPr>
        <p:spPr>
          <a:xfrm>
            <a:off x="4251959" y="3611880"/>
            <a:ext cx="3520440" cy="1737360"/>
          </a:xfrm>
          <a:prstGeom prst="rect">
            <a:avLst/>
          </a:prstGeom>
          <a:solidFill>
            <a:srgbClr val="FFFDF9"/>
          </a:solidFill>
          <a:ln w="9525">
            <a:solidFill>
              <a:srgbClr val="E4DDD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453127" y="3776472"/>
            <a:ext cx="3118104" cy="457200"/>
          </a:xfrm>
          <a:prstGeom prst="rect">
            <a:avLst/>
          </a:prstGeom>
          <a:noFill/>
        </p:spPr>
        <p:txBody>
          <a:bodyPr wrap="square" lIns="0" rIns="0" tIns="0" bIns="0">
            <a:spAutoFit/>
          </a:bodyPr>
          <a:lstStyle/>
          <a:p>
            <a:pPr algn="l"/>
            <a:r>
              <a:rPr sz="1300" b="1" i="0">
                <a:solidFill>
                  <a:srgbClr val="171512"/>
                </a:solidFill>
                <a:latin typeface="Segoe UI"/>
              </a:rPr>
              <a:t>&gt;5 stockouts last year</a:t>
            </a:r>
          </a:p>
        </p:txBody>
      </p:sp>
      <p:sp>
        <p:nvSpPr>
          <p:cNvPr id="19" name="TextBox 18"/>
          <p:cNvSpPr txBox="1"/>
          <p:nvPr/>
        </p:nvSpPr>
        <p:spPr>
          <a:xfrm>
            <a:off x="4453127" y="4297680"/>
            <a:ext cx="3118104" cy="914399"/>
          </a:xfrm>
          <a:prstGeom prst="rect">
            <a:avLst/>
          </a:prstGeom>
          <a:noFill/>
        </p:spPr>
        <p:txBody>
          <a:bodyPr wrap="square" lIns="0" rIns="0" tIns="0" bIns="0">
            <a:spAutoFit/>
          </a:bodyPr>
          <a:lstStyle/>
          <a:p>
            <a:pPr algn="l">
              <a:lnSpc>
                <a:spcPct val="120000"/>
              </a:lnSpc>
            </a:pPr>
            <a:r>
              <a:rPr sz="1150" b="0" i="0">
                <a:solidFill>
                  <a:srgbClr val="37332C"/>
                </a:solidFill>
                <a:latin typeface="Segoe UI"/>
              </a:rPr>
              <a:t>Flagged for root cause review. 245 SKUs qualify today.</a:t>
            </a:r>
          </a:p>
        </p:txBody>
      </p:sp>
      <p:sp>
        <p:nvSpPr>
          <p:cNvPr id="20" name="Rectangle 19"/>
          <p:cNvSpPr/>
          <p:nvPr/>
        </p:nvSpPr>
        <p:spPr>
          <a:xfrm>
            <a:off x="7955279" y="3611880"/>
            <a:ext cx="3520440" cy="1737360"/>
          </a:xfrm>
          <a:prstGeom prst="rect">
            <a:avLst/>
          </a:prstGeom>
          <a:solidFill>
            <a:srgbClr val="FFFDF9"/>
          </a:solidFill>
          <a:ln w="9525">
            <a:solidFill>
              <a:srgbClr val="E4DDD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156448" y="3776472"/>
            <a:ext cx="3118104" cy="457200"/>
          </a:xfrm>
          <a:prstGeom prst="rect">
            <a:avLst/>
          </a:prstGeom>
          <a:noFill/>
        </p:spPr>
        <p:txBody>
          <a:bodyPr wrap="square" lIns="0" rIns="0" tIns="0" bIns="0">
            <a:spAutoFit/>
          </a:bodyPr>
          <a:lstStyle/>
          <a:p>
            <a:pPr algn="l"/>
            <a:r>
              <a:rPr sz="1300" b="1" i="0">
                <a:solidFill>
                  <a:srgbClr val="171512"/>
                </a:solidFill>
                <a:latin typeface="Segoe UI"/>
              </a:rPr>
              <a:t>Lead time &gt;30 days + high demand</a:t>
            </a:r>
          </a:p>
        </p:txBody>
      </p:sp>
      <p:sp>
        <p:nvSpPr>
          <p:cNvPr id="22" name="TextBox 21"/>
          <p:cNvSpPr txBox="1"/>
          <p:nvPr/>
        </p:nvSpPr>
        <p:spPr>
          <a:xfrm>
            <a:off x="8156448" y="4297680"/>
            <a:ext cx="3118104" cy="914399"/>
          </a:xfrm>
          <a:prstGeom prst="rect">
            <a:avLst/>
          </a:prstGeom>
          <a:noFill/>
        </p:spPr>
        <p:txBody>
          <a:bodyPr wrap="square" lIns="0" rIns="0" tIns="0" bIns="0">
            <a:spAutoFit/>
          </a:bodyPr>
          <a:lstStyle/>
          <a:p>
            <a:pPr algn="l">
              <a:lnSpc>
                <a:spcPct val="120000"/>
              </a:lnSpc>
            </a:pPr>
            <a:r>
              <a:rPr sz="1150" b="0" i="0">
                <a:solidFill>
                  <a:srgbClr val="37332C"/>
                </a:solidFill>
                <a:latin typeface="Segoe UI"/>
              </a:rPr>
              <a:t>Flagged for a second supplier. 54 SKUs qualify today.</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7F4EE"/>
        </a:solidFill>
        <a:effectLst/>
      </p:bgPr>
    </p:bg>
    <p:spTree>
      <p:nvGrpSpPr>
        <p:cNvPr id="1" name=""/>
        <p:cNvGrpSpPr/>
        <p:nvPr/>
      </p:nvGrpSpPr>
      <p:grpSpPr/>
      <p:sp>
        <p:nvSpPr>
          <p:cNvPr id="2" name="Rectangle 1"/>
          <p:cNvSpPr/>
          <p:nvPr/>
        </p:nvSpPr>
        <p:spPr>
          <a:xfrm>
            <a:off x="548640" y="384048"/>
            <a:ext cx="384048" cy="274320"/>
          </a:xfrm>
          <a:prstGeom prst="rect">
            <a:avLst/>
          </a:prstGeom>
          <a:solidFill>
            <a:srgbClr val="C96A1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wrap="none"/>
          <a:lstStyle/>
          <a:p>
            <a:pPr algn="ctr"/>
            <a:r>
              <a:rPr sz="1200" b="1">
                <a:solidFill>
                  <a:srgbClr val="FFFFFF"/>
                </a:solidFill>
                <a:latin typeface="Segoe UI"/>
              </a:rPr>
              <a:t>09</a:t>
            </a:r>
          </a:p>
        </p:txBody>
      </p:sp>
      <p:sp>
        <p:nvSpPr>
          <p:cNvPr id="3" name="TextBox 2"/>
          <p:cNvSpPr txBox="1"/>
          <p:nvPr/>
        </p:nvSpPr>
        <p:spPr>
          <a:xfrm>
            <a:off x="1051560" y="384048"/>
            <a:ext cx="7315200" cy="292608"/>
          </a:xfrm>
          <a:prstGeom prst="rect">
            <a:avLst/>
          </a:prstGeom>
          <a:noFill/>
        </p:spPr>
        <p:txBody>
          <a:bodyPr wrap="square" anchor="ctr" lIns="0" rIns="0" tIns="0" bIns="0">
            <a:spAutoFit/>
          </a:bodyPr>
          <a:lstStyle/>
          <a:p>
            <a:pPr algn="l"/>
            <a:r>
              <a:rPr sz="1150" b="1" i="0">
                <a:solidFill>
                  <a:srgbClr val="C96A17"/>
                </a:solidFill>
                <a:latin typeface="Segoe UI"/>
              </a:rPr>
              <a:t>BONUS · MACHINE LEARNING VALIDATION</a:t>
            </a:r>
          </a:p>
        </p:txBody>
      </p:sp>
      <p:sp>
        <p:nvSpPr>
          <p:cNvPr id="4" name="TextBox 3"/>
          <p:cNvSpPr txBox="1"/>
          <p:nvPr/>
        </p:nvSpPr>
        <p:spPr>
          <a:xfrm>
            <a:off x="548640" y="749808"/>
            <a:ext cx="10881360" cy="1005840"/>
          </a:xfrm>
          <a:prstGeom prst="rect">
            <a:avLst/>
          </a:prstGeom>
          <a:noFill/>
        </p:spPr>
        <p:txBody>
          <a:bodyPr wrap="square" lIns="0" rIns="0" tIns="0" bIns="0">
            <a:spAutoFit/>
          </a:bodyPr>
          <a:lstStyle/>
          <a:p>
            <a:pPr algn="l">
              <a:lnSpc>
                <a:spcPct val="102000"/>
              </a:lnSpc>
            </a:pPr>
            <a:r>
              <a:rPr sz="2400" b="1" i="0">
                <a:solidFill>
                  <a:srgbClr val="171512"/>
                </a:solidFill>
                <a:latin typeface="Segoe UI"/>
              </a:rPr>
              <a:t>Could a model actually predict the risk label the dashboard reports?</a:t>
            </a:r>
          </a:p>
        </p:txBody>
      </p:sp>
      <p:sp>
        <p:nvSpPr>
          <p:cNvPr id="5" name="TextBox 4"/>
          <p:cNvSpPr txBox="1"/>
          <p:nvPr/>
        </p:nvSpPr>
        <p:spPr>
          <a:xfrm>
            <a:off x="548640" y="1417320"/>
            <a:ext cx="10698480" cy="594360"/>
          </a:xfrm>
          <a:prstGeom prst="rect">
            <a:avLst/>
          </a:prstGeom>
          <a:noFill/>
        </p:spPr>
        <p:txBody>
          <a:bodyPr wrap="square" lIns="0" rIns="0" tIns="0" bIns="0">
            <a:spAutoFit/>
          </a:bodyPr>
          <a:lstStyle/>
          <a:p>
            <a:pPr algn="l">
              <a:lnSpc>
                <a:spcPct val="120000"/>
              </a:lnSpc>
            </a:pPr>
            <a:r>
              <a:rPr sz="1300" b="0" i="0">
                <a:solidFill>
                  <a:srgbClr val="37332C"/>
                </a:solidFill>
                <a:latin typeface="Segoe UI"/>
              </a:rPr>
              <a:t>A companion notebook (runnable in Google Colab) trains four classifiers on the 25 business features the brief specifies, deliberately holding out Risk_Score to avoid teaching the model the answer.</a:t>
            </a:r>
          </a:p>
        </p:txBody>
      </p:sp>
      <p:sp>
        <p:nvSpPr>
          <p:cNvPr id="6" name="Rectangle 5"/>
          <p:cNvSpPr/>
          <p:nvPr/>
        </p:nvSpPr>
        <p:spPr>
          <a:xfrm>
            <a:off x="548640" y="2148840"/>
            <a:ext cx="5394960" cy="3657600"/>
          </a:xfrm>
          <a:prstGeom prst="rect">
            <a:avLst/>
          </a:prstGeom>
          <a:solidFill>
            <a:srgbClr val="FFFDF9"/>
          </a:solidFill>
          <a:ln w="9525">
            <a:solidFill>
              <a:srgbClr val="E4DDD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49808" y="2276856"/>
            <a:ext cx="5029200" cy="320040"/>
          </a:xfrm>
          <a:prstGeom prst="rect">
            <a:avLst/>
          </a:prstGeom>
          <a:noFill/>
        </p:spPr>
        <p:txBody>
          <a:bodyPr wrap="square" lIns="0" rIns="0" tIns="0" bIns="0">
            <a:spAutoFit/>
          </a:bodyPr>
          <a:lstStyle/>
          <a:p>
            <a:pPr algn="l"/>
            <a:r>
              <a:rPr sz="1300" b="1" i="0">
                <a:solidFill>
                  <a:srgbClr val="171512"/>
                </a:solidFill>
                <a:latin typeface="Segoe UI"/>
              </a:rPr>
              <a:t>Cross-validation accuracy</a:t>
            </a:r>
          </a:p>
        </p:txBody>
      </p:sp>
      <p:graphicFrame>
        <p:nvGraphicFramePr>
          <p:cNvPr id="8" name="Chart 7"/>
          <p:cNvGraphicFramePr>
            <a:graphicFrameLocks noGrp="1"/>
          </p:cNvGraphicFramePr>
          <p:nvPr/>
        </p:nvGraphicFramePr>
        <p:xfrm>
          <a:off x="640080" y="2651760"/>
          <a:ext cx="5120640" cy="2880360"/>
        </p:xfrm>
        <a:graphic>
          <a:graphicData uri="http://schemas.openxmlformats.org/drawingml/2006/chart">
            <c:chart xmlns:c="http://schemas.openxmlformats.org/drawingml/2006/chart" r:id="rId2"/>
          </a:graphicData>
        </a:graphic>
      </p:graphicFrame>
      <p:sp>
        <p:nvSpPr>
          <p:cNvPr id="9" name="TextBox 8"/>
          <p:cNvSpPr txBox="1"/>
          <p:nvPr/>
        </p:nvSpPr>
        <p:spPr>
          <a:xfrm>
            <a:off x="749808" y="5422392"/>
            <a:ext cx="4992624" cy="320040"/>
          </a:xfrm>
          <a:prstGeom prst="rect">
            <a:avLst/>
          </a:prstGeom>
          <a:noFill/>
        </p:spPr>
        <p:txBody>
          <a:bodyPr wrap="square" lIns="0" rIns="0" tIns="0" bIns="0">
            <a:spAutoFit/>
          </a:bodyPr>
          <a:lstStyle/>
          <a:p>
            <a:pPr algn="l"/>
            <a:r>
              <a:rPr sz="950" b="0" i="1">
                <a:solidFill>
                  <a:srgbClr val="6B6459"/>
                </a:solidFill>
                <a:latin typeface="Segoe UI"/>
              </a:rPr>
              <a:t>*tuned further with GridSearchCV and carried forward as the final model</a:t>
            </a:r>
          </a:p>
        </p:txBody>
      </p:sp>
      <p:sp>
        <p:nvSpPr>
          <p:cNvPr id="10" name="Rectangle 9"/>
          <p:cNvSpPr/>
          <p:nvPr/>
        </p:nvSpPr>
        <p:spPr>
          <a:xfrm>
            <a:off x="6172200" y="2148840"/>
            <a:ext cx="5440680" cy="3657600"/>
          </a:xfrm>
          <a:prstGeom prst="rect">
            <a:avLst/>
          </a:prstGeom>
          <a:solidFill>
            <a:srgbClr val="FFFDF9"/>
          </a:solidFill>
          <a:ln w="9525">
            <a:solidFill>
              <a:srgbClr val="E4DDD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373368" y="2276856"/>
            <a:ext cx="5074920" cy="320040"/>
          </a:xfrm>
          <a:prstGeom prst="rect">
            <a:avLst/>
          </a:prstGeom>
          <a:noFill/>
        </p:spPr>
        <p:txBody>
          <a:bodyPr wrap="square" lIns="0" rIns="0" tIns="0" bIns="0">
            <a:spAutoFit/>
          </a:bodyPr>
          <a:lstStyle/>
          <a:p>
            <a:pPr algn="l"/>
            <a:r>
              <a:rPr sz="1300" b="1" i="0">
                <a:solidFill>
                  <a:srgbClr val="171512"/>
                </a:solidFill>
                <a:latin typeface="Segoe UI"/>
              </a:rPr>
              <a:t>Test-set result vs. the brief's own targets</a:t>
            </a:r>
          </a:p>
        </p:txBody>
      </p:sp>
      <p:graphicFrame>
        <p:nvGraphicFramePr>
          <p:cNvPr id="12" name="Table 11"/>
          <p:cNvGraphicFramePr>
            <a:graphicFrameLocks noGrp="1"/>
          </p:cNvGraphicFramePr>
          <p:nvPr/>
        </p:nvGraphicFramePr>
        <p:xfrm>
          <a:off x="6373368" y="2697480"/>
          <a:ext cx="5038342" cy="1417320"/>
        </p:xfrm>
        <a:graphic>
          <a:graphicData uri="http://schemas.openxmlformats.org/drawingml/2006/table">
            <a:tbl>
              <a:tblPr firstRow="1" bandRow="0">
                <a:tableStyleId>{5C22544A-7EE6-4342-B048-85BDC9FD1C3A}</a:tableStyleId>
              </a:tblPr>
              <a:tblGrid>
                <a:gridCol w="1937824"/>
                <a:gridCol w="968912"/>
                <a:gridCol w="968912"/>
                <a:gridCol w="1162694"/>
              </a:tblGrid>
              <a:tr h="354330">
                <a:tc>
                  <a:txBody>
                    <a:bodyPr/>
                    <a:lstStyle/>
                    <a:p>
                      <a:pPr algn="l">
                        <a:defRPr sz="1050" b="1">
                          <a:solidFill>
                            <a:srgbClr val="6B6459"/>
                          </a:solidFill>
                          <a:latin typeface="Segoe UI"/>
                        </a:defRPr>
                      </a:pPr>
                      <a:r>
                        <a:t>Metric</a:t>
                      </a:r>
                    </a:p>
                  </a:txBody>
                  <a:tcPr marT="38100" marB="38100">
                    <a:solidFill>
                      <a:srgbClr val="FFFDF9"/>
                    </a:solidFill>
                  </a:tcPr>
                </a:tc>
                <a:tc>
                  <a:txBody>
                    <a:bodyPr/>
                    <a:lstStyle/>
                    <a:p>
                      <a:pPr algn="r">
                        <a:defRPr sz="1050" b="1">
                          <a:solidFill>
                            <a:srgbClr val="6B6459"/>
                          </a:solidFill>
                          <a:latin typeface="Segoe UI"/>
                        </a:defRPr>
                      </a:pPr>
                      <a:r>
                        <a:t>Target</a:t>
                      </a:r>
                    </a:p>
                  </a:txBody>
                  <a:tcPr marT="38100" marB="38100">
                    <a:solidFill>
                      <a:srgbClr val="FFFDF9"/>
                    </a:solidFill>
                  </a:tcPr>
                </a:tc>
                <a:tc>
                  <a:txBody>
                    <a:bodyPr/>
                    <a:lstStyle/>
                    <a:p>
                      <a:pPr algn="r">
                        <a:defRPr sz="1050" b="1">
                          <a:solidFill>
                            <a:srgbClr val="6B6459"/>
                          </a:solidFill>
                          <a:latin typeface="Segoe UI"/>
                        </a:defRPr>
                      </a:pPr>
                      <a:r>
                        <a:t>Achieved</a:t>
                      </a:r>
                    </a:p>
                  </a:txBody>
                  <a:tcPr marT="38100" marB="38100">
                    <a:solidFill>
                      <a:srgbClr val="FFFDF9"/>
                    </a:solidFill>
                  </a:tcPr>
                </a:tc>
                <a:tc>
                  <a:txBody>
                    <a:bodyPr/>
                    <a:lstStyle/>
                    <a:p>
                      <a:pPr algn="r">
                        <a:defRPr sz="1050" b="1">
                          <a:solidFill>
                            <a:srgbClr val="6B6459"/>
                          </a:solidFill>
                          <a:latin typeface="Segoe UI"/>
                        </a:defRPr>
                      </a:pPr>
                      <a:r>
                        <a:t>Met?</a:t>
                      </a:r>
                    </a:p>
                  </a:txBody>
                  <a:tcPr marT="38100" marB="38100">
                    <a:solidFill>
                      <a:srgbClr val="FFFDF9"/>
                    </a:solidFill>
                  </a:tcPr>
                </a:tc>
              </a:tr>
              <a:tr h="354330">
                <a:tc>
                  <a:txBody>
                    <a:bodyPr/>
                    <a:lstStyle/>
                    <a:p>
                      <a:pPr algn="l">
                        <a:defRPr sz="1050" b="0">
                          <a:solidFill>
                            <a:srgbClr val="37332C"/>
                          </a:solidFill>
                          <a:latin typeface="Segoe UI"/>
                        </a:defRPr>
                      </a:pPr>
                      <a:r>
                        <a:t>Overall accuracy</a:t>
                      </a:r>
                    </a:p>
                  </a:txBody>
                  <a:tcPr marT="38100" marB="38100">
                    <a:solidFill>
                      <a:srgbClr val="FFFDF9"/>
                    </a:solidFill>
                  </a:tcPr>
                </a:tc>
                <a:tc>
                  <a:txBody>
                    <a:bodyPr/>
                    <a:lstStyle/>
                    <a:p>
                      <a:pPr algn="r">
                        <a:defRPr sz="1050" b="0">
                          <a:solidFill>
                            <a:srgbClr val="37332C"/>
                          </a:solidFill>
                          <a:latin typeface="Segoe UI"/>
                        </a:defRPr>
                      </a:pPr>
                      <a:r>
                        <a:t>&gt;85%</a:t>
                      </a:r>
                    </a:p>
                  </a:txBody>
                  <a:tcPr marT="38100" marB="38100">
                    <a:solidFill>
                      <a:srgbClr val="FFFDF9"/>
                    </a:solidFill>
                  </a:tcPr>
                </a:tc>
                <a:tc>
                  <a:txBody>
                    <a:bodyPr/>
                    <a:lstStyle/>
                    <a:p>
                      <a:pPr algn="r">
                        <a:defRPr sz="1050" b="0">
                          <a:solidFill>
                            <a:srgbClr val="37332C"/>
                          </a:solidFill>
                          <a:latin typeface="Segoe UI"/>
                        </a:defRPr>
                      </a:pPr>
                      <a:r>
                        <a:t>80.7%</a:t>
                      </a:r>
                    </a:p>
                  </a:txBody>
                  <a:tcPr marT="38100" marB="38100">
                    <a:solidFill>
                      <a:srgbClr val="FFFDF9"/>
                    </a:solidFill>
                  </a:tcPr>
                </a:tc>
                <a:tc>
                  <a:txBody>
                    <a:bodyPr/>
                    <a:lstStyle/>
                    <a:p>
                      <a:pPr algn="r">
                        <a:defRPr sz="1050" b="0">
                          <a:solidFill>
                            <a:srgbClr val="37332C"/>
                          </a:solidFill>
                          <a:latin typeface="Segoe UI"/>
                        </a:defRPr>
                      </a:pPr>
                      <a:r>
                        <a:t>No</a:t>
                      </a:r>
                    </a:p>
                  </a:txBody>
                  <a:tcPr marT="38100" marB="38100">
                    <a:solidFill>
                      <a:srgbClr val="FFFDF9"/>
                    </a:solidFill>
                  </a:tcPr>
                </a:tc>
              </a:tr>
              <a:tr h="354330">
                <a:tc>
                  <a:txBody>
                    <a:bodyPr/>
                    <a:lstStyle/>
                    <a:p>
                      <a:pPr algn="l">
                        <a:defRPr sz="1050" b="0">
                          <a:solidFill>
                            <a:srgbClr val="37332C"/>
                          </a:solidFill>
                          <a:latin typeface="Segoe UI"/>
                        </a:defRPr>
                      </a:pPr>
                      <a:r>
                        <a:t>High Risk precision</a:t>
                      </a:r>
                    </a:p>
                  </a:txBody>
                  <a:tcPr marT="38100" marB="38100">
                    <a:solidFill>
                      <a:srgbClr val="FFFDF9"/>
                    </a:solidFill>
                  </a:tcPr>
                </a:tc>
                <a:tc>
                  <a:txBody>
                    <a:bodyPr/>
                    <a:lstStyle/>
                    <a:p>
                      <a:pPr algn="r">
                        <a:defRPr sz="1050" b="0">
                          <a:solidFill>
                            <a:srgbClr val="37332C"/>
                          </a:solidFill>
                          <a:latin typeface="Segoe UI"/>
                        </a:defRPr>
                      </a:pPr>
                      <a:r>
                        <a:t>&gt;80%</a:t>
                      </a:r>
                    </a:p>
                  </a:txBody>
                  <a:tcPr marT="38100" marB="38100">
                    <a:solidFill>
                      <a:srgbClr val="FFFDF9"/>
                    </a:solidFill>
                  </a:tcPr>
                </a:tc>
                <a:tc>
                  <a:txBody>
                    <a:bodyPr/>
                    <a:lstStyle/>
                    <a:p>
                      <a:pPr algn="r">
                        <a:defRPr sz="1050" b="0">
                          <a:solidFill>
                            <a:srgbClr val="37332C"/>
                          </a:solidFill>
                          <a:latin typeface="Segoe UI"/>
                        </a:defRPr>
                      </a:pPr>
                      <a:r>
                        <a:t>89.7%</a:t>
                      </a:r>
                    </a:p>
                  </a:txBody>
                  <a:tcPr marT="38100" marB="38100">
                    <a:solidFill>
                      <a:srgbClr val="FFFDF9"/>
                    </a:solidFill>
                  </a:tcPr>
                </a:tc>
                <a:tc>
                  <a:txBody>
                    <a:bodyPr/>
                    <a:lstStyle/>
                    <a:p>
                      <a:pPr algn="r">
                        <a:defRPr sz="1050" b="0">
                          <a:solidFill>
                            <a:srgbClr val="37332C"/>
                          </a:solidFill>
                          <a:latin typeface="Segoe UI"/>
                        </a:defRPr>
                      </a:pPr>
                      <a:r>
                        <a:t>Yes</a:t>
                      </a:r>
                    </a:p>
                  </a:txBody>
                  <a:tcPr marT="38100" marB="38100">
                    <a:solidFill>
                      <a:srgbClr val="FFFDF9"/>
                    </a:solidFill>
                  </a:tcPr>
                </a:tc>
              </a:tr>
              <a:tr h="354330">
                <a:tc>
                  <a:txBody>
                    <a:bodyPr/>
                    <a:lstStyle/>
                    <a:p>
                      <a:pPr algn="l">
                        <a:defRPr sz="1050" b="0">
                          <a:solidFill>
                            <a:srgbClr val="37332C"/>
                          </a:solidFill>
                          <a:latin typeface="Segoe UI"/>
                        </a:defRPr>
                      </a:pPr>
                      <a:r>
                        <a:t>High Risk recall</a:t>
                      </a:r>
                    </a:p>
                  </a:txBody>
                  <a:tcPr marT="38100" marB="38100">
                    <a:solidFill>
                      <a:srgbClr val="FFFDF9"/>
                    </a:solidFill>
                  </a:tcPr>
                </a:tc>
                <a:tc>
                  <a:txBody>
                    <a:bodyPr/>
                    <a:lstStyle/>
                    <a:p>
                      <a:pPr algn="r">
                        <a:defRPr sz="1050" b="0">
                          <a:solidFill>
                            <a:srgbClr val="37332C"/>
                          </a:solidFill>
                          <a:latin typeface="Segoe UI"/>
                        </a:defRPr>
                      </a:pPr>
                      <a:r>
                        <a:t>&gt;90%</a:t>
                      </a:r>
                    </a:p>
                  </a:txBody>
                  <a:tcPr marT="38100" marB="38100">
                    <a:solidFill>
                      <a:srgbClr val="FFFDF9"/>
                    </a:solidFill>
                  </a:tcPr>
                </a:tc>
                <a:tc>
                  <a:txBody>
                    <a:bodyPr/>
                    <a:lstStyle/>
                    <a:p>
                      <a:pPr algn="r">
                        <a:defRPr sz="1050" b="0">
                          <a:solidFill>
                            <a:srgbClr val="37332C"/>
                          </a:solidFill>
                          <a:latin typeface="Segoe UI"/>
                        </a:defRPr>
                      </a:pPr>
                      <a:r>
                        <a:t>89.7%</a:t>
                      </a:r>
                    </a:p>
                  </a:txBody>
                  <a:tcPr marT="38100" marB="38100">
                    <a:solidFill>
                      <a:srgbClr val="FFFDF9"/>
                    </a:solidFill>
                  </a:tcPr>
                </a:tc>
                <a:tc>
                  <a:txBody>
                    <a:bodyPr/>
                    <a:lstStyle/>
                    <a:p>
                      <a:pPr algn="r">
                        <a:defRPr sz="1050" b="0">
                          <a:solidFill>
                            <a:srgbClr val="37332C"/>
                          </a:solidFill>
                          <a:latin typeface="Segoe UI"/>
                        </a:defRPr>
                      </a:pPr>
                      <a:r>
                        <a:t>Narrowly no</a:t>
                      </a:r>
                    </a:p>
                  </a:txBody>
                  <a:tcPr marT="38100" marB="38100">
                    <a:solidFill>
                      <a:srgbClr val="FFFDF9"/>
                    </a:solidFill>
                  </a:tcPr>
                </a:tc>
              </a:tr>
            </a:tbl>
          </a:graphicData>
        </a:graphic>
      </p:graphicFrame>
      <p:sp>
        <p:nvSpPr>
          <p:cNvPr id="13" name="TextBox 12"/>
          <p:cNvSpPr txBox="1"/>
          <p:nvPr/>
        </p:nvSpPr>
        <p:spPr>
          <a:xfrm>
            <a:off x="6373368" y="4343400"/>
            <a:ext cx="5038344" cy="1280160"/>
          </a:xfrm>
          <a:prstGeom prst="rect">
            <a:avLst/>
          </a:prstGeom>
          <a:noFill/>
        </p:spPr>
        <p:txBody>
          <a:bodyPr wrap="square" lIns="0" rIns="0" tIns="0" bIns="0">
            <a:spAutoFit/>
          </a:bodyPr>
          <a:lstStyle/>
          <a:p>
            <a:pPr algn="l">
              <a:lnSpc>
                <a:spcPct val="125000"/>
              </a:lnSpc>
            </a:pPr>
            <a:r>
              <a:rPr sz="1200" b="0" i="0">
                <a:solidFill>
                  <a:srgbClr val="37332C"/>
                </a:solidFill>
                <a:latin typeface="Segoe UI"/>
              </a:rPr>
              <a:t>Medium Risk is the hardest class to separate (72.9% F1) – the honest finding is that the model is very good at catching the highest-stakes case, even where its overall accuracy falls short.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7F4EE"/>
        </a:solidFill>
        <a:effectLst/>
      </p:bgPr>
    </p:bg>
    <p:spTree>
      <p:nvGrpSpPr>
        <p:cNvPr id="1" name=""/>
        <p:cNvGrpSpPr/>
        <p:nvPr/>
      </p:nvGrpSpPr>
      <p:grpSpPr/>
      <p:sp>
        <p:nvSpPr>
          <p:cNvPr id="2" name="Rectangle 1"/>
          <p:cNvSpPr/>
          <p:nvPr/>
        </p:nvSpPr>
        <p:spPr>
          <a:xfrm>
            <a:off x="548640" y="384048"/>
            <a:ext cx="384048" cy="274320"/>
          </a:xfrm>
          <a:prstGeom prst="rect">
            <a:avLst/>
          </a:prstGeom>
          <a:solidFill>
            <a:srgbClr val="C96A1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wrap="none"/>
          <a:lstStyle/>
          <a:p>
            <a:pPr algn="ctr"/>
            <a:r>
              <a:rPr sz="1200" b="1">
                <a:solidFill>
                  <a:srgbClr val="FFFFFF"/>
                </a:solidFill>
                <a:latin typeface="Segoe UI"/>
              </a:rPr>
              <a:t>10</a:t>
            </a:r>
          </a:p>
        </p:txBody>
      </p:sp>
      <p:sp>
        <p:nvSpPr>
          <p:cNvPr id="3" name="TextBox 2"/>
          <p:cNvSpPr txBox="1"/>
          <p:nvPr/>
        </p:nvSpPr>
        <p:spPr>
          <a:xfrm>
            <a:off x="1051560" y="384048"/>
            <a:ext cx="7315200" cy="292608"/>
          </a:xfrm>
          <a:prstGeom prst="rect">
            <a:avLst/>
          </a:prstGeom>
          <a:noFill/>
        </p:spPr>
        <p:txBody>
          <a:bodyPr wrap="square" anchor="ctr" lIns="0" rIns="0" tIns="0" bIns="0">
            <a:spAutoFit/>
          </a:bodyPr>
          <a:lstStyle/>
          <a:p>
            <a:pPr algn="l"/>
            <a:r>
              <a:rPr sz="1150" b="1" i="0">
                <a:solidFill>
                  <a:srgbClr val="C96A17"/>
                </a:solidFill>
                <a:latin typeface="Segoe UI"/>
              </a:rPr>
              <a:t>THE STORY THE DATA TELLS</a:t>
            </a:r>
          </a:p>
        </p:txBody>
      </p:sp>
      <p:sp>
        <p:nvSpPr>
          <p:cNvPr id="4" name="TextBox 3"/>
          <p:cNvSpPr txBox="1"/>
          <p:nvPr/>
        </p:nvSpPr>
        <p:spPr>
          <a:xfrm>
            <a:off x="548640" y="749808"/>
            <a:ext cx="10881360" cy="1005840"/>
          </a:xfrm>
          <a:prstGeom prst="rect">
            <a:avLst/>
          </a:prstGeom>
          <a:noFill/>
        </p:spPr>
        <p:txBody>
          <a:bodyPr wrap="square" lIns="0" rIns="0" tIns="0" bIns="0">
            <a:spAutoFit/>
          </a:bodyPr>
          <a:lstStyle/>
          <a:p>
            <a:pPr algn="l">
              <a:lnSpc>
                <a:spcPct val="102000"/>
              </a:lnSpc>
            </a:pPr>
            <a:r>
              <a:rPr sz="3000" b="1" i="0">
                <a:solidFill>
                  <a:srgbClr val="171512"/>
                </a:solidFill>
                <a:latin typeface="Segoe UI"/>
              </a:rPr>
              <a:t>Four pages, one narrative arc.</a:t>
            </a:r>
          </a:p>
        </p:txBody>
      </p:sp>
      <p:sp>
        <p:nvSpPr>
          <p:cNvPr id="5" name="Rectangle 4"/>
          <p:cNvSpPr/>
          <p:nvPr/>
        </p:nvSpPr>
        <p:spPr>
          <a:xfrm>
            <a:off x="548640" y="1737360"/>
            <a:ext cx="2651760" cy="2331720"/>
          </a:xfrm>
          <a:prstGeom prst="rect">
            <a:avLst/>
          </a:prstGeom>
          <a:solidFill>
            <a:srgbClr val="FFFDF9"/>
          </a:solidFill>
          <a:ln w="9525">
            <a:solidFill>
              <a:srgbClr val="E4DDD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1920240"/>
            <a:ext cx="2286000" cy="274320"/>
          </a:xfrm>
          <a:prstGeom prst="rect">
            <a:avLst/>
          </a:prstGeom>
          <a:noFill/>
        </p:spPr>
        <p:txBody>
          <a:bodyPr wrap="square" lIns="0" rIns="0" tIns="0" bIns="0">
            <a:spAutoFit/>
          </a:bodyPr>
          <a:lstStyle/>
          <a:p>
            <a:pPr algn="l"/>
            <a:r>
              <a:rPr sz="1050" b="1" i="0">
                <a:solidFill>
                  <a:srgbClr val="C96A17"/>
                </a:solidFill>
                <a:latin typeface="Segoe UI"/>
              </a:rPr>
              <a:t>OVERVIEW</a:t>
            </a:r>
          </a:p>
        </p:txBody>
      </p:sp>
      <p:sp>
        <p:nvSpPr>
          <p:cNvPr id="7" name="TextBox 6"/>
          <p:cNvSpPr txBox="1"/>
          <p:nvPr/>
        </p:nvSpPr>
        <p:spPr>
          <a:xfrm>
            <a:off x="731520" y="2304288"/>
            <a:ext cx="2286000" cy="1600199"/>
          </a:xfrm>
          <a:prstGeom prst="rect">
            <a:avLst/>
          </a:prstGeom>
          <a:noFill/>
        </p:spPr>
        <p:txBody>
          <a:bodyPr wrap="square" lIns="0" rIns="0" tIns="0" bIns="0">
            <a:spAutoFit/>
          </a:bodyPr>
          <a:lstStyle/>
          <a:p>
            <a:pPr algn="l">
              <a:lnSpc>
                <a:spcPct val="122000"/>
              </a:lnSpc>
            </a:pPr>
            <a:r>
              <a:rPr sz="1150" b="0" i="0">
                <a:solidFill>
                  <a:srgbClr val="37332C"/>
                </a:solidFill>
                <a:latin typeface="Segoe UI"/>
              </a:rPr>
              <a:t>38.8% of the catalog is already High Risk, and it isn't evenly spread across categories.</a:t>
            </a:r>
          </a:p>
        </p:txBody>
      </p:sp>
      <p:sp>
        <p:nvSpPr>
          <p:cNvPr id="8" name="Rectangle 7"/>
          <p:cNvSpPr/>
          <p:nvPr/>
        </p:nvSpPr>
        <p:spPr>
          <a:xfrm>
            <a:off x="3337560" y="1737360"/>
            <a:ext cx="2651760" cy="2331720"/>
          </a:xfrm>
          <a:prstGeom prst="rect">
            <a:avLst/>
          </a:prstGeom>
          <a:solidFill>
            <a:srgbClr val="FFFDF9"/>
          </a:solidFill>
          <a:ln w="9525">
            <a:solidFill>
              <a:srgbClr val="E4DDD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520440" y="1920240"/>
            <a:ext cx="2286000" cy="274320"/>
          </a:xfrm>
          <a:prstGeom prst="rect">
            <a:avLst/>
          </a:prstGeom>
          <a:noFill/>
        </p:spPr>
        <p:txBody>
          <a:bodyPr wrap="square" lIns="0" rIns="0" tIns="0" bIns="0">
            <a:spAutoFit/>
          </a:bodyPr>
          <a:lstStyle/>
          <a:p>
            <a:pPr algn="l"/>
            <a:r>
              <a:rPr sz="1050" b="1" i="0">
                <a:solidFill>
                  <a:srgbClr val="C96A17"/>
                </a:solidFill>
                <a:latin typeface="Segoe UI"/>
              </a:rPr>
              <a:t>RISK &amp; ACTION</a:t>
            </a:r>
          </a:p>
        </p:txBody>
      </p:sp>
      <p:sp>
        <p:nvSpPr>
          <p:cNvPr id="10" name="TextBox 9"/>
          <p:cNvSpPr txBox="1"/>
          <p:nvPr/>
        </p:nvSpPr>
        <p:spPr>
          <a:xfrm>
            <a:off x="3520440" y="2304288"/>
            <a:ext cx="2286000" cy="1600199"/>
          </a:xfrm>
          <a:prstGeom prst="rect">
            <a:avLst/>
          </a:prstGeom>
          <a:noFill/>
        </p:spPr>
        <p:txBody>
          <a:bodyPr wrap="square" lIns="0" rIns="0" tIns="0" bIns="0">
            <a:spAutoFit/>
          </a:bodyPr>
          <a:lstStyle/>
          <a:p>
            <a:pPr algn="l">
              <a:lnSpc>
                <a:spcPct val="122000"/>
              </a:lnSpc>
            </a:pPr>
            <a:r>
              <a:rPr sz="1150" b="0" i="0">
                <a:solidFill>
                  <a:srgbClr val="37332C"/>
                </a:solidFill>
                <a:latin typeface="Segoe UI"/>
              </a:rPr>
              <a:t>30 of those are also top-value stock – the list that should be worked first, today.</a:t>
            </a:r>
          </a:p>
        </p:txBody>
      </p:sp>
      <p:sp>
        <p:nvSpPr>
          <p:cNvPr id="11" name="Rectangle 10"/>
          <p:cNvSpPr/>
          <p:nvPr/>
        </p:nvSpPr>
        <p:spPr>
          <a:xfrm>
            <a:off x="6126479" y="1737360"/>
            <a:ext cx="2651760" cy="2331720"/>
          </a:xfrm>
          <a:prstGeom prst="rect">
            <a:avLst/>
          </a:prstGeom>
          <a:solidFill>
            <a:srgbClr val="FFFDF9"/>
          </a:solidFill>
          <a:ln w="9525">
            <a:solidFill>
              <a:srgbClr val="E4DDD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309359" y="1920240"/>
            <a:ext cx="2286000" cy="274320"/>
          </a:xfrm>
          <a:prstGeom prst="rect">
            <a:avLst/>
          </a:prstGeom>
          <a:noFill/>
        </p:spPr>
        <p:txBody>
          <a:bodyPr wrap="square" lIns="0" rIns="0" tIns="0" bIns="0">
            <a:spAutoFit/>
          </a:bodyPr>
          <a:lstStyle/>
          <a:p>
            <a:pPr algn="l"/>
            <a:r>
              <a:rPr sz="1050" b="1" i="0">
                <a:solidFill>
                  <a:srgbClr val="C96A17"/>
                </a:solidFill>
                <a:latin typeface="Segoe UI"/>
              </a:rPr>
              <a:t>INVENTORY HEALTH</a:t>
            </a:r>
          </a:p>
        </p:txBody>
      </p:sp>
      <p:sp>
        <p:nvSpPr>
          <p:cNvPr id="13" name="TextBox 12"/>
          <p:cNvSpPr txBox="1"/>
          <p:nvPr/>
        </p:nvSpPr>
        <p:spPr>
          <a:xfrm>
            <a:off x="6309359" y="2304288"/>
            <a:ext cx="2286000" cy="1600199"/>
          </a:xfrm>
          <a:prstGeom prst="rect">
            <a:avLst/>
          </a:prstGeom>
          <a:noFill/>
        </p:spPr>
        <p:txBody>
          <a:bodyPr wrap="square" lIns="0" rIns="0" tIns="0" bIns="0">
            <a:spAutoFit/>
          </a:bodyPr>
          <a:lstStyle/>
          <a:p>
            <a:pPr algn="l">
              <a:lnSpc>
                <a:spcPct val="122000"/>
              </a:lnSpc>
            </a:pPr>
            <a:r>
              <a:rPr sz="1150" b="0" i="0">
                <a:solidFill>
                  <a:srgbClr val="37332C"/>
                </a:solidFill>
                <a:latin typeface="Segoe UI"/>
              </a:rPr>
              <a:t>Service level sits 12.8 points under target, while excess stock is, right now, not the problem.</a:t>
            </a:r>
          </a:p>
        </p:txBody>
      </p:sp>
      <p:sp>
        <p:nvSpPr>
          <p:cNvPr id="14" name="Rectangle 13"/>
          <p:cNvSpPr/>
          <p:nvPr/>
        </p:nvSpPr>
        <p:spPr>
          <a:xfrm>
            <a:off x="8915400" y="1737360"/>
            <a:ext cx="2651760" cy="2331720"/>
          </a:xfrm>
          <a:prstGeom prst="rect">
            <a:avLst/>
          </a:prstGeom>
          <a:solidFill>
            <a:srgbClr val="FFFDF9"/>
          </a:solidFill>
          <a:ln w="9525">
            <a:solidFill>
              <a:srgbClr val="E4DDD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098280" y="1920240"/>
            <a:ext cx="2286000" cy="274320"/>
          </a:xfrm>
          <a:prstGeom prst="rect">
            <a:avLst/>
          </a:prstGeom>
          <a:noFill/>
        </p:spPr>
        <p:txBody>
          <a:bodyPr wrap="square" lIns="0" rIns="0" tIns="0" bIns="0">
            <a:spAutoFit/>
          </a:bodyPr>
          <a:lstStyle/>
          <a:p>
            <a:pPr algn="l"/>
            <a:r>
              <a:rPr sz="1050" b="1" i="0">
                <a:solidFill>
                  <a:srgbClr val="C96A17"/>
                </a:solidFill>
                <a:latin typeface="Segoe UI"/>
              </a:rPr>
              <a:t>SUPPLIER &amp; DEMAND</a:t>
            </a:r>
          </a:p>
        </p:txBody>
      </p:sp>
      <p:sp>
        <p:nvSpPr>
          <p:cNvPr id="16" name="TextBox 15"/>
          <p:cNvSpPr txBox="1"/>
          <p:nvPr/>
        </p:nvSpPr>
        <p:spPr>
          <a:xfrm>
            <a:off x="9098280" y="2304288"/>
            <a:ext cx="2286000" cy="1600199"/>
          </a:xfrm>
          <a:prstGeom prst="rect">
            <a:avLst/>
          </a:prstGeom>
          <a:noFill/>
        </p:spPr>
        <p:txBody>
          <a:bodyPr wrap="square" lIns="0" rIns="0" tIns="0" bIns="0">
            <a:spAutoFit/>
          </a:bodyPr>
          <a:lstStyle/>
          <a:p>
            <a:pPr algn="l">
              <a:lnSpc>
                <a:spcPct val="122000"/>
              </a:lnSpc>
            </a:pPr>
            <a:r>
              <a:rPr sz="1150" b="0" i="0">
                <a:solidFill>
                  <a:srgbClr val="37332C"/>
                </a:solidFill>
                <a:latin typeface="Segoe UI"/>
              </a:rPr>
              <a:t>245 SKUs have repeat stockouts, and 54 are tied to slow suppliers carrying strong demand.</a:t>
            </a:r>
          </a:p>
        </p:txBody>
      </p:sp>
      <p:sp>
        <p:nvSpPr>
          <p:cNvPr id="17" name="Rectangle 16"/>
          <p:cNvSpPr/>
          <p:nvPr/>
        </p:nvSpPr>
        <p:spPr>
          <a:xfrm>
            <a:off x="548640" y="4434840"/>
            <a:ext cx="41148" cy="1371600"/>
          </a:xfrm>
          <a:prstGeom prst="rect">
            <a:avLst/>
          </a:prstGeom>
          <a:solidFill>
            <a:srgbClr val="C96A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68680" y="4434840"/>
            <a:ext cx="10241280" cy="1371600"/>
          </a:xfrm>
          <a:prstGeom prst="rect">
            <a:avLst/>
          </a:prstGeom>
          <a:noFill/>
        </p:spPr>
        <p:txBody>
          <a:bodyPr wrap="square" lIns="0" rIns="0" tIns="0" bIns="0">
            <a:spAutoFit/>
          </a:bodyPr>
          <a:lstStyle/>
          <a:p>
            <a:pPr algn="l">
              <a:lnSpc>
                <a:spcPct val="130000"/>
              </a:lnSpc>
            </a:pPr>
            <a:r>
              <a:rPr sz="1700" b="0" i="1">
                <a:solidFill>
                  <a:srgbClr val="37332C"/>
                </a:solidFill>
                <a:latin typeface="Segoe UI"/>
              </a:rPr>
              <a:t>The four pages don't repeat one chart four ways – each one answers a different question a manager would ask next: what's wrong, what do I do, what's it costing, and why is it happening.</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7F4EE"/>
        </a:solidFill>
        <a:effectLst/>
      </p:bgPr>
    </p:bg>
    <p:spTree>
      <p:nvGrpSpPr>
        <p:cNvPr id="1" name=""/>
        <p:cNvGrpSpPr/>
        <p:nvPr/>
      </p:nvGrpSpPr>
      <p:grpSpPr/>
      <p:sp>
        <p:nvSpPr>
          <p:cNvPr id="2" name="Rectangle 1"/>
          <p:cNvSpPr/>
          <p:nvPr/>
        </p:nvSpPr>
        <p:spPr>
          <a:xfrm>
            <a:off x="548640" y="384048"/>
            <a:ext cx="384048" cy="274320"/>
          </a:xfrm>
          <a:prstGeom prst="rect">
            <a:avLst/>
          </a:prstGeom>
          <a:solidFill>
            <a:srgbClr val="C96A1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wrap="none"/>
          <a:lstStyle/>
          <a:p>
            <a:pPr algn="ctr"/>
            <a:r>
              <a:rPr sz="1200" b="1">
                <a:solidFill>
                  <a:srgbClr val="FFFFFF"/>
                </a:solidFill>
                <a:latin typeface="Segoe UI"/>
              </a:rPr>
              <a:t>11</a:t>
            </a:r>
          </a:p>
        </p:txBody>
      </p:sp>
      <p:sp>
        <p:nvSpPr>
          <p:cNvPr id="3" name="TextBox 2"/>
          <p:cNvSpPr txBox="1"/>
          <p:nvPr/>
        </p:nvSpPr>
        <p:spPr>
          <a:xfrm>
            <a:off x="1051560" y="384048"/>
            <a:ext cx="7315200" cy="292608"/>
          </a:xfrm>
          <a:prstGeom prst="rect">
            <a:avLst/>
          </a:prstGeom>
          <a:noFill/>
        </p:spPr>
        <p:txBody>
          <a:bodyPr wrap="square" anchor="ctr" lIns="0" rIns="0" tIns="0" bIns="0">
            <a:spAutoFit/>
          </a:bodyPr>
          <a:lstStyle/>
          <a:p>
            <a:pPr algn="l"/>
            <a:r>
              <a:rPr sz="1150" b="1" i="0">
                <a:solidFill>
                  <a:srgbClr val="C96A17"/>
                </a:solidFill>
                <a:latin typeface="Segoe UI"/>
              </a:rPr>
              <a:t>INTENDED VS. IMPLEMENTED</a:t>
            </a:r>
          </a:p>
        </p:txBody>
      </p:sp>
      <p:sp>
        <p:nvSpPr>
          <p:cNvPr id="4" name="TextBox 3"/>
          <p:cNvSpPr txBox="1"/>
          <p:nvPr/>
        </p:nvSpPr>
        <p:spPr>
          <a:xfrm>
            <a:off x="548640" y="749808"/>
            <a:ext cx="10881360" cy="1005840"/>
          </a:xfrm>
          <a:prstGeom prst="rect">
            <a:avLst/>
          </a:prstGeom>
          <a:noFill/>
        </p:spPr>
        <p:txBody>
          <a:bodyPr wrap="square" lIns="0" rIns="0" tIns="0" bIns="0">
            <a:spAutoFit/>
          </a:bodyPr>
          <a:lstStyle/>
          <a:p>
            <a:pPr algn="l">
              <a:lnSpc>
                <a:spcPct val="102000"/>
              </a:lnSpc>
            </a:pPr>
            <a:r>
              <a:rPr sz="2800" b="1" i="0">
                <a:solidFill>
                  <a:srgbClr val="171512"/>
                </a:solidFill>
                <a:latin typeface="Segoe UI"/>
              </a:rPr>
              <a:t>Checked against the brief, item by item.</a:t>
            </a:r>
          </a:p>
        </p:txBody>
      </p:sp>
      <p:graphicFrame>
        <p:nvGraphicFramePr>
          <p:cNvPr id="5" name="Table 4"/>
          <p:cNvGraphicFramePr>
            <a:graphicFrameLocks noGrp="1"/>
          </p:cNvGraphicFramePr>
          <p:nvPr/>
        </p:nvGraphicFramePr>
        <p:xfrm>
          <a:off x="548640" y="1691640"/>
          <a:ext cx="11064238" cy="3931920"/>
        </p:xfrm>
        <a:graphic>
          <a:graphicData uri="http://schemas.openxmlformats.org/drawingml/2006/table">
            <a:tbl>
              <a:tblPr firstRow="1" bandRow="0">
                <a:tableStyleId>{5C22544A-7EE6-4342-B048-85BDC9FD1C3A}</a:tableStyleId>
              </a:tblPr>
              <a:tblGrid>
                <a:gridCol w="4639842"/>
                <a:gridCol w="4639842"/>
                <a:gridCol w="1784554"/>
              </a:tblGrid>
              <a:tr h="561702">
                <a:tc>
                  <a:txBody>
                    <a:bodyPr/>
                    <a:lstStyle/>
                    <a:p>
                      <a:pPr algn="l">
                        <a:defRPr sz="1050" b="1">
                          <a:solidFill>
                            <a:srgbClr val="6B6459"/>
                          </a:solidFill>
                          <a:latin typeface="Segoe UI"/>
                        </a:defRPr>
                      </a:pPr>
                      <a:r>
                        <a:t>Goal from the brief</a:t>
                      </a:r>
                    </a:p>
                  </a:txBody>
                  <a:tcPr marT="38100" marB="38100">
                    <a:solidFill>
                      <a:srgbClr val="FFFDF9"/>
                    </a:solidFill>
                  </a:tcPr>
                </a:tc>
                <a:tc>
                  <a:txBody>
                    <a:bodyPr/>
                    <a:lstStyle/>
                    <a:p>
                      <a:pPr algn="r">
                        <a:defRPr sz="1050" b="1">
                          <a:solidFill>
                            <a:srgbClr val="6B6459"/>
                          </a:solidFill>
                          <a:latin typeface="Segoe UI"/>
                        </a:defRPr>
                      </a:pPr>
                      <a:r>
                        <a:t>Where it lives</a:t>
                      </a:r>
                    </a:p>
                  </a:txBody>
                  <a:tcPr marT="38100" marB="38100">
                    <a:solidFill>
                      <a:srgbClr val="FFFDF9"/>
                    </a:solidFill>
                  </a:tcPr>
                </a:tc>
                <a:tc>
                  <a:txBody>
                    <a:bodyPr/>
                    <a:lstStyle/>
                    <a:p>
                      <a:pPr algn="r">
                        <a:defRPr sz="1050" b="1">
                          <a:solidFill>
                            <a:srgbClr val="6B6459"/>
                          </a:solidFill>
                          <a:latin typeface="Segoe UI"/>
                        </a:defRPr>
                      </a:pPr>
                      <a:r>
                        <a:t>Status</a:t>
                      </a:r>
                    </a:p>
                  </a:txBody>
                  <a:tcPr marT="38100" marB="38100">
                    <a:solidFill>
                      <a:srgbClr val="FFFDF9"/>
                    </a:solidFill>
                  </a:tcPr>
                </a:tc>
              </a:tr>
              <a:tr h="561702">
                <a:tc>
                  <a:txBody>
                    <a:bodyPr/>
                    <a:lstStyle/>
                    <a:p>
                      <a:pPr algn="l">
                        <a:defRPr sz="1050" b="0">
                          <a:solidFill>
                            <a:srgbClr val="37332C"/>
                          </a:solidFill>
                          <a:latin typeface="Segoe UI"/>
                        </a:defRPr>
                      </a:pPr>
                      <a:r>
                        <a:t>Classify products by stockout risk</a:t>
                      </a:r>
                    </a:p>
                  </a:txBody>
                  <a:tcPr marT="38100" marB="38100">
                    <a:solidFill>
                      <a:srgbClr val="FFFDF9"/>
                    </a:solidFill>
                  </a:tcPr>
                </a:tc>
                <a:tc>
                  <a:txBody>
                    <a:bodyPr/>
                    <a:lstStyle/>
                    <a:p>
                      <a:pPr algn="r">
                        <a:defRPr sz="1050" b="0">
                          <a:solidFill>
                            <a:srgbClr val="37332C"/>
                          </a:solidFill>
                          <a:latin typeface="Segoe UI"/>
                        </a:defRPr>
                      </a:pPr>
                      <a:r>
                        <a:t>Page 1 donut, Page 2 action list</a:t>
                      </a:r>
                    </a:p>
                  </a:txBody>
                  <a:tcPr marT="38100" marB="38100">
                    <a:solidFill>
                      <a:srgbClr val="FFFDF9"/>
                    </a:solidFill>
                  </a:tcPr>
                </a:tc>
                <a:tc>
                  <a:txBody>
                    <a:bodyPr/>
                    <a:lstStyle/>
                    <a:p>
                      <a:pPr algn="r">
                        <a:defRPr sz="1050" b="0">
                          <a:solidFill>
                            <a:srgbClr val="37332C"/>
                          </a:solidFill>
                          <a:latin typeface="Segoe UI"/>
                        </a:defRPr>
                      </a:pPr>
                      <a:r>
                        <a:t>Done</a:t>
                      </a:r>
                    </a:p>
                  </a:txBody>
                  <a:tcPr marT="38100" marB="38100">
                    <a:solidFill>
                      <a:srgbClr val="FFFDF9"/>
                    </a:solidFill>
                  </a:tcPr>
                </a:tc>
              </a:tr>
              <a:tr h="561702">
                <a:tc>
                  <a:txBody>
                    <a:bodyPr/>
                    <a:lstStyle/>
                    <a:p>
                      <a:pPr algn="l">
                        <a:defRPr sz="1050" b="0">
                          <a:solidFill>
                            <a:srgbClr val="37332C"/>
                          </a:solidFill>
                          <a:latin typeface="Segoe UI"/>
                        </a:defRPr>
                      </a:pPr>
                      <a:r>
                        <a:t>Prioritize reorder decisions</a:t>
                      </a:r>
                    </a:p>
                  </a:txBody>
                  <a:tcPr marT="38100" marB="38100">
                    <a:solidFill>
                      <a:srgbClr val="FFFDF9"/>
                    </a:solidFill>
                  </a:tcPr>
                </a:tc>
                <a:tc>
                  <a:txBody>
                    <a:bodyPr/>
                    <a:lstStyle/>
                    <a:p>
                      <a:pPr algn="r">
                        <a:defRPr sz="1050" b="0">
                          <a:solidFill>
                            <a:srgbClr val="37332C"/>
                          </a:solidFill>
                          <a:latin typeface="Segoe UI"/>
                        </a:defRPr>
                      </a:pPr>
                      <a:r>
                        <a:t>Page 2 / Page 3 sorted tables</a:t>
                      </a:r>
                    </a:p>
                  </a:txBody>
                  <a:tcPr marT="38100" marB="38100">
                    <a:solidFill>
                      <a:srgbClr val="FFFDF9"/>
                    </a:solidFill>
                  </a:tcPr>
                </a:tc>
                <a:tc>
                  <a:txBody>
                    <a:bodyPr/>
                    <a:lstStyle/>
                    <a:p>
                      <a:pPr algn="r">
                        <a:defRPr sz="1050" b="0">
                          <a:solidFill>
                            <a:srgbClr val="37332C"/>
                          </a:solidFill>
                          <a:latin typeface="Segoe UI"/>
                        </a:defRPr>
                      </a:pPr>
                      <a:r>
                        <a:t>Done</a:t>
                      </a:r>
                    </a:p>
                  </a:txBody>
                  <a:tcPr marT="38100" marB="38100">
                    <a:solidFill>
                      <a:srgbClr val="FFFDF9"/>
                    </a:solidFill>
                  </a:tcPr>
                </a:tc>
              </a:tr>
              <a:tr h="561702">
                <a:tc>
                  <a:txBody>
                    <a:bodyPr/>
                    <a:lstStyle/>
                    <a:p>
                      <a:pPr algn="l">
                        <a:defRPr sz="1050" b="0">
                          <a:solidFill>
                            <a:srgbClr val="37332C"/>
                          </a:solidFill>
                          <a:latin typeface="Segoe UI"/>
                        </a:defRPr>
                      </a:pPr>
                      <a:r>
                        <a:t>Negotiate lead times with suppliers</a:t>
                      </a:r>
                    </a:p>
                  </a:txBody>
                  <a:tcPr marT="38100" marB="38100">
                    <a:solidFill>
                      <a:srgbClr val="FFFDF9"/>
                    </a:solidFill>
                  </a:tcPr>
                </a:tc>
                <a:tc>
                  <a:txBody>
                    <a:bodyPr/>
                    <a:lstStyle/>
                    <a:p>
                      <a:pPr algn="r">
                        <a:defRPr sz="1050" b="0">
                          <a:solidFill>
                            <a:srgbClr val="37332C"/>
                          </a:solidFill>
                          <a:latin typeface="Segoe UI"/>
                        </a:defRPr>
                      </a:pPr>
                      <a:r>
                        <a:t>Page 4 supplier matrix</a:t>
                      </a:r>
                    </a:p>
                  </a:txBody>
                  <a:tcPr marT="38100" marB="38100">
                    <a:solidFill>
                      <a:srgbClr val="FFFDF9"/>
                    </a:solidFill>
                  </a:tcPr>
                </a:tc>
                <a:tc>
                  <a:txBody>
                    <a:bodyPr/>
                    <a:lstStyle/>
                    <a:p>
                      <a:pPr algn="r">
                        <a:defRPr sz="1050" b="0">
                          <a:solidFill>
                            <a:srgbClr val="37332C"/>
                          </a:solidFill>
                          <a:latin typeface="Segoe UI"/>
                        </a:defRPr>
                      </a:pPr>
                      <a:r>
                        <a:t>Done</a:t>
                      </a:r>
                    </a:p>
                  </a:txBody>
                  <a:tcPr marT="38100" marB="38100">
                    <a:solidFill>
                      <a:srgbClr val="FFFDF9"/>
                    </a:solidFill>
                  </a:tcPr>
                </a:tc>
              </a:tr>
              <a:tr h="561702">
                <a:tc>
                  <a:txBody>
                    <a:bodyPr/>
                    <a:lstStyle/>
                    <a:p>
                      <a:pPr algn="l">
                        <a:defRPr sz="1050" b="0">
                          <a:solidFill>
                            <a:srgbClr val="37332C"/>
                          </a:solidFill>
                          <a:latin typeface="Segoe UI"/>
                        </a:defRPr>
                      </a:pPr>
                      <a:r>
                        <a:t>Optimize warehouse space</a:t>
                      </a:r>
                    </a:p>
                  </a:txBody>
                  <a:tcPr marT="38100" marB="38100">
                    <a:solidFill>
                      <a:srgbClr val="FFFDF9"/>
                    </a:solidFill>
                  </a:tcPr>
                </a:tc>
                <a:tc>
                  <a:txBody>
                    <a:bodyPr/>
                    <a:lstStyle/>
                    <a:p>
                      <a:pPr algn="r">
                        <a:defRPr sz="1050" b="0">
                          <a:solidFill>
                            <a:srgbClr val="37332C"/>
                          </a:solidFill>
                          <a:latin typeface="Segoe UI"/>
                        </a:defRPr>
                      </a:pPr>
                      <a:r>
                        <a:t>Page 3 storage &amp; zone cards</a:t>
                      </a:r>
                    </a:p>
                  </a:txBody>
                  <a:tcPr marT="38100" marB="38100">
                    <a:solidFill>
                      <a:srgbClr val="FFFDF9"/>
                    </a:solidFill>
                  </a:tcPr>
                </a:tc>
                <a:tc>
                  <a:txBody>
                    <a:bodyPr/>
                    <a:lstStyle/>
                    <a:p>
                      <a:pPr algn="r">
                        <a:defRPr sz="1050" b="0">
                          <a:solidFill>
                            <a:srgbClr val="37332C"/>
                          </a:solidFill>
                          <a:latin typeface="Segoe UI"/>
                        </a:defRPr>
                      </a:pPr>
                      <a:r>
                        <a:t>Done</a:t>
                      </a:r>
                    </a:p>
                  </a:txBody>
                  <a:tcPr marT="38100" marB="38100">
                    <a:solidFill>
                      <a:srgbClr val="FFFDF9"/>
                    </a:solidFill>
                  </a:tcPr>
                </a:tc>
              </a:tr>
              <a:tr h="561702">
                <a:tc>
                  <a:txBody>
                    <a:bodyPr/>
                    <a:lstStyle/>
                    <a:p>
                      <a:pPr algn="l">
                        <a:defRPr sz="1050" b="0">
                          <a:solidFill>
                            <a:srgbClr val="37332C"/>
                          </a:solidFill>
                          <a:latin typeface="Segoe UI"/>
                        </a:defRPr>
                      </a:pPr>
                      <a:r>
                        <a:t>Service level 85 to 98%+</a:t>
                      </a:r>
                    </a:p>
                  </a:txBody>
                  <a:tcPr marT="38100" marB="38100">
                    <a:solidFill>
                      <a:srgbClr val="FFFDF9"/>
                    </a:solidFill>
                  </a:tcPr>
                </a:tc>
                <a:tc>
                  <a:txBody>
                    <a:bodyPr/>
                    <a:lstStyle/>
                    <a:p>
                      <a:pPr algn="r">
                        <a:defRPr sz="1050" b="0">
                          <a:solidFill>
                            <a:srgbClr val="37332C"/>
                          </a:solidFill>
                          <a:latin typeface="Segoe UI"/>
                        </a:defRPr>
                      </a:pPr>
                      <a:r>
                        <a:t>Page 3 gauge (tracked, not yet closed)</a:t>
                      </a:r>
                    </a:p>
                  </a:txBody>
                  <a:tcPr marT="38100" marB="38100">
                    <a:solidFill>
                      <a:srgbClr val="FFFDF9"/>
                    </a:solidFill>
                  </a:tcPr>
                </a:tc>
                <a:tc>
                  <a:txBody>
                    <a:bodyPr/>
                    <a:lstStyle/>
                    <a:p>
                      <a:pPr algn="r">
                        <a:defRPr sz="1050" b="0">
                          <a:solidFill>
                            <a:srgbClr val="37332C"/>
                          </a:solidFill>
                          <a:latin typeface="Segoe UI"/>
                        </a:defRPr>
                      </a:pPr>
                      <a:r>
                        <a:t>Tracked</a:t>
                      </a:r>
                    </a:p>
                  </a:txBody>
                  <a:tcPr marT="38100" marB="38100">
                    <a:solidFill>
                      <a:srgbClr val="FFFDF9"/>
                    </a:solidFill>
                  </a:tcPr>
                </a:tc>
              </a:tr>
              <a:tr h="561708">
                <a:tc>
                  <a:txBody>
                    <a:bodyPr/>
                    <a:lstStyle/>
                    <a:p>
                      <a:pPr algn="l">
                        <a:defRPr sz="1050" b="0">
                          <a:solidFill>
                            <a:srgbClr val="37332C"/>
                          </a:solidFill>
                          <a:latin typeface="Segoe UI"/>
                        </a:defRPr>
                      </a:pPr>
                      <a:r>
                        <a:t>Predictive ML classification</a:t>
                      </a:r>
                    </a:p>
                  </a:txBody>
                  <a:tcPr marT="38100" marB="38100">
                    <a:solidFill>
                      <a:srgbClr val="FFFDF9"/>
                    </a:solidFill>
                  </a:tcPr>
                </a:tc>
                <a:tc>
                  <a:txBody>
                    <a:bodyPr/>
                    <a:lstStyle/>
                    <a:p>
                      <a:pPr algn="r">
                        <a:defRPr sz="1050" b="0">
                          <a:solidFill>
                            <a:srgbClr val="37332C"/>
                          </a:solidFill>
                          <a:latin typeface="Segoe UI"/>
                        </a:defRPr>
                      </a:pPr>
                      <a:r>
                        <a:t>Colab notebook, 80.7% accuracy</a:t>
                      </a:r>
                    </a:p>
                  </a:txBody>
                  <a:tcPr marT="38100" marB="38100">
                    <a:solidFill>
                      <a:srgbClr val="FFFDF9"/>
                    </a:solidFill>
                  </a:tcPr>
                </a:tc>
                <a:tc>
                  <a:txBody>
                    <a:bodyPr/>
                    <a:lstStyle/>
                    <a:p>
                      <a:pPr algn="r">
                        <a:defRPr sz="1050" b="0">
                          <a:solidFill>
                            <a:srgbClr val="37332C"/>
                          </a:solidFill>
                          <a:latin typeface="Segoe UI"/>
                        </a:defRPr>
                      </a:pPr>
                      <a:r>
                        <a:t>Partial</a:t>
                      </a:r>
                    </a:p>
                  </a:txBody>
                  <a:tcPr marT="38100" marB="38100">
                    <a:solidFill>
                      <a:srgbClr val="FFFDF9"/>
                    </a:solidFill>
                  </a:tcPr>
                </a:tc>
              </a:tr>
            </a:tbl>
          </a:graphicData>
        </a:graphic>
      </p:graphicFrame>
      <p:sp>
        <p:nvSpPr>
          <p:cNvPr id="6" name="TextBox 5"/>
          <p:cNvSpPr txBox="1"/>
          <p:nvPr/>
        </p:nvSpPr>
        <p:spPr>
          <a:xfrm>
            <a:off x="548640" y="6355080"/>
            <a:ext cx="11064240" cy="365760"/>
          </a:xfrm>
          <a:prstGeom prst="rect">
            <a:avLst/>
          </a:prstGeom>
          <a:noFill/>
        </p:spPr>
        <p:txBody>
          <a:bodyPr wrap="square" lIns="0" rIns="0" tIns="0" bIns="0">
            <a:spAutoFit/>
          </a:bodyPr>
          <a:lstStyle/>
          <a:p>
            <a:pPr algn="l"/>
            <a:r>
              <a:rPr sz="1000" b="0" i="1">
                <a:solidFill>
                  <a:srgbClr val="6B6459"/>
                </a:solidFill>
                <a:latin typeface="Segoe UI"/>
              </a:rPr>
              <a:t>“Tracked” and “Partial” are reported as such deliberately – the brief asked for visibility into these gaps, not for them to be hidden.</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7F4EE"/>
        </a:solidFill>
        <a:effectLst/>
      </p:bgPr>
    </p:bg>
    <p:spTree>
      <p:nvGrpSpPr>
        <p:cNvPr id="1" name=""/>
        <p:cNvGrpSpPr/>
        <p:nvPr/>
      </p:nvGrpSpPr>
      <p:grpSpPr/>
      <p:sp>
        <p:nvSpPr>
          <p:cNvPr id="2" name="TextBox 1"/>
          <p:cNvSpPr txBox="1"/>
          <p:nvPr/>
        </p:nvSpPr>
        <p:spPr>
          <a:xfrm>
            <a:off x="548640" y="1828800"/>
            <a:ext cx="7315200" cy="365760"/>
          </a:xfrm>
          <a:prstGeom prst="rect">
            <a:avLst/>
          </a:prstGeom>
          <a:noFill/>
        </p:spPr>
        <p:txBody>
          <a:bodyPr wrap="square" lIns="0" rIns="0" tIns="0" bIns="0">
            <a:spAutoFit/>
          </a:bodyPr>
          <a:lstStyle/>
          <a:p>
            <a:pPr algn="l"/>
            <a:r>
              <a:rPr sz="1300" b="1" i="0">
                <a:solidFill>
                  <a:srgbClr val="6B6459"/>
                </a:solidFill>
                <a:latin typeface="Segoe UI"/>
              </a:rPr>
              <a:t>THANK YOU</a:t>
            </a:r>
          </a:p>
        </p:txBody>
      </p:sp>
      <p:sp>
        <p:nvSpPr>
          <p:cNvPr id="3" name="TextBox 2"/>
          <p:cNvSpPr txBox="1"/>
          <p:nvPr/>
        </p:nvSpPr>
        <p:spPr>
          <a:xfrm>
            <a:off x="548640" y="2286000"/>
            <a:ext cx="10515600" cy="1463040"/>
          </a:xfrm>
          <a:prstGeom prst="rect">
            <a:avLst/>
          </a:prstGeom>
          <a:noFill/>
        </p:spPr>
        <p:txBody>
          <a:bodyPr wrap="square" lIns="0" rIns="0" tIns="0" bIns="0">
            <a:spAutoFit/>
          </a:bodyPr>
          <a:lstStyle/>
          <a:p>
            <a:pPr algn="l">
              <a:lnSpc>
                <a:spcPct val="105000"/>
              </a:lnSpc>
            </a:pPr>
            <a:r>
              <a:rPr sz="3800" b="1" i="0">
                <a:solidFill>
                  <a:srgbClr val="171512"/>
                </a:solidFill>
                <a:latin typeface="Segoe UI"/>
              </a:rPr>
              <a:t>Questions, or a live walk</a:t>
            </a:r>
          </a:p>
          <a:p>
            <a:pPr algn="l">
              <a:lnSpc>
                <a:spcPct val="105000"/>
              </a:lnSpc>
            </a:pPr>
            <a:r>
              <a:rPr sz="3800" b="1" i="0">
                <a:solidFill>
                  <a:srgbClr val="171512"/>
                </a:solidFill>
                <a:latin typeface="Segoe UI"/>
              </a:rPr>
              <a:t>through any page.</a:t>
            </a:r>
          </a:p>
        </p:txBody>
      </p:sp>
      <p:sp>
        <p:nvSpPr>
          <p:cNvPr id="4" name="TextBox 3"/>
          <p:cNvSpPr txBox="1"/>
          <p:nvPr/>
        </p:nvSpPr>
        <p:spPr>
          <a:xfrm>
            <a:off x="548640" y="3977639"/>
            <a:ext cx="8686800" cy="914400"/>
          </a:xfrm>
          <a:prstGeom prst="rect">
            <a:avLst/>
          </a:prstGeom>
          <a:noFill/>
        </p:spPr>
        <p:txBody>
          <a:bodyPr wrap="square" lIns="0" rIns="0" tIns="0" bIns="0">
            <a:spAutoFit/>
          </a:bodyPr>
          <a:lstStyle/>
          <a:p>
            <a:pPr algn="l">
              <a:lnSpc>
                <a:spcPct val="125000"/>
              </a:lnSpc>
            </a:pPr>
            <a:r>
              <a:rPr sz="1400" b="0" i="0">
                <a:solidFill>
                  <a:srgbClr val="37332C"/>
                </a:solidFill>
                <a:latin typeface="Segoe UI"/>
              </a:rPr>
              <a:t>Built with Power BI Desktop, a hand-authored PBIR report and TMDL semantic model, and a scikit-learn / XGBoost notebook, all driven from one Excel workbook.</a:t>
            </a:r>
          </a:p>
        </p:txBody>
      </p:sp>
      <p:sp>
        <p:nvSpPr>
          <p:cNvPr id="5" name="Rectangle 4"/>
          <p:cNvSpPr/>
          <p:nvPr/>
        </p:nvSpPr>
        <p:spPr>
          <a:xfrm>
            <a:off x="548640" y="5029200"/>
            <a:ext cx="2743200" cy="384048"/>
          </a:xfrm>
          <a:prstGeom prst="rect">
            <a:avLst/>
          </a:prstGeom>
          <a:solidFill>
            <a:srgbClr val="FFFDF9"/>
          </a:solidFill>
          <a:ln w="9525">
            <a:solidFill>
              <a:srgbClr val="E4DDD0"/>
            </a:solid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1050">
                <a:solidFill>
                  <a:srgbClr val="6B6459"/>
                </a:solidFill>
                <a:latin typeface="Segoe UI"/>
              </a:rPr>
              <a:t>Dashboard_Documentation.md</a:t>
            </a:r>
          </a:p>
        </p:txBody>
      </p:sp>
      <p:sp>
        <p:nvSpPr>
          <p:cNvPr id="6" name="Rectangle 5"/>
          <p:cNvSpPr/>
          <p:nvPr/>
        </p:nvSpPr>
        <p:spPr>
          <a:xfrm>
            <a:off x="3438144" y="5029200"/>
            <a:ext cx="3474720" cy="384048"/>
          </a:xfrm>
          <a:prstGeom prst="rect">
            <a:avLst/>
          </a:prstGeom>
          <a:solidFill>
            <a:srgbClr val="FFFDF9"/>
          </a:solidFill>
          <a:ln w="9525">
            <a:solidFill>
              <a:srgbClr val="E4DDD0"/>
            </a:solid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1050">
                <a:solidFill>
                  <a:srgbClr val="6B6459"/>
                </a:solidFill>
                <a:latin typeface="Segoe UI"/>
              </a:rPr>
              <a:t>Stockout_Risk_Classification.ipynb</a:t>
            </a:r>
          </a:p>
        </p:txBody>
      </p:sp>
      <p:sp>
        <p:nvSpPr>
          <p:cNvPr id="7" name="Rectangle 6"/>
          <p:cNvSpPr/>
          <p:nvPr/>
        </p:nvSpPr>
        <p:spPr>
          <a:xfrm>
            <a:off x="7059168" y="5029200"/>
            <a:ext cx="2926080" cy="384048"/>
          </a:xfrm>
          <a:prstGeom prst="rect">
            <a:avLst/>
          </a:prstGeom>
          <a:solidFill>
            <a:srgbClr val="FFFDF9"/>
          </a:solidFill>
          <a:ln w="9525">
            <a:solidFill>
              <a:srgbClr val="E4DDD0"/>
            </a:solid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1050">
                <a:solidFill>
                  <a:srgbClr val="6B6459"/>
                </a:solidFill>
                <a:latin typeface="Segoe UI"/>
              </a:rPr>
              <a:t>StockDynamics_Dashboard.pbix</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